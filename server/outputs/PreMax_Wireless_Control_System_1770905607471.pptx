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2E3192"/>
        </a:solidFill>
      </p:bgPr>
    </p:bg>
    <p:spTree>
      <p:nvGrpSpPr>
        <p:cNvPr id="1" name=""/>
        <p:cNvGrpSpPr/>
        <p:nvPr/>
      </p:nvGrpSpPr>
      <p:grpSpPr>
        <a:xfrm>
          <a:off x="0" y="0"/>
          <a:ext cx="0" cy="0"/>
          <a:chOff x="0" y="0"/>
          <a:chExt cx="0" cy="0"/>
        </a:xfrm>
      </p:grpSpPr>
      <p:sp>
        <p:nvSpPr>
          <p:cNvPr id="2" name="Shape 0"/>
          <p:cNvSpPr/>
          <p:nvPr/>
        </p:nvSpPr>
        <p:spPr>
          <a:xfrm>
            <a:off x="0" y="6309360"/>
            <a:ext cx="12192000" cy="548640"/>
          </a:xfrm>
          <a:prstGeom prst="rect">
            <a:avLst/>
          </a:prstGeom>
          <a:solidFill>
            <a:srgbClr val="D3D0CB">
              <a:alpha val="7000"/>
            </a:srgbClr>
          </a:solidFill>
          <a:ln/>
        </p:spPr>
      </p:sp>
      <p:sp>
        <p:nvSpPr>
          <p:cNvPr id="3" name="Text 1"/>
          <p:cNvSpPr/>
          <p:nvPr/>
        </p:nvSpPr>
        <p:spPr>
          <a:xfrm>
            <a:off x="365760" y="6473952"/>
            <a:ext cx="9144000" cy="0"/>
          </a:xfrm>
          <a:prstGeom prst="rect">
            <a:avLst/>
          </a:prstGeom>
          <a:noFill/>
          <a:ln/>
        </p:spPr>
        <p:txBody>
          <a:bodyPr wrap="square" rtlCol="0" anchor="ctr"/>
          <a:lstStyle/>
          <a:p>
            <a:pPr indent="0" marL="0">
              <a:buNone/>
            </a:pPr>
            <a:r>
              <a:rPr lang="en-US" sz="700" dirty="0">
                <a:solidFill>
                  <a:srgbClr val="5457B8"/>
                </a:solidFill>
                <a:latin typeface="Calibri" pitchFamily="34" charset="0"/>
                <a:ea typeface="Calibri" pitchFamily="34" charset="-122"/>
                <a:cs typeface="Calibri" pitchFamily="34" charset="-120"/>
              </a:rPr>
              <a:t>PRE MAX AI — Wireless Control System</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D0CB"/>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F05F44">
              <a:alpha val="35000"/>
            </a:srgbClr>
          </a:solidFill>
          <a:ln/>
        </p:spPr>
      </p:sp>
      <p:sp>
        <p:nvSpPr>
          <p:cNvPr id="3" name="Shape 1"/>
          <p:cNvSpPr/>
          <p:nvPr/>
        </p:nvSpPr>
        <p:spPr>
          <a:xfrm>
            <a:off x="6400800" y="3657600"/>
            <a:ext cx="4114800" cy="4114800"/>
          </a:xfrm>
          <a:prstGeom prst="ellipse">
            <a:avLst/>
          </a:prstGeom>
          <a:solidFill>
            <a:srgbClr val="FFFFFF">
              <a:alpha val="12000"/>
            </a:srgbClr>
          </a:solidFill>
          <a:ln/>
        </p:spPr>
      </p:sp>
      <p:sp>
        <p:nvSpPr>
          <p:cNvPr id="4" name="Shape 2"/>
          <p:cNvSpPr/>
          <p:nvPr/>
        </p:nvSpPr>
        <p:spPr>
          <a:xfrm>
            <a:off x="7772400" y="-1371600"/>
            <a:ext cx="3200400" cy="3200400"/>
          </a:xfrm>
          <a:prstGeom prst="ellipse">
            <a:avLst/>
          </a:prstGeom>
          <a:solidFill>
            <a:srgbClr val="F05F44">
              <a:alpha val="25000"/>
            </a:srgbClr>
          </a:solidFill>
          <a:ln/>
        </p:spPr>
      </p:sp>
      <p:sp>
        <p:nvSpPr>
          <p:cNvPr id="5" name="Text 3"/>
          <p:cNvSpPr/>
          <p:nvPr/>
        </p:nvSpPr>
        <p:spPr>
          <a:xfrm>
            <a:off x="731520" y="1371600"/>
            <a:ext cx="7315200" cy="2286000"/>
          </a:xfrm>
          <a:prstGeom prst="rect">
            <a:avLst/>
          </a:prstGeom>
          <a:noFill/>
          <a:ln/>
          <a:effectLst>
            <a:outerShdw sx="100000" sy="100000" kx="0" ky="0" algn="bl" rotWithShape="0" blurRad="101600" dist="25400" dir="16200000">
              <a:srgbClr val="00000040">
                <a:alpha val="75000"/>
              </a:srgbClr>
            </a:outerShdw>
          </a:effectLst>
        </p:spPr>
        <p:txBody>
          <a:bodyPr wrap="square" rtlCol="0" anchor="ctr"/>
          <a:lstStyle/>
          <a:p>
            <a:pPr algn="l" indent="0" marL="0">
              <a:buNone/>
            </a:pPr>
            <a:r>
              <a:rPr lang="en-US" sz="4400" b="1" dirty="0">
                <a:solidFill>
                  <a:srgbClr val="FFFFFF"/>
                </a:solidFill>
                <a:latin typeface="Segoe UI" pitchFamily="34" charset="0"/>
                <a:ea typeface="Segoe UI" pitchFamily="34" charset="-122"/>
                <a:cs typeface="Segoe UI" pitchFamily="34" charset="-120"/>
              </a:rPr>
              <a:t>Visualizing the LoRa Motor Starter Project: A Comprehensive Overview</a:t>
            </a:r>
            <a:endParaRPr lang="en-US" sz="4400" dirty="0"/>
          </a:p>
        </p:txBody>
      </p:sp>
      <p:sp>
        <p:nvSpPr>
          <p:cNvPr id="6" name="Shape 4"/>
          <p:cNvSpPr/>
          <p:nvPr/>
        </p:nvSpPr>
        <p:spPr>
          <a:xfrm>
            <a:off x="731520" y="3840480"/>
            <a:ext cx="3200400" cy="54864"/>
          </a:xfrm>
          <a:prstGeom prst="rect">
            <a:avLst/>
          </a:prstGeom>
          <a:solidFill>
            <a:srgbClr val="FFFFFF">
              <a:alpha val="50000"/>
            </a:srgbClr>
          </a:solidFill>
          <a:ln/>
        </p:spPr>
      </p:sp>
      <p:sp>
        <p:nvSpPr>
          <p:cNvPr id="7" name="Text 5"/>
          <p:cNvSpPr/>
          <p:nvPr/>
        </p:nvSpPr>
        <p:spPr>
          <a:xfrm>
            <a:off x="731520" y="4114800"/>
            <a:ext cx="7315200" cy="0"/>
          </a:xfrm>
          <a:prstGeom prst="rect">
            <a:avLst/>
          </a:prstGeom>
          <a:noFill/>
          <a:ln/>
        </p:spPr>
        <p:txBody>
          <a:bodyPr wrap="square" rtlCol="0" anchor="ctr"/>
          <a:lstStyle/>
          <a:p>
            <a:pPr indent="0" marL="0">
              <a:buNone/>
            </a:pPr>
            <a:r>
              <a:rPr lang="en-US" sz="1400" dirty="0">
                <a:solidFill>
                  <a:srgbClr val="FFFFFF">
                    <a:alpha val="60000"/>
                  </a:srgbClr>
                </a:solidFill>
                <a:latin typeface="Calibri" pitchFamily="34" charset="0"/>
                <a:ea typeface="Calibri" pitchFamily="34" charset="-122"/>
                <a:cs typeface="Calibri" pitchFamily="34" charset="-120"/>
              </a:rPr>
              <a:t>WIRELESS CONTROL SYSTEM THEME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3D0C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858000"/>
          </a:xfrm>
          <a:prstGeom prst="rect">
            <a:avLst/>
          </a:prstGeom>
        </p:spPr>
      </p:pic>
      <p:sp>
        <p:nvSpPr>
          <p:cNvPr id="3" name="Shape 0"/>
          <p:cNvSpPr/>
          <p:nvPr/>
        </p:nvSpPr>
        <p:spPr>
          <a:xfrm>
            <a:off x="0" y="0"/>
            <a:ext cx="12192000" cy="6858000"/>
          </a:xfrm>
          <a:prstGeom prst="rect">
            <a:avLst/>
          </a:prstGeom>
          <a:solidFill>
            <a:srgbClr val="D3D0CB">
              <a:alpha val="70000"/>
            </a:srgbClr>
          </a:solidFill>
          <a:ln/>
        </p:spPr>
      </p:sp>
      <p:sp>
        <p:nvSpPr>
          <p:cNvPr id="4" name="Text 1"/>
          <p:cNvSpPr/>
          <p:nvPr/>
        </p:nvSpPr>
        <p:spPr>
          <a:xfrm>
            <a:off x="914400" y="1645920"/>
            <a:ext cx="7315200" cy="2286000"/>
          </a:xfrm>
          <a:prstGeom prst="rect">
            <a:avLst/>
          </a:prstGeom>
          <a:noFill/>
          <a:ln/>
          <a:effectLst>
            <a:outerShdw sx="100000" sy="100000" kx="0" ky="0" algn="bl" rotWithShape="0" blurRad="76200" dist="25400" dir="16200000">
              <a:srgbClr val="00000060">
                <a:alpha val="75000"/>
              </a:srgbClr>
            </a:outerShdw>
          </a:effectLst>
        </p:spPr>
        <p:txBody>
          <a:bodyPr wrap="square"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LoRa-Enabled Motor Control: A Graphical Journey</a:t>
            </a:r>
            <a:endParaRPr lang="en-US" sz="4200" dirty="0"/>
          </a:p>
        </p:txBody>
      </p:sp>
      <p:sp>
        <p:nvSpPr>
          <p:cNvPr id="5" name="Shape 2"/>
          <p:cNvSpPr/>
          <p:nvPr/>
        </p:nvSpPr>
        <p:spPr>
          <a:xfrm>
            <a:off x="3200400" y="3931920"/>
            <a:ext cx="2743200" cy="36576"/>
          </a:xfrm>
          <a:prstGeom prst="rect">
            <a:avLst/>
          </a:prstGeom>
          <a:solidFill>
            <a:srgbClr val="FFFFFF">
              <a:alpha val="50000"/>
            </a:srgbClr>
          </a:solidFill>
          <a:ln/>
        </p:spPr>
      </p:sp>
      <p:sp>
        <p:nvSpPr>
          <p:cNvPr id="6" name="Text 3"/>
          <p:cNvSpPr/>
          <p:nvPr/>
        </p:nvSpPr>
        <p:spPr>
          <a:xfrm>
            <a:off x="914400" y="4114800"/>
            <a:ext cx="7315200" cy="731520"/>
          </a:xfrm>
          <a:prstGeom prst="rect">
            <a:avLst/>
          </a:prstGeom>
          <a:noFill/>
          <a:ln/>
        </p:spPr>
        <p:txBody>
          <a:bodyPr wrap="square" rtlCol="0" anchor="ctr"/>
          <a:lstStyle/>
          <a:p>
            <a:pPr algn="ctr" indent="0" marL="0">
              <a:buNone/>
            </a:pPr>
            <a:r>
              <a:rPr lang="en-US" sz="1600" dirty="0">
                <a:solidFill>
                  <a:srgbClr val="FFFFFF">
                    <a:alpha val="80000"/>
                  </a:srgbClr>
                </a:solidFill>
                <a:latin typeface="Calibri" pitchFamily="34" charset="0"/>
                <a:ea typeface="Calibri" pitchFamily="34" charset="-122"/>
                <a:cs typeface="Calibri" pitchFamily="34" charset="-120"/>
              </a:rPr>
              <a:t>Exploring the architecture, safety protocols, signal flow, and hardware components of our LoRa motor starter project through visual diagrams.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229600" y="0"/>
            <a:ext cx="914400" cy="6858000"/>
          </a:xfrm>
          <a:prstGeom prst="rect">
            <a:avLst/>
          </a:prstGeom>
          <a:solidFill>
            <a:srgbClr val="D3D0CB">
              <a:alpha val="8000"/>
            </a:srgbClr>
          </a:solidFill>
          <a:ln/>
        </p:spPr>
      </p:sp>
      <p:sp>
        <p:nvSpPr>
          <p:cNvPr id="3" name="Shape 1"/>
          <p:cNvSpPr/>
          <p:nvPr/>
        </p:nvSpPr>
        <p:spPr>
          <a:xfrm>
            <a:off x="-548640" y="-548640"/>
            <a:ext cx="1645920" cy="1645920"/>
          </a:xfrm>
          <a:prstGeom prst="ellipse">
            <a:avLst/>
          </a:prstGeom>
          <a:solidFill>
            <a:srgbClr val="F05F44">
              <a:alpha val="10000"/>
            </a:srgbClr>
          </a:solidFill>
          <a:ln/>
        </p:spPr>
      </p:sp>
      <p:sp>
        <p:nvSpPr>
          <p:cNvPr id="4" name="Shape 2"/>
          <p:cNvSpPr/>
          <p:nvPr/>
        </p:nvSpPr>
        <p:spPr>
          <a:xfrm>
            <a:off x="0" y="0"/>
            <a:ext cx="12192000" cy="960120"/>
          </a:xfrm>
          <a:prstGeom prst="rect">
            <a:avLst/>
          </a:prstGeom>
          <a:solidFill>
            <a:srgbClr val="D3D0CB"/>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System Architecture: Connecting User, LoRa, and Motor</a:t>
            </a:r>
            <a:endParaRPr lang="en-US" sz="2400" dirty="0"/>
          </a:p>
        </p:txBody>
      </p:sp>
      <p:sp>
        <p:nvSpPr>
          <p:cNvPr id="6" name="Shape 4"/>
          <p:cNvSpPr/>
          <p:nvPr/>
        </p:nvSpPr>
        <p:spPr>
          <a:xfrm>
            <a:off x="457200" y="1188720"/>
            <a:ext cx="5029200" cy="4846320"/>
          </a:xfrm>
          <a:prstGeom prst="roundRect">
            <a:avLst>
              <a:gd name="adj" fmla="val 2264"/>
            </a:avLst>
          </a:prstGeom>
          <a:solidFill>
            <a:srgbClr val="3A3D98">
              <a:alpha val="70000"/>
            </a:srgbClr>
          </a:solidFill>
          <a:ln w="6350">
            <a:solidFill>
              <a:srgbClr val="6D70CB"/>
            </a:solidFill>
            <a:prstDash val="solid"/>
          </a:ln>
        </p:spPr>
      </p:sp>
      <p:sp>
        <p:nvSpPr>
          <p:cNvPr id="7" name="Text 5"/>
          <p:cNvSpPr/>
          <p:nvPr/>
        </p:nvSpPr>
        <p:spPr>
          <a:xfrm>
            <a:off x="822960" y="1463040"/>
            <a:ext cx="4297680" cy="429768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  The system architecture diagram illustrates a tiered structure: a user sends commands via a LoRa transmitter to a receiver linked to a microcontroller.</a:t>
            </a:r>
            <a:endParaRPr lang="en-US" sz="1400" dirty="0"/>
          </a:p>
          <a:p>
            <a:pPr marL="342900" indent="-342900">
              <a:spcAft>
                <a:spcPts val="1000"/>
              </a:spcAft>
              <a:buSzPct val="100000"/>
              <a:buFont typeface="+mj-lt"/>
              <a:buAutoNum type="arabicPeriod" startAt="2"/>
            </a:pPr>
            <a:r>
              <a:rPr lang="en-US" sz="1400" dirty="0">
                <a:solidFill>
                  <a:srgbClr val="FFFFFF"/>
                </a:solidFill>
                <a:latin typeface="Calibri" pitchFamily="34" charset="0"/>
                <a:ea typeface="Calibri" pitchFamily="34" charset="-122"/>
                <a:cs typeface="Calibri" pitchFamily="34" charset="-120"/>
              </a:rPr>
              <a:t>  This microcontroller processes signals, activating a relay module that manages AC motor power which is supplied through the power supply unit enabling remote motor control.</a:t>
            </a:r>
            <a:endParaRPr lang="en-US" sz="1400" dirty="0"/>
          </a:p>
          <a:p>
            <a:pPr marL="342900" indent="-342900">
              <a:spcAft>
                <a:spcPts val="1000"/>
              </a:spcAft>
              <a:buSzPct val="100000"/>
              <a:buFont typeface="+mj-lt"/>
              <a:buAutoNum type="arabicPeriod" startAt="3"/>
            </a:pPr>
            <a:r>
              <a:rPr lang="en-US" sz="1400" dirty="0">
                <a:solidFill>
                  <a:srgbClr val="FFFFFF"/>
                </a:solidFill>
                <a:latin typeface="Calibri" pitchFamily="34" charset="0"/>
                <a:ea typeface="Calibri" pitchFamily="34" charset="-122"/>
                <a:cs typeface="Calibri" pitchFamily="34" charset="-120"/>
              </a:rPr>
              <a:t>  A crucial aspect is the bi-directional communication, where the motor's operational status (e.g., RPM, temperature) can be fed back to the user for real-time monitoring and adjustments.</a:t>
            </a:r>
            <a:endParaRPr lang="en-US" sz="1400" dirty="0"/>
          </a:p>
          <a:p>
            <a:pPr marL="342900" indent="-342900">
              <a:spcAft>
                <a:spcPts val="1000"/>
              </a:spcAft>
              <a:buSzPct val="100000"/>
              <a:buFont typeface="+mj-lt"/>
              <a:buAutoNum type="arabicPeriod" startAt="4"/>
            </a:pPr>
            <a:r>
              <a:rPr lang="en-US" sz="1400" dirty="0">
                <a:solidFill>
                  <a:srgbClr val="FFFFFF"/>
                </a:solidFill>
                <a:latin typeface="Calibri" pitchFamily="34" charset="0"/>
                <a:ea typeface="Calibri" pitchFamily="34" charset="-122"/>
                <a:cs typeface="Calibri" pitchFamily="34" charset="-120"/>
              </a:rPr>
              <a:t>  Implementing secure encryption protocols within the LoRa communication is vital for preventing unauthorized access and maintaining secure operational control preventing system compromise.</a:t>
            </a:r>
            <a:endParaRPr lang="en-US" sz="1400" dirty="0"/>
          </a:p>
          <a:p>
            <a:pPr marL="342900" indent="-342900">
              <a:spcAft>
                <a:spcPts val="1000"/>
              </a:spcAft>
              <a:buSzPct val="100000"/>
              <a:buFont typeface="+mj-lt"/>
              <a:buAutoNum type="arabicPeriod" startAt="5"/>
            </a:pPr>
            <a:r>
              <a:rPr lang="en-US" sz="1400" dirty="0">
                <a:solidFill>
                  <a:srgbClr val="FFFFFF"/>
                </a:solidFill>
                <a:latin typeface="Calibri" pitchFamily="34" charset="0"/>
                <a:ea typeface="Calibri" pitchFamily="34" charset="-122"/>
                <a:cs typeface="Calibri" pitchFamily="34" charset="-120"/>
              </a:rPr>
              <a:t>  Utilizing this architecture, remote adjustments in agricultural irrigation systems can be efficiently made based on real-time weather data and soil moisture levels enhancing resource conservation.</a:t>
            </a:r>
            <a:endParaRPr lang="en-US" sz="1400" dirty="0"/>
          </a:p>
        </p:txBody>
      </p:sp>
      <p:sp>
        <p:nvSpPr>
          <p:cNvPr id="8" name="Shape 6"/>
          <p:cNvSpPr/>
          <p:nvPr/>
        </p:nvSpPr>
        <p:spPr>
          <a:xfrm>
            <a:off x="5577840" y="1554480"/>
            <a:ext cx="3383280" cy="3840480"/>
          </a:xfrm>
          <a:prstGeom prst="roundRect">
            <a:avLst>
              <a:gd name="adj" fmla="val 4054"/>
            </a:avLst>
          </a:prstGeom>
          <a:solidFill>
            <a:srgbClr val="D3D0CB">
              <a:alpha val="20000"/>
            </a:srgbClr>
          </a:solidFill>
          <a:ln w="12700">
            <a:solidFill>
              <a:srgbClr val="D3D0CB"/>
            </a:solidFill>
            <a:prstDash val="solid"/>
          </a:ln>
        </p:spPr>
      </p:sp>
      <p:pic>
        <p:nvPicPr>
          <p:cNvPr id="9" name="Image 0" descr="preencoded.png">    </p:cNvPr>
          <p:cNvPicPr>
            <a:picLocks noChangeAspect="1"/>
          </p:cNvPicPr>
          <p:nvPr/>
        </p:nvPicPr>
        <p:blipFill>
          <a:blip r:embed="rId1"/>
          <a:stretch>
            <a:fillRect/>
          </a:stretch>
        </p:blipFill>
        <p:spPr>
          <a:xfrm>
            <a:off x="5669280" y="1645920"/>
            <a:ext cx="3200400" cy="3657600"/>
          </a:xfrm>
          <a:prstGeom prst="ellipse">
            <a:avLst/>
          </a:prstGeom>
        </p:spPr>
      </p:pic>
      <p:sp>
        <p:nvSpPr>
          <p:cNvPr id="10" name="Shape 7"/>
          <p:cNvSpPr/>
          <p:nvPr/>
        </p:nvSpPr>
        <p:spPr>
          <a:xfrm>
            <a:off x="8366760" y="5897880"/>
            <a:ext cx="457200" cy="457200"/>
          </a:xfrm>
          <a:prstGeom prst="ellipse">
            <a:avLst/>
          </a:prstGeom>
          <a:solidFill>
            <a:srgbClr val="D3D0CB"/>
          </a:solidFill>
          <a:ln/>
        </p:spPr>
      </p:sp>
      <p:sp>
        <p:nvSpPr>
          <p:cNvPr id="11" name="Text 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3D0C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858000"/>
          </a:xfrm>
          <a:prstGeom prst="rect">
            <a:avLst/>
          </a:prstGeom>
        </p:spPr>
      </p:pic>
      <p:sp>
        <p:nvSpPr>
          <p:cNvPr id="3" name="Shape 0"/>
          <p:cNvSpPr/>
          <p:nvPr/>
        </p:nvSpPr>
        <p:spPr>
          <a:xfrm>
            <a:off x="0" y="0"/>
            <a:ext cx="12192000" cy="6858000"/>
          </a:xfrm>
          <a:prstGeom prst="rect">
            <a:avLst/>
          </a:prstGeom>
          <a:solidFill>
            <a:srgbClr val="D3D0CB">
              <a:alpha val="70000"/>
            </a:srgbClr>
          </a:solidFill>
          <a:ln/>
        </p:spPr>
      </p:sp>
      <p:sp>
        <p:nvSpPr>
          <p:cNvPr id="4" name="Text 1"/>
          <p:cNvSpPr/>
          <p:nvPr/>
        </p:nvSpPr>
        <p:spPr>
          <a:xfrm>
            <a:off x="914400" y="1645920"/>
            <a:ext cx="7315200" cy="2286000"/>
          </a:xfrm>
          <a:prstGeom prst="rect">
            <a:avLst/>
          </a:prstGeom>
          <a:noFill/>
          <a:ln/>
          <a:effectLst>
            <a:outerShdw sx="100000" sy="100000" kx="0" ky="0" algn="bl" rotWithShape="0" blurRad="76200" dist="25400" dir="16200000">
              <a:srgbClr val="00000060">
                <a:alpha val="75000"/>
              </a:srgbClr>
            </a:outerShdw>
          </a:effectLst>
        </p:spPr>
        <p:txBody>
          <a:bodyPr wrap="square"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Safety and Operational Integrity</a:t>
            </a:r>
            <a:endParaRPr lang="en-US" sz="4200" dirty="0"/>
          </a:p>
        </p:txBody>
      </p:sp>
      <p:sp>
        <p:nvSpPr>
          <p:cNvPr id="5" name="Shape 2"/>
          <p:cNvSpPr/>
          <p:nvPr/>
        </p:nvSpPr>
        <p:spPr>
          <a:xfrm>
            <a:off x="3200400" y="3931920"/>
            <a:ext cx="2743200" cy="36576"/>
          </a:xfrm>
          <a:prstGeom prst="rect">
            <a:avLst/>
          </a:prstGeom>
          <a:solidFill>
            <a:srgbClr val="FFFFFF">
              <a:alpha val="50000"/>
            </a:srgbClr>
          </a:solidFill>
          <a:ln/>
        </p:spPr>
      </p:sp>
      <p:sp>
        <p:nvSpPr>
          <p:cNvPr id="6" name="Text 3"/>
          <p:cNvSpPr/>
          <p:nvPr/>
        </p:nvSpPr>
        <p:spPr>
          <a:xfrm>
            <a:off x="914400" y="4114800"/>
            <a:ext cx="7315200" cy="731520"/>
          </a:xfrm>
          <a:prstGeom prst="rect">
            <a:avLst/>
          </a:prstGeom>
          <a:noFill/>
          <a:ln/>
        </p:spPr>
        <p:txBody>
          <a:bodyPr wrap="square" rtlCol="0" anchor="ctr"/>
          <a:lstStyle/>
          <a:p>
            <a:pPr algn="ctr" indent="0" marL="0">
              <a:buNone/>
            </a:pPr>
            <a:r>
              <a:rPr lang="en-US" sz="1600" dirty="0">
                <a:solidFill>
                  <a:srgbClr val="FFFFFF">
                    <a:alpha val="80000"/>
                  </a:srgbClr>
                </a:solidFill>
                <a:latin typeface="Calibri" pitchFamily="34" charset="0"/>
                <a:ea typeface="Calibri" pitchFamily="34" charset="-122"/>
                <a:cs typeface="Calibri" pitchFamily="34" charset="-120"/>
              </a:rPr>
              <a:t>Critical safety protocols form the backbone ensuring safe and dependable operation.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3D0CB"/>
          </a:solidFill>
          <a:ln/>
        </p:spPr>
      </p:sp>
      <p:sp>
        <p:nvSpPr>
          <p:cNvPr id="3" name="Shape 1"/>
          <p:cNvSpPr/>
          <p:nvPr/>
        </p:nvSpPr>
        <p:spPr>
          <a:xfrm>
            <a:off x="7315200" y="457200"/>
            <a:ext cx="1463040" cy="1463040"/>
          </a:xfrm>
          <a:prstGeom prst="ellipse">
            <a:avLst/>
          </a:prstGeom>
          <a:solidFill>
            <a:srgbClr val="F05F44">
              <a:alpha val="15000"/>
            </a:srgbClr>
          </a:solidFill>
          <a:ln/>
        </p:spPr>
      </p:sp>
      <p:sp>
        <p:nvSpPr>
          <p:cNvPr id="4" name="Shape 2"/>
          <p:cNvSpPr/>
          <p:nvPr/>
        </p:nvSpPr>
        <p:spPr>
          <a:xfrm>
            <a:off x="7772400" y="4754880"/>
            <a:ext cx="914400" cy="914400"/>
          </a:xfrm>
          <a:prstGeom prst="ellipse">
            <a:avLst/>
          </a:prstGeom>
          <a:solidFill>
            <a:srgbClr val="D3D0CB">
              <a:alpha val="12000"/>
            </a:srgbClr>
          </a:solidFill>
          <a:ln/>
        </p:spPr>
      </p:sp>
      <p:sp>
        <p:nvSpPr>
          <p:cNvPr id="5" name="Shape 3"/>
          <p:cNvSpPr/>
          <p:nvPr/>
        </p:nvSpPr>
        <p:spPr>
          <a:xfrm>
            <a:off x="0" y="0"/>
            <a:ext cx="12192000" cy="960120"/>
          </a:xfrm>
          <a:prstGeom prst="rect">
            <a:avLst/>
          </a:prstGeom>
          <a:solidFill>
            <a:srgbClr val="D3D0CB"/>
          </a:solidFill>
          <a:ln/>
        </p:spPr>
      </p:sp>
      <p:sp>
        <p:nvSpPr>
          <p:cNvPr id="6" name="Text 4"/>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Safety &amp; Control Flow: Prioritizing Safe Motor Operation</a:t>
            </a:r>
            <a:endParaRPr lang="en-US" sz="2400" dirty="0"/>
          </a:p>
        </p:txBody>
      </p:sp>
      <p:sp>
        <p:nvSpPr>
          <p:cNvPr id="7" name="Shape 5"/>
          <p:cNvSpPr/>
          <p:nvPr/>
        </p:nvSpPr>
        <p:spPr>
          <a:xfrm>
            <a:off x="457200" y="1188720"/>
            <a:ext cx="5029200" cy="4846320"/>
          </a:xfrm>
          <a:prstGeom prst="roundRect">
            <a:avLst>
              <a:gd name="adj" fmla="val 2264"/>
            </a:avLst>
          </a:prstGeom>
          <a:solidFill>
            <a:srgbClr val="3A3D98">
              <a:alpha val="70000"/>
            </a:srgbClr>
          </a:solidFill>
          <a:ln w="6350">
            <a:solidFill>
              <a:srgbClr val="6D70CB"/>
            </a:solidFill>
            <a:prstDash val="solid"/>
          </a:ln>
        </p:spPr>
      </p:sp>
      <p:sp>
        <p:nvSpPr>
          <p:cNvPr id="8" name="Text 6"/>
          <p:cNvSpPr/>
          <p:nvPr/>
        </p:nvSpPr>
        <p:spPr>
          <a:xfrm>
            <a:off x="822960" y="1463040"/>
            <a:ext cx="4297680" cy="429768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  The control flow diagram ensures sequential safety checks: the system verifies power availability and LoRa signal integrity before activating the relay module for motor operation.</a:t>
            </a:r>
            <a:endParaRPr lang="en-US" sz="1400" dirty="0"/>
          </a:p>
          <a:p>
            <a:pPr marL="342900" indent="-342900">
              <a:spcAft>
                <a:spcPts val="1000"/>
              </a:spcAft>
              <a:buSzPct val="100000"/>
              <a:buFont typeface="+mj-lt"/>
              <a:buAutoNum type="arabicPeriod" startAt="2"/>
            </a:pPr>
            <a:r>
              <a:rPr lang="en-US" sz="1400" dirty="0">
                <a:solidFill>
                  <a:srgbClr val="FFFFFF"/>
                </a:solidFill>
                <a:latin typeface="Calibri" pitchFamily="34" charset="0"/>
                <a:ea typeface="Calibri" pitchFamily="34" charset="-122"/>
                <a:cs typeface="Calibri" pitchFamily="34" charset="-120"/>
              </a:rPr>
              <a:t>  If either power is unavailable or the LoRa signal is compromised, the process halts, preventing unintended or uncontrolled motor activation which maintains system integrity.</a:t>
            </a:r>
            <a:endParaRPr lang="en-US" sz="1400" dirty="0"/>
          </a:p>
          <a:p>
            <a:pPr marL="342900" indent="-342900">
              <a:spcAft>
                <a:spcPts val="1000"/>
              </a:spcAft>
              <a:buSzPct val="100000"/>
              <a:buFont typeface="+mj-lt"/>
              <a:buAutoNum type="arabicPeriod" startAt="3"/>
            </a:pPr>
            <a:r>
              <a:rPr lang="en-US" sz="1400" dirty="0">
                <a:solidFill>
                  <a:srgbClr val="FFFFFF"/>
                </a:solidFill>
                <a:latin typeface="Calibri" pitchFamily="34" charset="0"/>
                <a:ea typeface="Calibri" pitchFamily="34" charset="-122"/>
                <a:cs typeface="Calibri" pitchFamily="34" charset="-120"/>
              </a:rPr>
              <a:t>  Incorporating an emergency stop function that overrides all other commands is critical to allow immediate shutdown of the motor in case of malfunctions or dangerous situations.</a:t>
            </a:r>
            <a:endParaRPr lang="en-US" sz="1400" dirty="0"/>
          </a:p>
          <a:p>
            <a:pPr marL="342900" indent="-342900">
              <a:spcAft>
                <a:spcPts val="1000"/>
              </a:spcAft>
              <a:buSzPct val="100000"/>
              <a:buFont typeface="+mj-lt"/>
              <a:buAutoNum type="arabicPeriod" startAt="4"/>
            </a:pPr>
            <a:r>
              <a:rPr lang="en-US" sz="1400" dirty="0">
                <a:solidFill>
                  <a:srgbClr val="FFFFFF"/>
                </a:solidFill>
                <a:latin typeface="Calibri" pitchFamily="34" charset="0"/>
                <a:ea typeface="Calibri" pitchFamily="34" charset="-122"/>
                <a:cs typeface="Calibri" pitchFamily="34" charset="-120"/>
              </a:rPr>
              <a:t>  Regularly scheduled maintenance checks are crucial for ensuring the ongoing integrity of safety systems and extending the longevity and dependability of the motor control setup.</a:t>
            </a:r>
            <a:endParaRPr lang="en-US" sz="1400" dirty="0"/>
          </a:p>
          <a:p>
            <a:pPr marL="342900" indent="-342900">
              <a:spcAft>
                <a:spcPts val="1000"/>
              </a:spcAft>
              <a:buSzPct val="100000"/>
              <a:buFont typeface="+mj-lt"/>
              <a:buAutoNum type="arabicPeriod" startAt="5"/>
            </a:pPr>
            <a:r>
              <a:rPr lang="en-US" sz="1400" dirty="0">
                <a:solidFill>
                  <a:srgbClr val="FFFFFF"/>
                </a:solidFill>
                <a:latin typeface="Calibri" pitchFamily="34" charset="0"/>
                <a:ea typeface="Calibri" pitchFamily="34" charset="-122"/>
                <a:cs typeface="Calibri" pitchFamily="34" charset="-120"/>
              </a:rPr>
              <a:t>  Implementing overcurrent protection and thermal monitoring can automatically stop the motor if dangerous conditions are detected, preventing damage and ensuring user safety.</a:t>
            </a:r>
            <a:endParaRPr lang="en-US" sz="1400" dirty="0"/>
          </a:p>
        </p:txBody>
      </p:sp>
      <p:sp>
        <p:nvSpPr>
          <p:cNvPr id="9" name="Shape 7"/>
          <p:cNvSpPr/>
          <p:nvPr/>
        </p:nvSpPr>
        <p:spPr>
          <a:xfrm>
            <a:off x="5577840" y="1554480"/>
            <a:ext cx="3383280" cy="3840480"/>
          </a:xfrm>
          <a:prstGeom prst="roundRect">
            <a:avLst>
              <a:gd name="adj" fmla="val 4054"/>
            </a:avLst>
          </a:prstGeom>
          <a:solidFill>
            <a:srgbClr val="D3D0CB">
              <a:alpha val="20000"/>
            </a:srgbClr>
          </a:solidFill>
          <a:ln w="12700">
            <a:solidFill>
              <a:srgbClr val="D3D0CB"/>
            </a:solidFill>
            <a:prstDash val="solid"/>
          </a:ln>
        </p:spPr>
      </p:sp>
      <p:pic>
        <p:nvPicPr>
          <p:cNvPr id="10" name="Image 0" descr="preencoded.png">    </p:cNvPr>
          <p:cNvPicPr>
            <a:picLocks noChangeAspect="1"/>
          </p:cNvPicPr>
          <p:nvPr/>
        </p:nvPicPr>
        <p:blipFill>
          <a:blip r:embed="rId1"/>
          <a:stretch>
            <a:fillRect/>
          </a:stretch>
        </p:blipFill>
        <p:spPr>
          <a:xfrm>
            <a:off x="5669280" y="1645920"/>
            <a:ext cx="3200400" cy="3657600"/>
          </a:xfrm>
          <a:prstGeom prst="ellipse">
            <a:avLst/>
          </a:prstGeom>
        </p:spPr>
      </p:pic>
      <p:sp>
        <p:nvSpPr>
          <p:cNvPr id="11" name="Shape 8"/>
          <p:cNvSpPr/>
          <p:nvPr/>
        </p:nvSpPr>
        <p:spPr>
          <a:xfrm>
            <a:off x="8366760" y="5897880"/>
            <a:ext cx="457200" cy="457200"/>
          </a:xfrm>
          <a:prstGeom prst="ellipse">
            <a:avLst/>
          </a:prstGeom>
          <a:solidFill>
            <a:srgbClr val="D3D0CB"/>
          </a:solidFill>
          <a:ln/>
        </p:spPr>
      </p:sp>
      <p:sp>
        <p:nvSpPr>
          <p:cNvPr id="12" name="Text 9"/>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alpha val="40000"/>
            </a:srgbClr>
          </a:solidFill>
          <a:ln/>
        </p:spPr>
      </p:sp>
      <p:sp>
        <p:nvSpPr>
          <p:cNvPr id="3" name="Shape 1"/>
          <p:cNvSpPr/>
          <p:nvPr/>
        </p:nvSpPr>
        <p:spPr>
          <a:xfrm>
            <a:off x="0" y="0"/>
            <a:ext cx="12192000" cy="960120"/>
          </a:xfrm>
          <a:prstGeom prst="rect">
            <a:avLst/>
          </a:prstGeom>
          <a:solidFill>
            <a:srgbClr val="D3D0CB"/>
          </a:solidFill>
          <a:ln/>
        </p:spPr>
      </p:sp>
      <p:sp>
        <p:nvSpPr>
          <p:cNvPr id="4" name="Text 2"/>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Signal Flow: The Motor's Communication Sequence</a:t>
            </a:r>
            <a:endParaRPr lang="en-US" sz="2400" dirty="0"/>
          </a:p>
        </p:txBody>
      </p:sp>
      <p:sp>
        <p:nvSpPr>
          <p:cNvPr id="5" name="Shape 3"/>
          <p:cNvSpPr/>
          <p:nvPr/>
        </p:nvSpPr>
        <p:spPr>
          <a:xfrm>
            <a:off x="731520" y="3474720"/>
            <a:ext cx="7680960" cy="45720"/>
          </a:xfrm>
          <a:prstGeom prst="rect">
            <a:avLst/>
          </a:prstGeom>
          <a:solidFill>
            <a:srgbClr val="D3D0CB"/>
          </a:solidFill>
          <a:ln/>
        </p:spPr>
      </p:sp>
      <p:sp>
        <p:nvSpPr>
          <p:cNvPr id="6" name="Shape 4"/>
          <p:cNvSpPr/>
          <p:nvPr/>
        </p:nvSpPr>
        <p:spPr>
          <a:xfrm>
            <a:off x="9144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7" name="Shape 5"/>
          <p:cNvSpPr/>
          <p:nvPr/>
        </p:nvSpPr>
        <p:spPr>
          <a:xfrm>
            <a:off x="1088136" y="2560320"/>
            <a:ext cx="18288" cy="777240"/>
          </a:xfrm>
          <a:prstGeom prst="rect">
            <a:avLst/>
          </a:prstGeom>
          <a:solidFill>
            <a:srgbClr val="6E71D2"/>
          </a:solidFill>
          <a:ln/>
        </p:spPr>
      </p:sp>
      <p:sp>
        <p:nvSpPr>
          <p:cNvPr id="8" name="Shape 6"/>
          <p:cNvSpPr/>
          <p:nvPr/>
        </p:nvSpPr>
        <p:spPr>
          <a:xfrm>
            <a:off x="594360" y="1920240"/>
            <a:ext cx="1005840" cy="411480"/>
          </a:xfrm>
          <a:prstGeom prst="roundRect">
            <a:avLst>
              <a:gd name="adj" fmla="val 13333"/>
            </a:avLst>
          </a:prstGeom>
          <a:solidFill>
            <a:srgbClr val="D3D0CB"/>
          </a:solidFill>
          <a:ln/>
        </p:spPr>
      </p:sp>
      <p:sp>
        <p:nvSpPr>
          <p:cNvPr id="9" name="Text 7"/>
          <p:cNvSpPr/>
          <p:nvPr/>
        </p:nvSpPr>
        <p:spPr>
          <a:xfrm>
            <a:off x="5943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User</a:t>
            </a:r>
            <a:endParaRPr lang="en-US" sz="1000" dirty="0"/>
          </a:p>
        </p:txBody>
      </p:sp>
      <p:sp>
        <p:nvSpPr>
          <p:cNvPr id="10" name="Text 8"/>
          <p:cNvSpPr/>
          <p:nvPr/>
        </p:nvSpPr>
        <p:spPr>
          <a:xfrm>
            <a:off x="4572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Initiates Start/Stop Command</a:t>
            </a:r>
            <a:endParaRPr lang="en-US" sz="900" dirty="0"/>
          </a:p>
        </p:txBody>
      </p:sp>
      <p:sp>
        <p:nvSpPr>
          <p:cNvPr id="11" name="Shape 9"/>
          <p:cNvSpPr/>
          <p:nvPr/>
        </p:nvSpPr>
        <p:spPr>
          <a:xfrm>
            <a:off x="21336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12" name="Shape 10"/>
          <p:cNvSpPr/>
          <p:nvPr/>
        </p:nvSpPr>
        <p:spPr>
          <a:xfrm>
            <a:off x="2307336" y="3749040"/>
            <a:ext cx="18288" cy="777240"/>
          </a:xfrm>
          <a:prstGeom prst="rect">
            <a:avLst/>
          </a:prstGeom>
          <a:solidFill>
            <a:srgbClr val="6E71D2"/>
          </a:solidFill>
          <a:ln/>
        </p:spPr>
      </p:sp>
      <p:sp>
        <p:nvSpPr>
          <p:cNvPr id="13" name="Shape 11"/>
          <p:cNvSpPr/>
          <p:nvPr/>
        </p:nvSpPr>
        <p:spPr>
          <a:xfrm>
            <a:off x="1813560" y="4572000"/>
            <a:ext cx="1005840" cy="411480"/>
          </a:xfrm>
          <a:prstGeom prst="roundRect">
            <a:avLst>
              <a:gd name="adj" fmla="val 13333"/>
            </a:avLst>
          </a:prstGeom>
          <a:solidFill>
            <a:srgbClr val="D3D0CB"/>
          </a:solidFill>
          <a:ln/>
        </p:spPr>
      </p:sp>
      <p:sp>
        <p:nvSpPr>
          <p:cNvPr id="14" name="Text 12"/>
          <p:cNvSpPr/>
          <p:nvPr/>
        </p:nvSpPr>
        <p:spPr>
          <a:xfrm>
            <a:off x="18135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LoRa Transmitter</a:t>
            </a:r>
            <a:endParaRPr lang="en-US" sz="1000" dirty="0"/>
          </a:p>
        </p:txBody>
      </p:sp>
      <p:sp>
        <p:nvSpPr>
          <p:cNvPr id="15" name="Text 13"/>
          <p:cNvSpPr/>
          <p:nvPr/>
        </p:nvSpPr>
        <p:spPr>
          <a:xfrm>
            <a:off x="16764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Sends LoRa Data Packet</a:t>
            </a:r>
            <a:endParaRPr lang="en-US" sz="900" dirty="0"/>
          </a:p>
        </p:txBody>
      </p:sp>
      <p:sp>
        <p:nvSpPr>
          <p:cNvPr id="16" name="Shape 14"/>
          <p:cNvSpPr/>
          <p:nvPr/>
        </p:nvSpPr>
        <p:spPr>
          <a:xfrm>
            <a:off x="33528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17" name="Shape 15"/>
          <p:cNvSpPr/>
          <p:nvPr/>
        </p:nvSpPr>
        <p:spPr>
          <a:xfrm>
            <a:off x="3526536" y="2560320"/>
            <a:ext cx="18288" cy="777240"/>
          </a:xfrm>
          <a:prstGeom prst="rect">
            <a:avLst/>
          </a:prstGeom>
          <a:solidFill>
            <a:srgbClr val="6E71D2"/>
          </a:solidFill>
          <a:ln/>
        </p:spPr>
      </p:sp>
      <p:sp>
        <p:nvSpPr>
          <p:cNvPr id="18" name="Shape 16"/>
          <p:cNvSpPr/>
          <p:nvPr/>
        </p:nvSpPr>
        <p:spPr>
          <a:xfrm>
            <a:off x="3032760" y="1920240"/>
            <a:ext cx="1005840" cy="411480"/>
          </a:xfrm>
          <a:prstGeom prst="roundRect">
            <a:avLst>
              <a:gd name="adj" fmla="val 13333"/>
            </a:avLst>
          </a:prstGeom>
          <a:solidFill>
            <a:srgbClr val="D3D0CB"/>
          </a:solidFill>
          <a:ln/>
        </p:spPr>
      </p:sp>
      <p:sp>
        <p:nvSpPr>
          <p:cNvPr id="19" name="Text 17"/>
          <p:cNvSpPr/>
          <p:nvPr/>
        </p:nvSpPr>
        <p:spPr>
          <a:xfrm>
            <a:off x="30327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LoRa Receiver</a:t>
            </a:r>
            <a:endParaRPr lang="en-US" sz="1000" dirty="0"/>
          </a:p>
        </p:txBody>
      </p:sp>
      <p:sp>
        <p:nvSpPr>
          <p:cNvPr id="20" name="Text 18"/>
          <p:cNvSpPr/>
          <p:nvPr/>
        </p:nvSpPr>
        <p:spPr>
          <a:xfrm>
            <a:off x="28956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Validates Signal Integrity</a:t>
            </a:r>
            <a:endParaRPr lang="en-US" sz="900" dirty="0"/>
          </a:p>
        </p:txBody>
      </p:sp>
      <p:sp>
        <p:nvSpPr>
          <p:cNvPr id="21" name="Shape 19"/>
          <p:cNvSpPr/>
          <p:nvPr/>
        </p:nvSpPr>
        <p:spPr>
          <a:xfrm>
            <a:off x="45720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22" name="Shape 20"/>
          <p:cNvSpPr/>
          <p:nvPr/>
        </p:nvSpPr>
        <p:spPr>
          <a:xfrm>
            <a:off x="4745736" y="3749040"/>
            <a:ext cx="18288" cy="777240"/>
          </a:xfrm>
          <a:prstGeom prst="rect">
            <a:avLst/>
          </a:prstGeom>
          <a:solidFill>
            <a:srgbClr val="6E71D2"/>
          </a:solidFill>
          <a:ln/>
        </p:spPr>
      </p:sp>
      <p:sp>
        <p:nvSpPr>
          <p:cNvPr id="23" name="Shape 21"/>
          <p:cNvSpPr/>
          <p:nvPr/>
        </p:nvSpPr>
        <p:spPr>
          <a:xfrm>
            <a:off x="4251960" y="4572000"/>
            <a:ext cx="1005840" cy="411480"/>
          </a:xfrm>
          <a:prstGeom prst="roundRect">
            <a:avLst>
              <a:gd name="adj" fmla="val 13333"/>
            </a:avLst>
          </a:prstGeom>
          <a:solidFill>
            <a:srgbClr val="D3D0CB"/>
          </a:solidFill>
          <a:ln/>
        </p:spPr>
      </p:sp>
      <p:sp>
        <p:nvSpPr>
          <p:cNvPr id="24" name="Text 22"/>
          <p:cNvSpPr/>
          <p:nvPr/>
        </p:nvSpPr>
        <p:spPr>
          <a:xfrm>
            <a:off x="42519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Microcontroller</a:t>
            </a:r>
            <a:endParaRPr lang="en-US" sz="1000" dirty="0"/>
          </a:p>
        </p:txBody>
      </p:sp>
      <p:sp>
        <p:nvSpPr>
          <p:cNvPr id="25" name="Text 23"/>
          <p:cNvSpPr/>
          <p:nvPr/>
        </p:nvSpPr>
        <p:spPr>
          <a:xfrm>
            <a:off x="41148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Triggers Relay ON/OFF</a:t>
            </a:r>
            <a:endParaRPr lang="en-US" sz="900" dirty="0"/>
          </a:p>
        </p:txBody>
      </p:sp>
      <p:sp>
        <p:nvSpPr>
          <p:cNvPr id="26" name="Shape 24"/>
          <p:cNvSpPr/>
          <p:nvPr/>
        </p:nvSpPr>
        <p:spPr>
          <a:xfrm>
            <a:off x="57912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27" name="Shape 25"/>
          <p:cNvSpPr/>
          <p:nvPr/>
        </p:nvSpPr>
        <p:spPr>
          <a:xfrm>
            <a:off x="5964936" y="2560320"/>
            <a:ext cx="18288" cy="777240"/>
          </a:xfrm>
          <a:prstGeom prst="rect">
            <a:avLst/>
          </a:prstGeom>
          <a:solidFill>
            <a:srgbClr val="6E71D2"/>
          </a:solidFill>
          <a:ln/>
        </p:spPr>
      </p:sp>
      <p:sp>
        <p:nvSpPr>
          <p:cNvPr id="28" name="Shape 26"/>
          <p:cNvSpPr/>
          <p:nvPr/>
        </p:nvSpPr>
        <p:spPr>
          <a:xfrm>
            <a:off x="5471160" y="1920240"/>
            <a:ext cx="1005840" cy="411480"/>
          </a:xfrm>
          <a:prstGeom prst="roundRect">
            <a:avLst>
              <a:gd name="adj" fmla="val 13333"/>
            </a:avLst>
          </a:prstGeom>
          <a:solidFill>
            <a:srgbClr val="D3D0CB"/>
          </a:solidFill>
          <a:ln/>
        </p:spPr>
      </p:sp>
      <p:sp>
        <p:nvSpPr>
          <p:cNvPr id="29" name="Text 27"/>
          <p:cNvSpPr/>
          <p:nvPr/>
        </p:nvSpPr>
        <p:spPr>
          <a:xfrm>
            <a:off x="5471160" y="192024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Relay</a:t>
            </a:r>
            <a:endParaRPr lang="en-US" sz="1000" dirty="0"/>
          </a:p>
        </p:txBody>
      </p:sp>
      <p:sp>
        <p:nvSpPr>
          <p:cNvPr id="30" name="Text 28"/>
          <p:cNvSpPr/>
          <p:nvPr/>
        </p:nvSpPr>
        <p:spPr>
          <a:xfrm>
            <a:off x="5334000" y="237744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Controls Motor Power</a:t>
            </a:r>
            <a:endParaRPr lang="en-US" sz="900" dirty="0"/>
          </a:p>
        </p:txBody>
      </p:sp>
      <p:sp>
        <p:nvSpPr>
          <p:cNvPr id="31" name="Shape 29"/>
          <p:cNvSpPr/>
          <p:nvPr/>
        </p:nvSpPr>
        <p:spPr>
          <a:xfrm>
            <a:off x="7010400" y="3337560"/>
            <a:ext cx="365760" cy="365760"/>
          </a:xfrm>
          <a:prstGeom prst="ellipse">
            <a:avLst/>
          </a:prstGeom>
          <a:solidFill>
            <a:srgbClr val="D3D0CB"/>
          </a:solidFill>
          <a:ln w="25400">
            <a:solidFill>
              <a:srgbClr val="FFFFFF"/>
            </a:solidFill>
            <a:prstDash val="solid"/>
          </a:ln>
          <a:effectLst>
            <a:outerShdw sx="100000" sy="100000" kx="0" ky="0" algn="bl" rotWithShape="0" blurRad="38100" dist="12700" dir="16200000">
              <a:srgbClr val="00000018">
                <a:alpha val="75000"/>
              </a:srgbClr>
            </a:outerShdw>
          </a:effectLst>
        </p:spPr>
      </p:sp>
      <p:sp>
        <p:nvSpPr>
          <p:cNvPr id="32" name="Shape 30"/>
          <p:cNvSpPr/>
          <p:nvPr/>
        </p:nvSpPr>
        <p:spPr>
          <a:xfrm>
            <a:off x="7184136" y="3749040"/>
            <a:ext cx="18288" cy="777240"/>
          </a:xfrm>
          <a:prstGeom prst="rect">
            <a:avLst/>
          </a:prstGeom>
          <a:solidFill>
            <a:srgbClr val="6E71D2"/>
          </a:solidFill>
          <a:ln/>
        </p:spPr>
      </p:sp>
      <p:sp>
        <p:nvSpPr>
          <p:cNvPr id="33" name="Shape 31"/>
          <p:cNvSpPr/>
          <p:nvPr/>
        </p:nvSpPr>
        <p:spPr>
          <a:xfrm>
            <a:off x="6690360" y="4572000"/>
            <a:ext cx="1005840" cy="411480"/>
          </a:xfrm>
          <a:prstGeom prst="roundRect">
            <a:avLst>
              <a:gd name="adj" fmla="val 13333"/>
            </a:avLst>
          </a:prstGeom>
          <a:solidFill>
            <a:srgbClr val="D3D0CB"/>
          </a:solidFill>
          <a:ln/>
        </p:spPr>
      </p:sp>
      <p:sp>
        <p:nvSpPr>
          <p:cNvPr id="34" name="Text 32"/>
          <p:cNvSpPr/>
          <p:nvPr/>
        </p:nvSpPr>
        <p:spPr>
          <a:xfrm>
            <a:off x="6690360" y="4572000"/>
            <a:ext cx="1005840" cy="41148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Motor</a:t>
            </a:r>
            <a:endParaRPr lang="en-US" sz="1000" dirty="0"/>
          </a:p>
        </p:txBody>
      </p:sp>
      <p:sp>
        <p:nvSpPr>
          <p:cNvPr id="35" name="Text 33"/>
          <p:cNvSpPr/>
          <p:nvPr/>
        </p:nvSpPr>
        <p:spPr>
          <a:xfrm>
            <a:off x="6553200" y="4023360"/>
            <a:ext cx="1280160" cy="54864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Motor Operation</a:t>
            </a:r>
            <a:endParaRPr lang="en-US" sz="900" dirty="0"/>
          </a:p>
        </p:txBody>
      </p:sp>
      <p:sp>
        <p:nvSpPr>
          <p:cNvPr id="36" name="Shape 34"/>
          <p:cNvSpPr/>
          <p:nvPr/>
        </p:nvSpPr>
        <p:spPr>
          <a:xfrm>
            <a:off x="8366760" y="5897880"/>
            <a:ext cx="457200" cy="457200"/>
          </a:xfrm>
          <a:prstGeom prst="ellipse">
            <a:avLst/>
          </a:prstGeom>
          <a:solidFill>
            <a:srgbClr val="D3D0CB"/>
          </a:solidFill>
          <a:ln/>
        </p:spPr>
      </p:sp>
      <p:sp>
        <p:nvSpPr>
          <p:cNvPr id="37" name="Text 35"/>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3D0C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858000"/>
          </a:xfrm>
          <a:prstGeom prst="rect">
            <a:avLst/>
          </a:prstGeom>
        </p:spPr>
      </p:pic>
      <p:sp>
        <p:nvSpPr>
          <p:cNvPr id="3" name="Shape 0"/>
          <p:cNvSpPr/>
          <p:nvPr/>
        </p:nvSpPr>
        <p:spPr>
          <a:xfrm>
            <a:off x="0" y="0"/>
            <a:ext cx="12192000" cy="6858000"/>
          </a:xfrm>
          <a:prstGeom prst="rect">
            <a:avLst/>
          </a:prstGeom>
          <a:solidFill>
            <a:srgbClr val="D3D0CB">
              <a:alpha val="70000"/>
            </a:srgbClr>
          </a:solidFill>
          <a:ln/>
        </p:spPr>
      </p:sp>
      <p:sp>
        <p:nvSpPr>
          <p:cNvPr id="4" name="Text 1"/>
          <p:cNvSpPr/>
          <p:nvPr/>
        </p:nvSpPr>
        <p:spPr>
          <a:xfrm>
            <a:off x="914400" y="1645920"/>
            <a:ext cx="7315200" cy="2286000"/>
          </a:xfrm>
          <a:prstGeom prst="rect">
            <a:avLst/>
          </a:prstGeom>
          <a:noFill/>
          <a:ln/>
          <a:effectLst>
            <a:outerShdw sx="100000" sy="100000" kx="0" ky="0" algn="bl" rotWithShape="0" blurRad="76200" dist="25400" dir="16200000">
              <a:srgbClr val="00000060">
                <a:alpha val="75000"/>
              </a:srgbClr>
            </a:outerShdw>
          </a:effectLst>
        </p:spPr>
        <p:txBody>
          <a:bodyPr wrap="square"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Hardware Architecture</a:t>
            </a:r>
            <a:endParaRPr lang="en-US" sz="4200" dirty="0"/>
          </a:p>
        </p:txBody>
      </p:sp>
      <p:sp>
        <p:nvSpPr>
          <p:cNvPr id="5" name="Shape 2"/>
          <p:cNvSpPr/>
          <p:nvPr/>
        </p:nvSpPr>
        <p:spPr>
          <a:xfrm>
            <a:off x="3200400" y="3931920"/>
            <a:ext cx="2743200" cy="36576"/>
          </a:xfrm>
          <a:prstGeom prst="rect">
            <a:avLst/>
          </a:prstGeom>
          <a:solidFill>
            <a:srgbClr val="FFFFFF">
              <a:alpha val="50000"/>
            </a:srgbClr>
          </a:solidFill>
          <a:ln/>
        </p:spPr>
      </p:sp>
      <p:sp>
        <p:nvSpPr>
          <p:cNvPr id="6" name="Text 3"/>
          <p:cNvSpPr/>
          <p:nvPr/>
        </p:nvSpPr>
        <p:spPr>
          <a:xfrm>
            <a:off x="914400" y="4114800"/>
            <a:ext cx="7315200" cy="731520"/>
          </a:xfrm>
          <a:prstGeom prst="rect">
            <a:avLst/>
          </a:prstGeom>
          <a:noFill/>
          <a:ln/>
        </p:spPr>
        <p:txBody>
          <a:bodyPr wrap="square" rtlCol="0" anchor="ctr"/>
          <a:lstStyle/>
          <a:p>
            <a:pPr algn="ctr" indent="0" marL="0">
              <a:buNone/>
            </a:pPr>
            <a:r>
              <a:rPr lang="en-US" sz="1600" dirty="0">
                <a:solidFill>
                  <a:srgbClr val="FFFFFF">
                    <a:alpha val="80000"/>
                  </a:srgbClr>
                </a:solidFill>
                <a:latin typeface="Calibri" pitchFamily="34" charset="0"/>
                <a:ea typeface="Calibri" pitchFamily="34" charset="-122"/>
                <a:cs typeface="Calibri" pitchFamily="34" charset="-120"/>
              </a:rPr>
              <a:t>Components and their integration, establishing the essential foundation for the controller.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229600" y="0"/>
            <a:ext cx="914400" cy="6858000"/>
          </a:xfrm>
          <a:prstGeom prst="rect">
            <a:avLst/>
          </a:prstGeom>
          <a:solidFill>
            <a:srgbClr val="D3D0CB">
              <a:alpha val="8000"/>
            </a:srgbClr>
          </a:solidFill>
          <a:ln/>
        </p:spPr>
      </p:sp>
      <p:sp>
        <p:nvSpPr>
          <p:cNvPr id="3" name="Shape 1"/>
          <p:cNvSpPr/>
          <p:nvPr/>
        </p:nvSpPr>
        <p:spPr>
          <a:xfrm>
            <a:off x="-548640" y="-548640"/>
            <a:ext cx="1645920" cy="1645920"/>
          </a:xfrm>
          <a:prstGeom prst="ellipse">
            <a:avLst/>
          </a:prstGeom>
          <a:solidFill>
            <a:srgbClr val="F05F44">
              <a:alpha val="10000"/>
            </a:srgbClr>
          </a:solidFill>
          <a:ln/>
        </p:spPr>
      </p:sp>
      <p:sp>
        <p:nvSpPr>
          <p:cNvPr id="4" name="Shape 2"/>
          <p:cNvSpPr/>
          <p:nvPr/>
        </p:nvSpPr>
        <p:spPr>
          <a:xfrm>
            <a:off x="0" y="0"/>
            <a:ext cx="12192000" cy="960120"/>
          </a:xfrm>
          <a:prstGeom prst="rect">
            <a:avLst/>
          </a:prstGeom>
          <a:solidFill>
            <a:srgbClr val="D3D0CB"/>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Hardware Block Diagram: Key System Components</a:t>
            </a:r>
            <a:endParaRPr lang="en-US" sz="2400" dirty="0"/>
          </a:p>
        </p:txBody>
      </p:sp>
      <p:sp>
        <p:nvSpPr>
          <p:cNvPr id="6" name="Shape 4"/>
          <p:cNvSpPr/>
          <p:nvPr/>
        </p:nvSpPr>
        <p:spPr>
          <a:xfrm>
            <a:off x="457200" y="1188720"/>
            <a:ext cx="5029200" cy="4846320"/>
          </a:xfrm>
          <a:prstGeom prst="roundRect">
            <a:avLst>
              <a:gd name="adj" fmla="val 2264"/>
            </a:avLst>
          </a:prstGeom>
          <a:solidFill>
            <a:srgbClr val="3A3D98">
              <a:alpha val="70000"/>
            </a:srgbClr>
          </a:solidFill>
          <a:ln w="6350">
            <a:solidFill>
              <a:srgbClr val="6D70CB"/>
            </a:solidFill>
            <a:prstDash val="solid"/>
          </a:ln>
        </p:spPr>
      </p:sp>
      <p:sp>
        <p:nvSpPr>
          <p:cNvPr id="7" name="Text 5"/>
          <p:cNvSpPr/>
          <p:nvPr/>
        </p:nvSpPr>
        <p:spPr>
          <a:xfrm>
            <a:off x="822960" y="1463040"/>
            <a:ext cx="4297680" cy="4297680"/>
          </a:xfrm>
          <a:prstGeom prst="rect">
            <a:avLst/>
          </a:prstGeom>
          <a:noFill/>
          <a:ln/>
        </p:spPr>
        <p:txBody>
          <a:bodyPr wrap="square"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  The hardware block diagram highlights the interaction between the power supply, Arduino paired with a LoRa transmitter, the receiver, a relay module, and the motor load.</a:t>
            </a:r>
            <a:endParaRPr lang="en-US" sz="1400" dirty="0"/>
          </a:p>
          <a:p>
            <a:pPr marL="342900" indent="-342900">
              <a:spcAft>
                <a:spcPts val="1000"/>
              </a:spcAft>
              <a:buSzPct val="100000"/>
              <a:buFont typeface="+mj-lt"/>
              <a:buAutoNum type="arabicPeriod" startAt="2"/>
            </a:pPr>
            <a:r>
              <a:rPr lang="en-US" sz="1400" dirty="0">
                <a:solidFill>
                  <a:srgbClr val="FFFFFF"/>
                </a:solidFill>
                <a:latin typeface="Calibri" pitchFamily="34" charset="0"/>
                <a:ea typeface="Calibri" pitchFamily="34" charset="-122"/>
                <a:cs typeface="Calibri" pitchFamily="34" charset="-120"/>
              </a:rPr>
              <a:t>  The Arduino paired with LoRa transmitter sends wireless signals to the paired receiver and the microcontroller assesses that before controlling the relay module to supply the needed electrical energy to the motor.</a:t>
            </a:r>
            <a:endParaRPr lang="en-US" sz="1400" dirty="0"/>
          </a:p>
          <a:p>
            <a:pPr marL="342900" indent="-342900">
              <a:spcAft>
                <a:spcPts val="1000"/>
              </a:spcAft>
              <a:buSzPct val="100000"/>
              <a:buFont typeface="+mj-lt"/>
              <a:buAutoNum type="arabicPeriod" startAt="3"/>
            </a:pPr>
            <a:r>
              <a:rPr lang="en-US" sz="1400" dirty="0">
                <a:solidFill>
                  <a:srgbClr val="FFFFFF"/>
                </a:solidFill>
                <a:latin typeface="Calibri" pitchFamily="34" charset="0"/>
                <a:ea typeface="Calibri" pitchFamily="34" charset="-122"/>
                <a:cs typeface="Calibri" pitchFamily="34" charset="-120"/>
              </a:rPr>
              <a:t>  Implementing a modular hardware design allows for easy replacement and upgrades to individual components such as the LoRa module without requiring whole system modification.</a:t>
            </a:r>
            <a:endParaRPr lang="en-US" sz="1400" dirty="0"/>
          </a:p>
          <a:p>
            <a:pPr marL="342900" indent="-342900">
              <a:spcAft>
                <a:spcPts val="1000"/>
              </a:spcAft>
              <a:buSzPct val="100000"/>
              <a:buFont typeface="+mj-lt"/>
              <a:buAutoNum type="arabicPeriod" startAt="4"/>
            </a:pPr>
            <a:r>
              <a:rPr lang="en-US" sz="1400" dirty="0">
                <a:solidFill>
                  <a:srgbClr val="FFFFFF"/>
                </a:solidFill>
                <a:latin typeface="Calibri" pitchFamily="34" charset="0"/>
                <a:ea typeface="Calibri" pitchFamily="34" charset="-122"/>
                <a:cs typeface="Calibri" pitchFamily="34" charset="-120"/>
              </a:rPr>
              <a:t>  Integrating surge protection mechanisms into the power supply and relay module will help protect the hardware from voltage spikes or power surges and extend the life of components.</a:t>
            </a:r>
            <a:endParaRPr lang="en-US" sz="1400" dirty="0"/>
          </a:p>
          <a:p>
            <a:pPr marL="342900" indent="-342900">
              <a:spcAft>
                <a:spcPts val="1000"/>
              </a:spcAft>
              <a:buSzPct val="100000"/>
              <a:buFont typeface="+mj-lt"/>
              <a:buAutoNum type="arabicPeriod" startAt="5"/>
            </a:pPr>
            <a:r>
              <a:rPr lang="en-US" sz="1400" dirty="0">
                <a:solidFill>
                  <a:srgbClr val="FFFFFF"/>
                </a:solidFill>
                <a:latin typeface="Calibri" pitchFamily="34" charset="0"/>
                <a:ea typeface="Calibri" pitchFamily="34" charset="-122"/>
                <a:cs typeface="Calibri" pitchFamily="34" charset="-120"/>
              </a:rPr>
              <a:t>  Selecting industrial-grade components such as the relay module helps to guarantee continuous operation under harsh environmental conditions that may exist in industrial settings.</a:t>
            </a:r>
            <a:endParaRPr lang="en-US" sz="1400" dirty="0"/>
          </a:p>
        </p:txBody>
      </p:sp>
      <p:sp>
        <p:nvSpPr>
          <p:cNvPr id="8" name="Shape 6"/>
          <p:cNvSpPr/>
          <p:nvPr/>
        </p:nvSpPr>
        <p:spPr>
          <a:xfrm>
            <a:off x="5577840" y="1554480"/>
            <a:ext cx="3383280" cy="3840480"/>
          </a:xfrm>
          <a:prstGeom prst="roundRect">
            <a:avLst>
              <a:gd name="adj" fmla="val 4054"/>
            </a:avLst>
          </a:prstGeom>
          <a:solidFill>
            <a:srgbClr val="D3D0CB">
              <a:alpha val="20000"/>
            </a:srgbClr>
          </a:solidFill>
          <a:ln w="12700">
            <a:solidFill>
              <a:srgbClr val="D3D0CB"/>
            </a:solidFill>
            <a:prstDash val="solid"/>
          </a:ln>
        </p:spPr>
      </p:sp>
      <p:pic>
        <p:nvPicPr>
          <p:cNvPr id="9" name="Image 0" descr="preencoded.png">    </p:cNvPr>
          <p:cNvPicPr>
            <a:picLocks noChangeAspect="1"/>
          </p:cNvPicPr>
          <p:nvPr/>
        </p:nvPicPr>
        <p:blipFill>
          <a:blip r:embed="rId1"/>
          <a:stretch>
            <a:fillRect/>
          </a:stretch>
        </p:blipFill>
        <p:spPr>
          <a:xfrm>
            <a:off x="5669280" y="1645920"/>
            <a:ext cx="3200400" cy="3657600"/>
          </a:xfrm>
          <a:prstGeom prst="ellipse">
            <a:avLst/>
          </a:prstGeom>
        </p:spPr>
      </p:pic>
      <p:sp>
        <p:nvSpPr>
          <p:cNvPr id="10" name="Shape 7"/>
          <p:cNvSpPr/>
          <p:nvPr/>
        </p:nvSpPr>
        <p:spPr>
          <a:xfrm>
            <a:off x="8366760" y="5897880"/>
            <a:ext cx="457200" cy="457200"/>
          </a:xfrm>
          <a:prstGeom prst="ellipse">
            <a:avLst/>
          </a:prstGeom>
          <a:solidFill>
            <a:srgbClr val="D3D0CB"/>
          </a:solidFill>
          <a:ln/>
        </p:spPr>
      </p:sp>
      <p:sp>
        <p:nvSpPr>
          <p:cNvPr id="11" name="Text 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457200"/>
            <a:ext cx="2011680" cy="2011680"/>
          </a:xfrm>
          <a:prstGeom prst="rtTriangle">
            <a:avLst/>
          </a:prstGeom>
          <a:solidFill>
            <a:srgbClr val="D3D0CB">
              <a:alpha val="12000"/>
            </a:srgbClr>
          </a:solidFill>
          <a:ln/>
        </p:spPr>
      </p:sp>
      <p:sp>
        <p:nvSpPr>
          <p:cNvPr id="3" name="Shape 1"/>
          <p:cNvSpPr/>
          <p:nvPr/>
        </p:nvSpPr>
        <p:spPr>
          <a:xfrm>
            <a:off x="7315200" y="4572000"/>
            <a:ext cx="1828800" cy="1828800"/>
          </a:xfrm>
          <a:prstGeom prst="ellipse">
            <a:avLst/>
          </a:prstGeom>
          <a:solidFill>
            <a:srgbClr val="F05F44">
              <a:alpha val="10000"/>
            </a:srgbClr>
          </a:solidFill>
          <a:ln/>
        </p:spPr>
      </p:sp>
      <p:sp>
        <p:nvSpPr>
          <p:cNvPr id="4" name="Shape 2"/>
          <p:cNvSpPr/>
          <p:nvPr/>
        </p:nvSpPr>
        <p:spPr>
          <a:xfrm>
            <a:off x="0" y="0"/>
            <a:ext cx="12192000" cy="960120"/>
          </a:xfrm>
          <a:prstGeom prst="rect">
            <a:avLst/>
          </a:prstGeom>
          <a:solidFill>
            <a:srgbClr val="D3D0CB"/>
          </a:solidFill>
          <a:ln/>
        </p:spPr>
      </p:sp>
      <p:sp>
        <p:nvSpPr>
          <p:cNvPr id="5" name="Text 3"/>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Operating State: Transitioning Between Safe Operations</a:t>
            </a:r>
            <a:endParaRPr lang="en-US" sz="2400" dirty="0"/>
          </a:p>
        </p:txBody>
      </p:sp>
      <p:sp>
        <p:nvSpPr>
          <p:cNvPr id="6" name="Shape 4"/>
          <p:cNvSpPr/>
          <p:nvPr/>
        </p:nvSpPr>
        <p:spPr>
          <a:xfrm>
            <a:off x="365760" y="1554480"/>
            <a:ext cx="2926080" cy="4297680"/>
          </a:xfrm>
          <a:prstGeom prst="roundRect">
            <a:avLst>
              <a:gd name="adj" fmla="val 4688"/>
            </a:avLst>
          </a:prstGeom>
          <a:solidFill>
            <a:srgbClr val="D3D0CB">
              <a:alpha val="20000"/>
            </a:srgbClr>
          </a:solidFill>
          <a:ln w="12700">
            <a:solidFill>
              <a:srgbClr val="D3D0CB"/>
            </a:solidFill>
            <a:prstDash val="solid"/>
          </a:ln>
        </p:spPr>
      </p:sp>
      <p:pic>
        <p:nvPicPr>
          <p:cNvPr id="7" name="Image 0" descr="preencoded.png">    </p:cNvPr>
          <p:cNvPicPr>
            <a:picLocks noChangeAspect="1"/>
          </p:cNvPicPr>
          <p:nvPr/>
        </p:nvPicPr>
        <p:blipFill>
          <a:blip r:embed="rId1"/>
          <a:stretch>
            <a:fillRect/>
          </a:stretch>
        </p:blipFill>
        <p:spPr>
          <a:xfrm>
            <a:off x="457200" y="1645920"/>
            <a:ext cx="2743200" cy="4114800"/>
          </a:xfrm>
          <a:prstGeom prst="ellipse">
            <a:avLst/>
          </a:prstGeom>
        </p:spPr>
      </p:pic>
      <p:sp>
        <p:nvSpPr>
          <p:cNvPr id="8" name="Shape 5"/>
          <p:cNvSpPr/>
          <p:nvPr/>
        </p:nvSpPr>
        <p:spPr>
          <a:xfrm>
            <a:off x="3657600" y="1645920"/>
            <a:ext cx="2423160" cy="1920240"/>
          </a:xfrm>
          <a:prstGeom prst="roundRect">
            <a:avLst>
              <a:gd name="adj" fmla="val 5714"/>
            </a:avLst>
          </a:prstGeom>
          <a:solidFill>
            <a:srgbClr val="3A3D98">
              <a:alpha val="80000"/>
            </a:srgbClr>
          </a:solidFill>
          <a:ln w="19050">
            <a:solidFill>
              <a:srgbClr val="D3D0CB"/>
            </a:solidFill>
            <a:prstDash val="solid"/>
          </a:ln>
          <a:effectLst>
            <a:outerShdw sx="100000" sy="100000" kx="0" ky="0" algn="bl" rotWithShape="0" blurRad="63500" dist="25400" dir="16200000">
              <a:srgbClr val="00000012">
                <a:alpha val="75000"/>
              </a:srgbClr>
            </a:outerShdw>
          </a:effectLst>
        </p:spPr>
      </p:sp>
      <p:sp>
        <p:nvSpPr>
          <p:cNvPr id="9" name="Shape 6"/>
          <p:cNvSpPr/>
          <p:nvPr/>
        </p:nvSpPr>
        <p:spPr>
          <a:xfrm>
            <a:off x="3657600" y="1645920"/>
            <a:ext cx="2423160" cy="64008"/>
          </a:xfrm>
          <a:prstGeom prst="rect">
            <a:avLst/>
          </a:prstGeom>
          <a:solidFill>
            <a:srgbClr val="D3D0CB"/>
          </a:solidFill>
          <a:ln/>
        </p:spPr>
      </p:sp>
      <p:sp>
        <p:nvSpPr>
          <p:cNvPr id="10" name="Text 7"/>
          <p:cNvSpPr/>
          <p:nvPr/>
        </p:nvSpPr>
        <p:spPr>
          <a:xfrm>
            <a:off x="3657600" y="1933956"/>
            <a:ext cx="2423160" cy="768096"/>
          </a:xfrm>
          <a:prstGeom prst="rect">
            <a:avLst/>
          </a:prstGeom>
          <a:noFill/>
          <a:ln/>
        </p:spPr>
        <p:txBody>
          <a:bodyPr wrap="square" rtlCol="0" anchor="ctr"/>
          <a:lstStyle/>
          <a:p>
            <a:pPr algn="ctr" indent="0" marL="0">
              <a:buNone/>
            </a:pPr>
            <a:r>
              <a:rPr lang="en-US" sz="3200" b="1" dirty="0">
                <a:solidFill>
                  <a:srgbClr val="D3D0CB"/>
                </a:solidFill>
                <a:latin typeface="Segoe UI" pitchFamily="34" charset="0"/>
                <a:ea typeface="Segoe UI" pitchFamily="34" charset="-122"/>
                <a:cs typeface="Segoe UI" pitchFamily="34" charset="-120"/>
              </a:rPr>
              <a:t>99.9%</a:t>
            </a:r>
            <a:endParaRPr lang="en-US" sz="3200" dirty="0"/>
          </a:p>
        </p:txBody>
      </p:sp>
      <p:sp>
        <p:nvSpPr>
          <p:cNvPr id="11" name="Text 8"/>
          <p:cNvSpPr/>
          <p:nvPr/>
        </p:nvSpPr>
        <p:spPr>
          <a:xfrm>
            <a:off x="3749040" y="2798064"/>
            <a:ext cx="2240280" cy="576072"/>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System Uptime Target</a:t>
            </a:r>
            <a:endParaRPr lang="en-US" sz="1200" dirty="0"/>
          </a:p>
        </p:txBody>
      </p:sp>
      <p:sp>
        <p:nvSpPr>
          <p:cNvPr id="12" name="Shape 9"/>
          <p:cNvSpPr/>
          <p:nvPr/>
        </p:nvSpPr>
        <p:spPr>
          <a:xfrm>
            <a:off x="6263640" y="1645920"/>
            <a:ext cx="2423160" cy="1920240"/>
          </a:xfrm>
          <a:prstGeom prst="roundRect">
            <a:avLst>
              <a:gd name="adj" fmla="val 5714"/>
            </a:avLst>
          </a:prstGeom>
          <a:solidFill>
            <a:srgbClr val="3A3D98">
              <a:alpha val="80000"/>
            </a:srgbClr>
          </a:solidFill>
          <a:ln w="19050">
            <a:solidFill>
              <a:srgbClr val="D3D0CB"/>
            </a:solidFill>
            <a:prstDash val="solid"/>
          </a:ln>
          <a:effectLst>
            <a:outerShdw sx="100000" sy="100000" kx="0" ky="0" algn="bl" rotWithShape="0" blurRad="63500" dist="25400" dir="16200000">
              <a:srgbClr val="00000012">
                <a:alpha val="75000"/>
              </a:srgbClr>
            </a:outerShdw>
          </a:effectLst>
        </p:spPr>
      </p:sp>
      <p:sp>
        <p:nvSpPr>
          <p:cNvPr id="13" name="Shape 10"/>
          <p:cNvSpPr/>
          <p:nvPr/>
        </p:nvSpPr>
        <p:spPr>
          <a:xfrm>
            <a:off x="6263640" y="1645920"/>
            <a:ext cx="2423160" cy="64008"/>
          </a:xfrm>
          <a:prstGeom prst="rect">
            <a:avLst/>
          </a:prstGeom>
          <a:solidFill>
            <a:srgbClr val="D3D0CB"/>
          </a:solidFill>
          <a:ln/>
        </p:spPr>
      </p:sp>
      <p:sp>
        <p:nvSpPr>
          <p:cNvPr id="14" name="Text 11"/>
          <p:cNvSpPr/>
          <p:nvPr/>
        </p:nvSpPr>
        <p:spPr>
          <a:xfrm>
            <a:off x="6263640" y="1933956"/>
            <a:ext cx="2423160" cy="768096"/>
          </a:xfrm>
          <a:prstGeom prst="rect">
            <a:avLst/>
          </a:prstGeom>
          <a:noFill/>
          <a:ln/>
        </p:spPr>
        <p:txBody>
          <a:bodyPr wrap="square" rtlCol="0" anchor="ctr"/>
          <a:lstStyle/>
          <a:p>
            <a:pPr algn="ctr" indent="0" marL="0">
              <a:buNone/>
            </a:pPr>
            <a:r>
              <a:rPr lang="en-US" sz="3200" b="1" dirty="0">
                <a:solidFill>
                  <a:srgbClr val="D3D0CB"/>
                </a:solidFill>
                <a:latin typeface="Segoe UI" pitchFamily="34" charset="0"/>
                <a:ea typeface="Segoe UI" pitchFamily="34" charset="-122"/>
                <a:cs typeface="Segoe UI" pitchFamily="34" charset="-120"/>
              </a:rPr>
              <a:t>±1%</a:t>
            </a:r>
            <a:endParaRPr lang="en-US" sz="3200" dirty="0"/>
          </a:p>
        </p:txBody>
      </p:sp>
      <p:sp>
        <p:nvSpPr>
          <p:cNvPr id="15" name="Text 12"/>
          <p:cNvSpPr/>
          <p:nvPr/>
        </p:nvSpPr>
        <p:spPr>
          <a:xfrm>
            <a:off x="6355080" y="2798064"/>
            <a:ext cx="2240280" cy="576072"/>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Voltage Stability</a:t>
            </a:r>
            <a:endParaRPr lang="en-US" sz="1200" dirty="0"/>
          </a:p>
        </p:txBody>
      </p:sp>
      <p:sp>
        <p:nvSpPr>
          <p:cNvPr id="16" name="Shape 13"/>
          <p:cNvSpPr/>
          <p:nvPr/>
        </p:nvSpPr>
        <p:spPr>
          <a:xfrm>
            <a:off x="3657600" y="3749040"/>
            <a:ext cx="2423160" cy="1920240"/>
          </a:xfrm>
          <a:prstGeom prst="roundRect">
            <a:avLst>
              <a:gd name="adj" fmla="val 5714"/>
            </a:avLst>
          </a:prstGeom>
          <a:solidFill>
            <a:srgbClr val="3A3D98">
              <a:alpha val="80000"/>
            </a:srgbClr>
          </a:solidFill>
          <a:ln w="19050">
            <a:solidFill>
              <a:srgbClr val="D3D0CB"/>
            </a:solidFill>
            <a:prstDash val="solid"/>
          </a:ln>
          <a:effectLst>
            <a:outerShdw sx="100000" sy="100000" kx="0" ky="0" algn="bl" rotWithShape="0" blurRad="63500" dist="25400" dir="16200000">
              <a:srgbClr val="00000012">
                <a:alpha val="75000"/>
              </a:srgbClr>
            </a:outerShdw>
          </a:effectLst>
        </p:spPr>
      </p:sp>
      <p:sp>
        <p:nvSpPr>
          <p:cNvPr id="17" name="Shape 14"/>
          <p:cNvSpPr/>
          <p:nvPr/>
        </p:nvSpPr>
        <p:spPr>
          <a:xfrm>
            <a:off x="3657600" y="3749040"/>
            <a:ext cx="2423160" cy="64008"/>
          </a:xfrm>
          <a:prstGeom prst="rect">
            <a:avLst/>
          </a:prstGeom>
          <a:solidFill>
            <a:srgbClr val="D3D0CB"/>
          </a:solidFill>
          <a:ln/>
        </p:spPr>
      </p:sp>
      <p:sp>
        <p:nvSpPr>
          <p:cNvPr id="18" name="Text 15"/>
          <p:cNvSpPr/>
          <p:nvPr/>
        </p:nvSpPr>
        <p:spPr>
          <a:xfrm>
            <a:off x="3657600" y="4037076"/>
            <a:ext cx="2423160" cy="768096"/>
          </a:xfrm>
          <a:prstGeom prst="rect">
            <a:avLst/>
          </a:prstGeom>
          <a:noFill/>
          <a:ln/>
        </p:spPr>
        <p:txBody>
          <a:bodyPr wrap="square" rtlCol="0" anchor="ctr"/>
          <a:lstStyle/>
          <a:p>
            <a:pPr algn="ctr" indent="0" marL="0">
              <a:buNone/>
            </a:pPr>
            <a:r>
              <a:rPr lang="en-US" sz="3200" b="1" dirty="0">
                <a:solidFill>
                  <a:srgbClr val="D3D0CB"/>
                </a:solidFill>
                <a:latin typeface="Segoe UI" pitchFamily="34" charset="0"/>
                <a:ea typeface="Segoe UI" pitchFamily="34" charset="-122"/>
                <a:cs typeface="Segoe UI" pitchFamily="34" charset="-120"/>
              </a:rPr>
              <a:t>10 km</a:t>
            </a:r>
            <a:endParaRPr lang="en-US" sz="3200" dirty="0"/>
          </a:p>
        </p:txBody>
      </p:sp>
      <p:sp>
        <p:nvSpPr>
          <p:cNvPr id="19" name="Text 16"/>
          <p:cNvSpPr/>
          <p:nvPr/>
        </p:nvSpPr>
        <p:spPr>
          <a:xfrm>
            <a:off x="3749040" y="4901184"/>
            <a:ext cx="2240280" cy="576072"/>
          </a:xfrm>
          <a:prstGeom prst="rect">
            <a:avLst/>
          </a:prstGeom>
          <a:noFill/>
          <a:ln/>
        </p:spPr>
        <p:txBody>
          <a:bodyPr wrap="square"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LoRa Range</a:t>
            </a:r>
            <a:endParaRPr lang="en-US" sz="1200" dirty="0"/>
          </a:p>
        </p:txBody>
      </p:sp>
      <p:sp>
        <p:nvSpPr>
          <p:cNvPr id="20" name="Shape 17"/>
          <p:cNvSpPr/>
          <p:nvPr/>
        </p:nvSpPr>
        <p:spPr>
          <a:xfrm>
            <a:off x="8366760" y="5897880"/>
            <a:ext cx="457200" cy="457200"/>
          </a:xfrm>
          <a:prstGeom prst="ellipse">
            <a:avLst/>
          </a:prstGeom>
          <a:solidFill>
            <a:srgbClr val="D3D0CB"/>
          </a:solidFill>
          <a:ln/>
        </p:spPr>
      </p:sp>
      <p:sp>
        <p:nvSpPr>
          <p:cNvPr id="21" name="Text 1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alpha val="40000"/>
            </a:srgbClr>
          </a:solidFill>
          <a:ln/>
        </p:spPr>
      </p:sp>
      <p:sp>
        <p:nvSpPr>
          <p:cNvPr id="3" name="Shape 1"/>
          <p:cNvSpPr/>
          <p:nvPr/>
        </p:nvSpPr>
        <p:spPr>
          <a:xfrm>
            <a:off x="0" y="0"/>
            <a:ext cx="12192000" cy="960120"/>
          </a:xfrm>
          <a:prstGeom prst="rect">
            <a:avLst/>
          </a:prstGeom>
          <a:solidFill>
            <a:srgbClr val="D3D0CB"/>
          </a:solidFill>
          <a:ln/>
        </p:spPr>
      </p:sp>
      <p:sp>
        <p:nvSpPr>
          <p:cNvPr id="4" name="Text 2"/>
          <p:cNvSpPr/>
          <p:nvPr/>
        </p:nvSpPr>
        <p:spPr>
          <a:xfrm>
            <a:off x="548640" y="109728"/>
            <a:ext cx="7772400" cy="73152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State Diagram: Safe vs. Unsafe Operating Modes</a:t>
            </a:r>
            <a:endParaRPr lang="en-US" sz="2400" dirty="0"/>
          </a:p>
        </p:txBody>
      </p:sp>
      <p:sp>
        <p:nvSpPr>
          <p:cNvPr id="5" name="Shape 3"/>
          <p:cNvSpPr/>
          <p:nvPr/>
        </p:nvSpPr>
        <p:spPr>
          <a:xfrm>
            <a:off x="4434840" y="1188720"/>
            <a:ext cx="274320" cy="4846320"/>
          </a:xfrm>
          <a:prstGeom prst="rect">
            <a:avLst/>
          </a:prstGeom>
          <a:solidFill>
            <a:srgbClr val="5457B8">
              <a:alpha val="40000"/>
            </a:srgbClr>
          </a:solidFill>
          <a:ln/>
        </p:spPr>
      </p:sp>
      <p:sp>
        <p:nvSpPr>
          <p:cNvPr id="6" name="Shape 4"/>
          <p:cNvSpPr/>
          <p:nvPr/>
        </p:nvSpPr>
        <p:spPr>
          <a:xfrm>
            <a:off x="4114800" y="3108960"/>
            <a:ext cx="914400" cy="914400"/>
          </a:xfrm>
          <a:prstGeom prst="ellipse">
            <a:avLst/>
          </a:prstGeom>
          <a:solidFill>
            <a:srgbClr val="D3D0CB"/>
          </a:solidFill>
          <a:ln/>
        </p:spPr>
      </p:sp>
      <p:sp>
        <p:nvSpPr>
          <p:cNvPr id="7" name="Text 5"/>
          <p:cNvSpPr/>
          <p:nvPr/>
        </p:nvSpPr>
        <p:spPr>
          <a:xfrm>
            <a:off x="4114800" y="3108960"/>
            <a:ext cx="914400" cy="9144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VS</a:t>
            </a:r>
            <a:endParaRPr lang="en-US" sz="1400" dirty="0"/>
          </a:p>
        </p:txBody>
      </p:sp>
      <p:sp>
        <p:nvSpPr>
          <p:cNvPr id="8" name="Shape 6"/>
          <p:cNvSpPr/>
          <p:nvPr/>
        </p:nvSpPr>
        <p:spPr>
          <a:xfrm>
            <a:off x="365760" y="1188720"/>
            <a:ext cx="3931920" cy="4846320"/>
          </a:xfrm>
          <a:prstGeom prst="roundRect">
            <a:avLst>
              <a:gd name="adj" fmla="val 2326"/>
            </a:avLst>
          </a:prstGeom>
          <a:solidFill>
            <a:srgbClr val="3A3D98">
              <a:alpha val="65000"/>
            </a:srgbClr>
          </a:solidFill>
          <a:ln w="12700">
            <a:solidFill>
              <a:srgbClr val="D3D0CB"/>
            </a:solidFill>
            <a:prstDash val="solid"/>
          </a:ln>
        </p:spPr>
      </p:sp>
      <p:sp>
        <p:nvSpPr>
          <p:cNvPr id="9" name="Text 7"/>
          <p:cNvSpPr/>
          <p:nvPr/>
        </p:nvSpPr>
        <p:spPr>
          <a:xfrm>
            <a:off x="548640" y="1371600"/>
            <a:ext cx="3566160" cy="548640"/>
          </a:xfrm>
          <a:prstGeom prst="rect">
            <a:avLst/>
          </a:prstGeom>
          <a:noFill/>
          <a:ln/>
        </p:spPr>
        <p:txBody>
          <a:bodyPr wrap="square" rtlCol="0" anchor="ctr"/>
          <a:lstStyle/>
          <a:p>
            <a:pPr algn="ctr" indent="0" marL="0">
              <a:buNone/>
            </a:pPr>
            <a:r>
              <a:rPr lang="en-US" sz="1800" b="1" dirty="0">
                <a:solidFill>
                  <a:srgbClr val="D3D0CB"/>
                </a:solidFill>
                <a:latin typeface="Segoe UI" pitchFamily="34" charset="0"/>
                <a:ea typeface="Segoe UI" pitchFamily="34" charset="-122"/>
                <a:cs typeface="Segoe UI" pitchFamily="34" charset="-120"/>
              </a:rPr>
              <a:t>Safe Operation</a:t>
            </a:r>
            <a:endParaRPr lang="en-US" sz="1800" dirty="0"/>
          </a:p>
        </p:txBody>
      </p:sp>
      <p:sp>
        <p:nvSpPr>
          <p:cNvPr id="10" name="Text 8"/>
          <p:cNvSpPr/>
          <p:nvPr/>
        </p:nvSpPr>
        <p:spPr>
          <a:xfrm>
            <a:off x="731520" y="2103120"/>
            <a:ext cx="3200400" cy="3474720"/>
          </a:xfrm>
          <a:prstGeom prst="rect">
            <a:avLst/>
          </a:prstGeom>
          <a:noFill/>
          <a:ln/>
        </p:spPr>
        <p:txBody>
          <a:bodyPr wrap="square"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Includes the idle phase, waiting for commands while continuously monitoring power.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Requires successful safety checks before transitioning to the running phase.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Facilitates a smooth transition back to 'Idle' after receiving a 'Stop' command.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Maintains continuous monitoring which leads to immediate shutdown in the case of critical anomalies.</a:t>
            </a:r>
            <a:endParaRPr lang="en-US" sz="1300" dirty="0"/>
          </a:p>
        </p:txBody>
      </p:sp>
      <p:sp>
        <p:nvSpPr>
          <p:cNvPr id="11" name="Shape 9"/>
          <p:cNvSpPr/>
          <p:nvPr/>
        </p:nvSpPr>
        <p:spPr>
          <a:xfrm>
            <a:off x="4846320" y="1188720"/>
            <a:ext cx="3931920" cy="4846320"/>
          </a:xfrm>
          <a:prstGeom prst="roundRect">
            <a:avLst>
              <a:gd name="adj" fmla="val 2326"/>
            </a:avLst>
          </a:prstGeom>
          <a:solidFill>
            <a:srgbClr val="3A3D98">
              <a:alpha val="65000"/>
            </a:srgbClr>
          </a:solidFill>
          <a:ln w="12700">
            <a:solidFill>
              <a:srgbClr val="F05F44"/>
            </a:solidFill>
            <a:prstDash val="solid"/>
          </a:ln>
        </p:spPr>
      </p:sp>
      <p:sp>
        <p:nvSpPr>
          <p:cNvPr id="12" name="Text 10"/>
          <p:cNvSpPr/>
          <p:nvPr/>
        </p:nvSpPr>
        <p:spPr>
          <a:xfrm>
            <a:off x="5029200" y="1371600"/>
            <a:ext cx="3566160" cy="548640"/>
          </a:xfrm>
          <a:prstGeom prst="rect">
            <a:avLst/>
          </a:prstGeom>
          <a:noFill/>
          <a:ln/>
        </p:spPr>
        <p:txBody>
          <a:bodyPr wrap="square" rtlCol="0" anchor="ctr"/>
          <a:lstStyle/>
          <a:p>
            <a:pPr algn="ctr" indent="0" marL="0">
              <a:buNone/>
            </a:pPr>
            <a:r>
              <a:rPr lang="en-US" sz="1800" b="1" dirty="0">
                <a:solidFill>
                  <a:srgbClr val="F05F44"/>
                </a:solidFill>
                <a:latin typeface="Segoe UI" pitchFamily="34" charset="0"/>
                <a:ea typeface="Segoe UI" pitchFamily="34" charset="-122"/>
                <a:cs typeface="Segoe UI" pitchFamily="34" charset="-120"/>
              </a:rPr>
              <a:t>Unsafe Operation</a:t>
            </a:r>
            <a:endParaRPr lang="en-US" sz="1800" dirty="0"/>
          </a:p>
        </p:txBody>
      </p:sp>
      <p:sp>
        <p:nvSpPr>
          <p:cNvPr id="13" name="Text 11"/>
          <p:cNvSpPr/>
          <p:nvPr/>
        </p:nvSpPr>
        <p:spPr>
          <a:xfrm>
            <a:off x="5212080" y="2103120"/>
            <a:ext cx="3200400" cy="3474720"/>
          </a:xfrm>
          <a:prstGeom prst="rect">
            <a:avLst/>
          </a:prstGeom>
          <a:noFill/>
          <a:ln/>
        </p:spPr>
        <p:txBody>
          <a:bodyPr wrap="square" rtlCol="0" anchor="t"/>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Occurs when safety checks fail or critical errors are detected during operation.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Automatically shuts down the motor, preventing further damage or hazardous situations.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Requires a manual reset and thorough inspection before restarting to ensure system safety.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  Notifies users through connected network regarding the unsafe condition which may require human intervention.</a:t>
            </a:r>
            <a:endParaRPr lang="en-US" sz="1300" dirty="0"/>
          </a:p>
        </p:txBody>
      </p:sp>
      <p:sp>
        <p:nvSpPr>
          <p:cNvPr id="14" name="Shape 12"/>
          <p:cNvSpPr/>
          <p:nvPr/>
        </p:nvSpPr>
        <p:spPr>
          <a:xfrm>
            <a:off x="8366760" y="5897880"/>
            <a:ext cx="457200" cy="457200"/>
          </a:xfrm>
          <a:prstGeom prst="ellipse">
            <a:avLst/>
          </a:prstGeom>
          <a:solidFill>
            <a:srgbClr val="D3D0CB"/>
          </a:solidFill>
          <a:ln/>
        </p:spPr>
      </p:sp>
      <p:sp>
        <p:nvSpPr>
          <p:cNvPr id="15" name="Text 13"/>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D3D0CB">
              <a:alpha val="8000"/>
            </a:srgbClr>
          </a:solidFill>
          <a:ln/>
        </p:spPr>
      </p:sp>
      <p:sp>
        <p:nvSpPr>
          <p:cNvPr id="3" name="Shape 1"/>
          <p:cNvSpPr/>
          <p:nvPr/>
        </p:nvSpPr>
        <p:spPr>
          <a:xfrm>
            <a:off x="7498080" y="182880"/>
            <a:ext cx="2286000" cy="2286000"/>
          </a:xfrm>
          <a:prstGeom prst="ellipse">
            <a:avLst/>
          </a:prstGeom>
          <a:solidFill>
            <a:srgbClr val="F05F44">
              <a:alpha val="10000"/>
            </a:srgbClr>
          </a:solidFill>
          <a:ln/>
        </p:spPr>
      </p:sp>
      <p:sp>
        <p:nvSpPr>
          <p:cNvPr id="4" name="Shape 2"/>
          <p:cNvSpPr/>
          <p:nvPr/>
        </p:nvSpPr>
        <p:spPr>
          <a:xfrm>
            <a:off x="-1371600" y="3657600"/>
            <a:ext cx="2743200" cy="2743200"/>
          </a:xfrm>
          <a:prstGeom prst="ellipse">
            <a:avLst/>
          </a:prstGeom>
          <a:solidFill>
            <a:srgbClr val="D3D0CB">
              <a:alpha val="7000"/>
            </a:srgbClr>
          </a:solidFill>
          <a:ln/>
        </p:spPr>
      </p:sp>
      <p:sp>
        <p:nvSpPr>
          <p:cNvPr id="5" name="Text 3"/>
          <p:cNvSpPr/>
          <p:nvPr/>
        </p:nvSpPr>
        <p:spPr>
          <a:xfrm>
            <a:off x="457200" y="182880"/>
            <a:ext cx="1828800" cy="2011680"/>
          </a:xfrm>
          <a:prstGeom prst="rect">
            <a:avLst/>
          </a:prstGeom>
          <a:noFill/>
          <a:ln/>
        </p:spPr>
        <p:txBody>
          <a:bodyPr wrap="square" rtlCol="0" anchor="ctr"/>
          <a:lstStyle/>
          <a:p>
            <a:pPr indent="0" marL="0">
              <a:buNone/>
            </a:pPr>
            <a:r>
              <a:rPr lang="en-US" sz="13000" dirty="0">
                <a:solidFill>
                  <a:srgbClr val="D3D0CB">
                    <a:alpha val="75000"/>
                  </a:srgbClr>
                </a:solidFill>
                <a:latin typeface="Georgia" pitchFamily="34" charset="0"/>
                <a:ea typeface="Georgia" pitchFamily="34" charset="-122"/>
                <a:cs typeface="Georgia" pitchFamily="34" charset="-120"/>
              </a:rPr>
              <a:t>“</a:t>
            </a:r>
            <a:endParaRPr lang="en-US" sz="13000" dirty="0"/>
          </a:p>
        </p:txBody>
      </p:sp>
      <p:sp>
        <p:nvSpPr>
          <p:cNvPr id="6" name="Text 4"/>
          <p:cNvSpPr/>
          <p:nvPr/>
        </p:nvSpPr>
        <p:spPr>
          <a:xfrm>
            <a:off x="1097280" y="1645920"/>
            <a:ext cx="5486400" cy="2926080"/>
          </a:xfrm>
          <a:prstGeom prst="rect">
            <a:avLst/>
          </a:prstGeom>
          <a:noFill/>
          <a:ln/>
        </p:spPr>
        <p:txBody>
          <a:bodyPr wrap="square" rtlCol="0" anchor="ctr"/>
          <a:lstStyle/>
          <a:p>
            <a:pPr algn="ctr" indent="0" marL="0">
              <a:lnSpc>
                <a:spcPct val="150000"/>
              </a:lnSpc>
              <a:buNone/>
            </a:pPr>
            <a:r>
              <a:rPr lang="en-US" sz="2200" i="1" dirty="0">
                <a:solidFill>
                  <a:srgbClr val="FFFFFF"/>
                </a:solidFill>
                <a:latin typeface="Georgia" pitchFamily="34" charset="0"/>
                <a:ea typeface="Georgia" pitchFamily="34" charset="-122"/>
                <a:cs typeface="Georgia" pitchFamily="34" charset="-120"/>
              </a:rPr>
              <a:t>“The beauty of LoRa technology lies in its ability to provide long-range, low-power communication, making it ideal for remote motor control in various industrial and agricultural applications.”</a:t>
            </a:r>
            <a:endParaRPr lang="en-US" sz="2200" dirty="0"/>
          </a:p>
        </p:txBody>
      </p:sp>
      <p:sp>
        <p:nvSpPr>
          <p:cNvPr id="7" name="Shape 5"/>
          <p:cNvSpPr/>
          <p:nvPr/>
        </p:nvSpPr>
        <p:spPr>
          <a:xfrm>
            <a:off x="3200400" y="4709160"/>
            <a:ext cx="2743200" cy="36576"/>
          </a:xfrm>
          <a:prstGeom prst="rect">
            <a:avLst/>
          </a:prstGeom>
          <a:solidFill>
            <a:srgbClr val="D3D0CB"/>
          </a:solidFill>
          <a:ln/>
        </p:spPr>
      </p:sp>
      <p:sp>
        <p:nvSpPr>
          <p:cNvPr id="8" name="Text 6"/>
          <p:cNvSpPr/>
          <p:nvPr/>
        </p:nvSpPr>
        <p:spPr>
          <a:xfrm>
            <a:off x="914400" y="4892040"/>
            <a:ext cx="7315200" cy="457200"/>
          </a:xfrm>
          <a:prstGeom prst="rect">
            <a:avLst/>
          </a:prstGeom>
          <a:noFill/>
          <a:ln/>
        </p:spPr>
        <p:txBody>
          <a:bodyPr wrap="square" rtlCol="0" anchor="ctr"/>
          <a:lstStyle/>
          <a:p>
            <a:pPr algn="ctr" indent="0" marL="0">
              <a:buNone/>
            </a:pPr>
            <a:r>
              <a:rPr lang="en-US" sz="1300" b="1" dirty="0">
                <a:solidFill>
                  <a:srgbClr val="F05F44"/>
                </a:solidFill>
                <a:latin typeface="Calibri" pitchFamily="34" charset="0"/>
                <a:ea typeface="Calibri" pitchFamily="34" charset="-122"/>
                <a:cs typeface="Calibri" pitchFamily="34" charset="-120"/>
              </a:rPr>
              <a:t>-- Dr. Evelyn Reed, Wireless Systems Engineer</a:t>
            </a:r>
            <a:endParaRPr lang="en-US" sz="1300" dirty="0"/>
          </a:p>
        </p:txBody>
      </p:sp>
      <p:pic>
        <p:nvPicPr>
          <p:cNvPr id="9" name="Image 0" descr="preencoded.png">    </p:cNvPr>
          <p:cNvPicPr>
            <a:picLocks noChangeAspect="1"/>
          </p:cNvPicPr>
          <p:nvPr/>
        </p:nvPicPr>
        <p:blipFill>
          <a:blip r:embed="rId1"/>
          <a:stretch>
            <a:fillRect/>
          </a:stretch>
        </p:blipFill>
        <p:spPr>
          <a:xfrm>
            <a:off x="6583680" y="1463040"/>
            <a:ext cx="2286000" cy="3200400"/>
          </a:xfrm>
          <a:prstGeom prst="ellipse">
            <a:avLst/>
          </a:prstGeom>
        </p:spPr>
      </p:pic>
      <p:sp>
        <p:nvSpPr>
          <p:cNvPr id="10" name="Shape 7"/>
          <p:cNvSpPr/>
          <p:nvPr/>
        </p:nvSpPr>
        <p:spPr>
          <a:xfrm>
            <a:off x="8366760" y="5897880"/>
            <a:ext cx="457200" cy="457200"/>
          </a:xfrm>
          <a:prstGeom prst="ellipse">
            <a:avLst/>
          </a:prstGeom>
          <a:solidFill>
            <a:srgbClr val="D3D0CB"/>
          </a:solidFill>
          <a:ln/>
        </p:spPr>
      </p:sp>
      <p:sp>
        <p:nvSpPr>
          <p:cNvPr id="11" name="Text 8"/>
          <p:cNvSpPr/>
          <p:nvPr/>
        </p:nvSpPr>
        <p:spPr>
          <a:xfrm>
            <a:off x="8366760" y="5897880"/>
            <a:ext cx="457200" cy="457200"/>
          </a:xfrm>
          <a:prstGeom prst="rect">
            <a:avLst/>
          </a:prstGeom>
          <a:noFill/>
          <a:ln/>
        </p:spPr>
        <p:txBody>
          <a:bodyPr wrap="square" rtlCol="0" anchor="ctr"/>
          <a:lstStyle/>
          <a:p>
            <a:pPr algn="ctr" indent="0" marL="0">
              <a:buNone/>
            </a:pPr>
            <a:r>
              <a:rPr lang="en-US" sz="1000" b="1" dirty="0">
                <a:solidFill>
                  <a:srgbClr val="FFFFFF"/>
                </a:solidFill>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the LoRa Motor Starter Project: A Comprehensive Overview</dc:title>
  <dc:subject>Generated by Pre Max AI — Wireless Control System</dc:subject>
  <dc:creator>PptxGenJS</dc:creator>
  <cp:lastModifiedBy>PptxGenJS</cp:lastModifiedBy>
  <cp:revision>1</cp:revision>
  <dcterms:created xsi:type="dcterms:W3CDTF">2026-02-12T14:13:27Z</dcterms:created>
  <dcterms:modified xsi:type="dcterms:W3CDTF">2026-02-12T14:13:27Z</dcterms:modified>
</cp:coreProperties>
</file>