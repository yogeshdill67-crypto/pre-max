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E8F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09360"/>
            <a:ext cx="12192000" cy="548640"/>
          </a:xfrm>
          <a:prstGeom prst="rect">
            <a:avLst/>
          </a:prstGeom>
          <a:solidFill>
            <a:srgbClr val="388E3C">
              <a:alpha val="7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473952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2CFC3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PRE MAX AI — Verdant Fields</a:t>
            </a:r>
            <a:endParaRPr lang="en-US" sz="7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88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A5D6A7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3657600"/>
            <a:ext cx="4114800" cy="411480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-1371600"/>
            <a:ext cx="3200400" cy="3200400"/>
          </a:xfrm>
          <a:prstGeom prst="ellipse">
            <a:avLst/>
          </a:prstGeom>
          <a:solidFill>
            <a:srgbClr val="A5D6A7">
              <a:alpha val="2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7315200" cy="2286000"/>
          </a:xfrm>
          <a:prstGeom prst="rect">
            <a:avLst/>
          </a:prstGeom>
          <a:noFill/>
          <a:ln/>
          <a:effectLst>
            <a:outerShdw sx="100000" sy="100000" kx="0" ky="0" algn="bl" rotWithShape="0" blurRad="101600" dist="25400" dir="16200000">
              <a:srgbClr val="00000040">
                <a:alpha val="75000"/>
              </a:srgbClr>
            </a:outerShdw>
          </a:effectLst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Empowering Agriculture: Smart Irrigation Revolution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731520" y="3840480"/>
            <a:ext cx="3200400" cy="54864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1148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VERDANT FIELDS THEME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88E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7315200" cy="7315200"/>
          </a:xfrm>
          <a:prstGeom prst="ellipse">
            <a:avLst/>
          </a:prstGeom>
          <a:solidFill>
            <a:srgbClr val="A5D6A7">
              <a:alpha val="3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0" y="3200400"/>
            <a:ext cx="5029200" cy="502920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0" y="-1828800"/>
            <a:ext cx="3657600" cy="3657600"/>
          </a:xfrm>
          <a:prstGeom prst="ellipse">
            <a:avLst/>
          </a:prstGeom>
          <a:solidFill>
            <a:srgbClr val="A5D6A7">
              <a:alpha val="2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45920"/>
            <a:ext cx="7315200" cy="228600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25400" dir="16200000">
              <a:srgbClr val="00000030">
                <a:alpha val="75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Bridging the Divide: Remote Irrigation Control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3200400" y="3931920"/>
            <a:ext cx="274320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41148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>
                    <a:alpha val="70000"/>
                  </a:srgbClr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Leveraging ESP32 and LoRa technology to create a smarter, safer, and more efficient irrigation system for rural farmers worldwide.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0"/>
            <a:ext cx="914400" cy="6858000"/>
          </a:xfrm>
          <a:prstGeom prst="rect">
            <a:avLst/>
          </a:prstGeom>
          <a:solidFill>
            <a:srgbClr val="388E3C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48640" y="-548640"/>
            <a:ext cx="1645920" cy="1645920"/>
          </a:xfrm>
          <a:prstGeom prst="ellipse">
            <a:avLst/>
          </a:prstGeom>
          <a:solidFill>
            <a:srgbClr val="A5D6A7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388E3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Unleashing Connectivity: System Architecture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4846320"/>
          </a:xfrm>
          <a:prstGeom prst="roundRect">
            <a:avLst>
              <a:gd name="adj" fmla="val 2264"/>
            </a:avLst>
          </a:prstGeom>
          <a:solidFill>
            <a:srgbClr val="FFFFFF">
              <a:alpha val="85000"/>
            </a:srgbClr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463040"/>
            <a:ext cx="74980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21212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 The system integrates ESP32 with LoRa to bridge the gap between a farmer's smartphone and remote agricultural motors, overcoming traditional limitations.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2"/>
            </a:pPr>
            <a:r>
              <a:rPr lang="en-US" sz="1600" dirty="0">
                <a:solidFill>
                  <a:srgbClr val="21212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 By using ESP32, the system leverages free-tier IoT platforms like RainMaker, removing server costs traditionally associated with remote monitoring.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3"/>
            </a:pPr>
            <a:r>
              <a:rPr lang="en-US" sz="1600" dirty="0">
                <a:solidFill>
                  <a:srgbClr val="21212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 LoRa's long-range capabilities enable reliable communication over distances exceeding 15 km, penetrating dense crops and structures effectively, ensuring reliable signal transmission.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4"/>
            </a:pPr>
            <a:r>
              <a:rPr lang="en-US" sz="1600" dirty="0">
                <a:solidFill>
                  <a:srgbClr val="21212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 Real-time feedback loops relay operational status and sensor data from the field to the user's smartphone, providing immediate insights for informed decision-making.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5"/>
            </a:pPr>
            <a:r>
              <a:rPr lang="en-US" sz="1600" dirty="0">
                <a:solidFill>
                  <a:srgbClr val="21212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 The integration of cloud connectivity allows for advanced data analytics, enabling farmers to optimize irrigation schedules based on real-time conditions and historical performance.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388E3C"/>
          </a:solidFill>
          <a:ln/>
        </p:spPr>
      </p:sp>
      <p:sp>
        <p:nvSpPr>
          <p:cNvPr id="9" name="Text 7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2011680" cy="2011680"/>
          </a:xfrm>
          <a:prstGeom prst="rtTriangle">
            <a:avLst/>
          </a:prstGeom>
          <a:solidFill>
            <a:srgbClr val="388E3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4572000"/>
            <a:ext cx="1828800" cy="1828800"/>
          </a:xfrm>
          <a:prstGeom prst="ellipse">
            <a:avLst/>
          </a:prstGeom>
          <a:solidFill>
            <a:srgbClr val="A5D6A7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388E3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Evolution of Irrigation: Smart vs. Traditional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434840" y="1188720"/>
            <a:ext cx="274320" cy="4846320"/>
          </a:xfrm>
          <a:prstGeom prst="rect">
            <a:avLst/>
          </a:prstGeom>
          <a:solidFill>
            <a:srgbClr val="CFDCD0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114800" y="3108960"/>
            <a:ext cx="914400" cy="914400"/>
          </a:xfrm>
          <a:prstGeom prst="ellipse">
            <a:avLst/>
          </a:prstGeom>
          <a:solidFill>
            <a:srgbClr val="388E3C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0" y="31089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1188720"/>
            <a:ext cx="3931920" cy="4846320"/>
          </a:xfrm>
          <a:prstGeom prst="roundRect">
            <a:avLst>
              <a:gd name="adj" fmla="val 2326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3716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8E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Conventional Irrigation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2103120"/>
            <a:ext cx="32004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 Control requires manual operation at the physical switch, severely limiting the ability to manage irrigation remotely.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 Farmers face physical risks, including snakebites and electrical shocks, when operating traditional manual starters in rural areas.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 Reactive maintenance leads to costly repairs and downtime when motor failures occur, causing financial strain for small farmers.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46320" y="1188720"/>
            <a:ext cx="3931920" cy="4846320"/>
          </a:xfrm>
          <a:prstGeom prst="roundRect">
            <a:avLst>
              <a:gd name="adj" fmla="val 2326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A5D6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13716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5D6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ESP32 + LoRa Smart System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212080" y="2103120"/>
            <a:ext cx="32004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 Global remote smartphone control provides unlimited reach and instant access to irrigation systems, drastically increasing operational convenience.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 The smart system ensures zero physical risk by allowing farmers to manage irrigation from the safety of their homes, protecting them from biological and electrical hazards.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  Predictive maintenance prevents failures by tracking logs, issuing alerts, and implementing intelligent protections, such as auto-cutoff in dry-run situations.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388E3C"/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8E3C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457200"/>
            <a:ext cx="1463040" cy="1463040"/>
          </a:xfrm>
          <a:prstGeom prst="ellipse">
            <a:avLst/>
          </a:prstGeom>
          <a:solidFill>
            <a:srgbClr val="A5D6A7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4754880"/>
            <a:ext cx="914400" cy="914400"/>
          </a:xfrm>
          <a:prstGeom prst="ellipse">
            <a:avLst/>
          </a:prstGeom>
          <a:solidFill>
            <a:srgbClr val="388E3C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388E3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Quantifying the Benefits: A Data-Driven Impact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11480" y="1645920"/>
            <a:ext cx="1874520" cy="3931920"/>
          </a:xfrm>
          <a:prstGeom prst="roundRect">
            <a:avLst>
              <a:gd name="adj" fmla="val 5854"/>
            </a:avLst>
          </a:prstGeom>
          <a:solidFill>
            <a:srgbClr val="FFFFFF">
              <a:alpha val="90000"/>
            </a:srgbClr>
          </a:solidFill>
          <a:ln w="19050">
            <a:solidFill>
              <a:srgbClr val="388E3C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12">
                <a:alpha val="7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645920"/>
            <a:ext cx="1874520" cy="64008"/>
          </a:xfrm>
          <a:prstGeom prst="rect">
            <a:avLst/>
          </a:prstGeom>
          <a:solidFill>
            <a:srgbClr val="388E3C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2103120"/>
            <a:ext cx="1874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388E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30-50%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548640" y="4114800"/>
            <a:ext cx="1600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Water Waste Reduction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60320" y="1645920"/>
            <a:ext cx="1874520" cy="3931920"/>
          </a:xfrm>
          <a:prstGeom prst="roundRect">
            <a:avLst>
              <a:gd name="adj" fmla="val 5854"/>
            </a:avLst>
          </a:prstGeom>
          <a:solidFill>
            <a:srgbClr val="FFFFFF">
              <a:alpha val="90000"/>
            </a:srgbClr>
          </a:solidFill>
          <a:ln w="19050">
            <a:solidFill>
              <a:srgbClr val="388E3C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12">
                <a:alpha val="7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0" y="1645920"/>
            <a:ext cx="1874520" cy="64008"/>
          </a:xfrm>
          <a:prstGeom prst="rect">
            <a:avLst/>
          </a:prstGeom>
          <a:solidFill>
            <a:srgbClr val="388E3C"/>
          </a:solidFill>
          <a:ln/>
        </p:spPr>
      </p:sp>
      <p:sp>
        <p:nvSpPr>
          <p:cNvPr id="13" name="Text 11"/>
          <p:cNvSpPr/>
          <p:nvPr/>
        </p:nvSpPr>
        <p:spPr>
          <a:xfrm>
            <a:off x="2560320" y="2103120"/>
            <a:ext cx="1874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388E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25-40%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2697480" y="4114800"/>
            <a:ext cx="1600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Electricity Savings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09160" y="1645920"/>
            <a:ext cx="1874520" cy="3931920"/>
          </a:xfrm>
          <a:prstGeom prst="roundRect">
            <a:avLst>
              <a:gd name="adj" fmla="val 5854"/>
            </a:avLst>
          </a:prstGeom>
          <a:solidFill>
            <a:srgbClr val="FFFFFF">
              <a:alpha val="90000"/>
            </a:srgbClr>
          </a:solidFill>
          <a:ln w="19050">
            <a:solidFill>
              <a:srgbClr val="388E3C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12">
                <a:alpha val="7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1645920"/>
            <a:ext cx="1874520" cy="64008"/>
          </a:xfrm>
          <a:prstGeom prst="rect">
            <a:avLst/>
          </a:prstGeom>
          <a:solidFill>
            <a:srgbClr val="388E3C"/>
          </a:solidFill>
          <a:ln/>
        </p:spPr>
      </p:sp>
      <p:sp>
        <p:nvSpPr>
          <p:cNvPr id="17" name="Text 15"/>
          <p:cNvSpPr/>
          <p:nvPr/>
        </p:nvSpPr>
        <p:spPr>
          <a:xfrm>
            <a:off x="4709160" y="2103120"/>
            <a:ext cx="1874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388E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20-30%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4846320" y="4114800"/>
            <a:ext cx="1600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Crop Yield Increase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0" y="1645920"/>
            <a:ext cx="1874520" cy="3931920"/>
          </a:xfrm>
          <a:prstGeom prst="roundRect">
            <a:avLst>
              <a:gd name="adj" fmla="val 5854"/>
            </a:avLst>
          </a:prstGeom>
          <a:solidFill>
            <a:srgbClr val="FFFFFF">
              <a:alpha val="90000"/>
            </a:srgbClr>
          </a:solidFill>
          <a:ln w="19050">
            <a:solidFill>
              <a:srgbClr val="388E3C"/>
            </a:solidFill>
            <a:prstDash val="solid"/>
          </a:ln>
          <a:effectLst>
            <a:outerShdw sx="100000" sy="100000" kx="0" ky="0" algn="bl" rotWithShape="0" blurRad="63500" dist="25400" dir="16200000">
              <a:srgbClr val="00000012">
                <a:alpha val="7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58000" y="1645920"/>
            <a:ext cx="1874520" cy="64008"/>
          </a:xfrm>
          <a:prstGeom prst="rect">
            <a:avLst/>
          </a:prstGeom>
          <a:solidFill>
            <a:srgbClr val="388E3C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0" y="2103120"/>
            <a:ext cx="1874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388E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1.5-2 Years</a:t>
            </a:r>
            <a:endParaRPr lang="en-US" sz="3800" dirty="0"/>
          </a:p>
        </p:txBody>
      </p:sp>
      <p:sp>
        <p:nvSpPr>
          <p:cNvPr id="22" name="Text 20"/>
          <p:cNvSpPr/>
          <p:nvPr/>
        </p:nvSpPr>
        <p:spPr>
          <a:xfrm>
            <a:off x="6995160" y="4114800"/>
            <a:ext cx="1600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Typical ROI Period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388E3C"/>
          </a:solidFill>
          <a:ln/>
        </p:spPr>
      </p:sp>
      <p:sp>
        <p:nvSpPr>
          <p:cNvPr id="24" name="Text 22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388E3C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182880"/>
            <a:ext cx="2286000" cy="2286000"/>
          </a:xfrm>
          <a:prstGeom prst="ellipse">
            <a:avLst/>
          </a:prstGeom>
          <a:solidFill>
            <a:srgbClr val="A5D6A7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3657600"/>
            <a:ext cx="2743200" cy="2743200"/>
          </a:xfrm>
          <a:prstGeom prst="ellipse">
            <a:avLst/>
          </a:prstGeom>
          <a:solidFill>
            <a:srgbClr val="388E3C">
              <a:alpha val="7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82880"/>
            <a:ext cx="1828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0" dirty="0">
                <a:solidFill>
                  <a:srgbClr val="388E3C">
                    <a:alpha val="7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3000" dirty="0"/>
          </a:p>
        </p:txBody>
      </p:sp>
      <p:sp>
        <p:nvSpPr>
          <p:cNvPr id="6" name="Text 4"/>
          <p:cNvSpPr/>
          <p:nvPr/>
        </p:nvSpPr>
        <p:spPr>
          <a:xfrm>
            <a:off x="1097280" y="1645920"/>
            <a:ext cx="69494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600" i="1" dirty="0">
                <a:solidFill>
                  <a:srgbClr val="21212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"Smart irrigation technologies are revolutionizing agriculture by optimizing water usage, improving crop yields, and minimizing environmental impact, paving the way for sustainable farming practices."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200400" y="4709160"/>
            <a:ext cx="2743200" cy="36576"/>
          </a:xfrm>
          <a:prstGeom prst="rect">
            <a:avLst/>
          </a:prstGeom>
          <a:solidFill>
            <a:srgbClr val="388E3C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4892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5D6A7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-- Dr. Anya Sharma, Agricultural Technology Researcher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388E3C"/>
          </a:solidFill>
          <a:ln/>
        </p:spPr>
      </p:sp>
      <p:sp>
        <p:nvSpPr>
          <p:cNvPr id="10" name="Text 8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731520"/>
            <a:ext cx="2743200" cy="2743200"/>
          </a:xfrm>
          <a:prstGeom prst="ellipse">
            <a:avLst/>
          </a:prstGeom>
          <a:solidFill>
            <a:srgbClr val="388E3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029200"/>
            <a:ext cx="2286000" cy="2286000"/>
          </a:xfrm>
          <a:prstGeom prst="ellipse">
            <a:avLst/>
          </a:prstGeom>
          <a:solidFill>
            <a:srgbClr val="A5D6A7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388E3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to Smarter Agriculture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3474720"/>
            <a:ext cx="7680960" cy="45720"/>
          </a:xfrm>
          <a:prstGeom prst="rect">
            <a:avLst/>
          </a:prstGeom>
          <a:solidFill>
            <a:srgbClr val="388E3C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3337560"/>
            <a:ext cx="365760" cy="365760"/>
          </a:xfrm>
          <a:prstGeom prst="ellipse">
            <a:avLst/>
          </a:prstGeom>
          <a:solidFill>
            <a:srgbClr val="388E3C"/>
          </a:solidFill>
          <a:ln w="25400">
            <a:solidFill>
              <a:srgbClr val="E8F5E9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18">
                <a:alpha val="7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88136" y="2560320"/>
            <a:ext cx="18288" cy="777240"/>
          </a:xfrm>
          <a:prstGeom prst="rect">
            <a:avLst/>
          </a:prstGeom>
          <a:solidFill>
            <a:srgbClr val="B5C2B6"/>
          </a:solidFill>
          <a:ln/>
        </p:spPr>
      </p:sp>
      <p:sp>
        <p:nvSpPr>
          <p:cNvPr id="9" name="Shape 7"/>
          <p:cNvSpPr/>
          <p:nvPr/>
        </p:nvSpPr>
        <p:spPr>
          <a:xfrm>
            <a:off x="594360" y="1920240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388E3C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92024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Pre-2010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3774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Predominantly manual irrigation: Limited control, high labor costs, and substantial water wastage.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352800" y="3337560"/>
            <a:ext cx="365760" cy="365760"/>
          </a:xfrm>
          <a:prstGeom prst="ellipse">
            <a:avLst/>
          </a:prstGeom>
          <a:solidFill>
            <a:srgbClr val="388E3C"/>
          </a:solidFill>
          <a:ln w="25400">
            <a:solidFill>
              <a:srgbClr val="E8F5E9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18">
                <a:alpha val="7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526536" y="3749040"/>
            <a:ext cx="18288" cy="777240"/>
          </a:xfrm>
          <a:prstGeom prst="rect">
            <a:avLst/>
          </a:prstGeom>
          <a:solidFill>
            <a:srgbClr val="B5C2B6"/>
          </a:solidFill>
          <a:ln/>
        </p:spPr>
      </p:sp>
      <p:sp>
        <p:nvSpPr>
          <p:cNvPr id="14" name="Shape 12"/>
          <p:cNvSpPr/>
          <p:nvPr/>
        </p:nvSpPr>
        <p:spPr>
          <a:xfrm>
            <a:off x="3032760" y="4572000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388E3C"/>
          </a:solidFill>
          <a:ln/>
        </p:spPr>
      </p:sp>
      <p:sp>
        <p:nvSpPr>
          <p:cNvPr id="15" name="Text 13"/>
          <p:cNvSpPr/>
          <p:nvPr/>
        </p:nvSpPr>
        <p:spPr>
          <a:xfrm>
            <a:off x="3032760" y="457200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2010-2020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895600" y="40233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Adoption of basic timers and remote controls: Improved automation but lacked real-time data feedback.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791200" y="3337560"/>
            <a:ext cx="365760" cy="365760"/>
          </a:xfrm>
          <a:prstGeom prst="ellipse">
            <a:avLst/>
          </a:prstGeom>
          <a:solidFill>
            <a:srgbClr val="388E3C"/>
          </a:solidFill>
          <a:ln w="25400">
            <a:solidFill>
              <a:srgbClr val="E8F5E9"/>
            </a:solidFill>
            <a:prstDash val="solid"/>
          </a:ln>
          <a:effectLst>
            <a:outerShdw sx="100000" sy="100000" kx="0" ky="0" algn="bl" rotWithShape="0" blurRad="38100" dist="12700" dir="16200000">
              <a:srgbClr val="00000018">
                <a:alpha val="7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64936" y="2560320"/>
            <a:ext cx="18288" cy="777240"/>
          </a:xfrm>
          <a:prstGeom prst="rect">
            <a:avLst/>
          </a:prstGeom>
          <a:solidFill>
            <a:srgbClr val="B5C2B6"/>
          </a:solidFill>
          <a:ln/>
        </p:spPr>
      </p:sp>
      <p:sp>
        <p:nvSpPr>
          <p:cNvPr id="19" name="Shape 17"/>
          <p:cNvSpPr/>
          <p:nvPr/>
        </p:nvSpPr>
        <p:spPr>
          <a:xfrm>
            <a:off x="5471160" y="1920240"/>
            <a:ext cx="1005840" cy="411480"/>
          </a:xfrm>
          <a:prstGeom prst="roundRect">
            <a:avLst>
              <a:gd name="adj" fmla="val 13333"/>
            </a:avLst>
          </a:prstGeom>
          <a:solidFill>
            <a:srgbClr val="388E3C"/>
          </a:solidFill>
          <a:ln/>
        </p:spPr>
      </p:sp>
      <p:sp>
        <p:nvSpPr>
          <p:cNvPr id="20" name="Text 18"/>
          <p:cNvSpPr/>
          <p:nvPr/>
        </p:nvSpPr>
        <p:spPr>
          <a:xfrm>
            <a:off x="5471160" y="192024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2020-Present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334000" y="23774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12121"/>
                </a:solidFill>
                <a:latin typeface="Garamond" pitchFamily="34" charset="0"/>
                <a:ea typeface="Garamond" pitchFamily="34" charset="-122"/>
                <a:cs typeface="Garamond" pitchFamily="34" charset="-120"/>
              </a:rPr>
              <a:t>Integration of IoT and LoRa technologies: Global control, precise timing, and data-driven optimization for sustainable farming practices.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366760" y="5897880"/>
            <a:ext cx="457200" cy="457200"/>
          </a:xfrm>
          <a:prstGeom prst="ellipse">
            <a:avLst/>
          </a:prstGeom>
          <a:solidFill>
            <a:srgbClr val="388E3C"/>
          </a:solidFill>
          <a:ln/>
        </p:spPr>
      </p:sp>
      <p:sp>
        <p:nvSpPr>
          <p:cNvPr id="23" name="Text 21"/>
          <p:cNvSpPr/>
          <p:nvPr/>
        </p:nvSpPr>
        <p:spPr>
          <a:xfrm>
            <a:off x="8366760" y="5897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Empowering Agriculture: Smart Irrigation Revolution</dc:title>
  <dc:subject>Generated by Pre Max AI — Verdant Fields</dc:subject>
  <dc:creator>PptxGenJS</dc:creator>
  <cp:lastModifiedBy>PptxGenJS</cp:lastModifiedBy>
  <cp:revision>1</cp:revision>
  <dcterms:created xsi:type="dcterms:W3CDTF">2026-02-12T12:48:54Z</dcterms:created>
  <dcterms:modified xsi:type="dcterms:W3CDTF">2026-02-12T12:48:54Z</dcterms:modified>
</cp:coreProperties>
</file>