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0" y="6309360"/>
            <a:ext cx="12192000" cy="548640"/>
          </a:xfrm>
          <a:prstGeom prst="rect">
            <a:avLst/>
          </a:prstGeom>
          <a:solidFill>
            <a:srgbClr val="3B82F6">
              <a:alpha val="7000"/>
            </a:srgbClr>
          </a:solidFill>
          <a:ln/>
        </p:spPr>
      </p:sp>
      <p:sp>
        <p:nvSpPr>
          <p:cNvPr id="3" name="Text 1"/>
          <p:cNvSpPr/>
          <p:nvPr/>
        </p:nvSpPr>
        <p:spPr>
          <a:xfrm>
            <a:off x="365760" y="6473952"/>
            <a:ext cx="9144000" cy="0"/>
          </a:xfrm>
          <a:prstGeom prst="rect">
            <a:avLst/>
          </a:prstGeom>
          <a:noFill/>
          <a:ln/>
        </p:spPr>
        <p:txBody>
          <a:bodyPr wrap="square" rtlCol="0" anchor="ctr"/>
          <a:lstStyle/>
          <a:p>
            <a:pPr indent="0" marL="0">
              <a:buNone/>
            </a:pPr>
            <a:r>
              <a:rPr lang="en-US" sz="700" dirty="0">
                <a:solidFill>
                  <a:srgbClr val="303544"/>
                </a:solidFill>
                <a:latin typeface="Calibri" pitchFamily="34" charset="0"/>
                <a:ea typeface="Calibri" pitchFamily="34" charset="-122"/>
                <a:cs typeface="Calibri" pitchFamily="34" charset="-120"/>
              </a:rPr>
              <a:t>PRE MAX AI — Cyberpunk Dawn</a:t>
            </a:r>
            <a:endParaRPr lang="en-US" sz="7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B82F6"/>
        </a:solidFill>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06B6D4">
              <a:alpha val="35000"/>
            </a:srgbClr>
          </a:solidFill>
          <a:ln/>
        </p:spPr>
      </p:sp>
      <p:sp>
        <p:nvSpPr>
          <p:cNvPr id="3" name="Shape 1"/>
          <p:cNvSpPr/>
          <p:nvPr/>
        </p:nvSpPr>
        <p:spPr>
          <a:xfrm>
            <a:off x="6400800" y="3657600"/>
            <a:ext cx="4114800" cy="4114800"/>
          </a:xfrm>
          <a:prstGeom prst="ellipse">
            <a:avLst/>
          </a:prstGeom>
          <a:solidFill>
            <a:srgbClr val="FFFFFF">
              <a:alpha val="12000"/>
            </a:srgbClr>
          </a:solidFill>
          <a:ln/>
        </p:spPr>
      </p:sp>
      <p:sp>
        <p:nvSpPr>
          <p:cNvPr id="4" name="Shape 2"/>
          <p:cNvSpPr/>
          <p:nvPr/>
        </p:nvSpPr>
        <p:spPr>
          <a:xfrm>
            <a:off x="7772400" y="-1371600"/>
            <a:ext cx="3200400" cy="3200400"/>
          </a:xfrm>
          <a:prstGeom prst="ellipse">
            <a:avLst/>
          </a:prstGeom>
          <a:solidFill>
            <a:srgbClr val="06B6D4">
              <a:alpha val="25000"/>
            </a:srgbClr>
          </a:solidFill>
          <a:ln/>
        </p:spPr>
      </p:sp>
      <p:sp>
        <p:nvSpPr>
          <p:cNvPr id="5" name="Text 3"/>
          <p:cNvSpPr/>
          <p:nvPr/>
        </p:nvSpPr>
        <p:spPr>
          <a:xfrm>
            <a:off x="731520" y="1371600"/>
            <a:ext cx="7315200" cy="2286000"/>
          </a:xfrm>
          <a:prstGeom prst="rect">
            <a:avLst/>
          </a:prstGeom>
          <a:noFill/>
          <a:ln/>
          <a:effectLst>
            <a:outerShdw sx="100000" sy="100000" kx="0" ky="0" algn="bl" rotWithShape="0" blurRad="101600" dist="25400" dir="16200000">
              <a:srgbClr val="00000040">
                <a:alpha val="75000"/>
              </a:srgbClr>
            </a:outerShdw>
          </a:effectLst>
        </p:spPr>
        <p:txBody>
          <a:bodyPr wrap="square" rtlCol="0" anchor="ctr"/>
          <a:lstStyle/>
          <a:p>
            <a:pPr algn="l" indent="0" marL="0">
              <a:buNone/>
            </a:pPr>
            <a:r>
              <a:rPr lang="en-US" sz="4400" b="1" dirty="0">
                <a:solidFill>
                  <a:srgbClr val="FFFFFF"/>
                </a:solidFill>
                <a:latin typeface="Segoe UI" pitchFamily="34" charset="0"/>
                <a:ea typeface="Segoe UI" pitchFamily="34" charset="-122"/>
                <a:cs typeface="Segoe UI" pitchFamily="34" charset="-120"/>
              </a:rPr>
              <a:t>LoRa Motor Control: Wireless Command Architecture</a:t>
            </a:r>
            <a:endParaRPr lang="en-US" sz="4400" dirty="0"/>
          </a:p>
        </p:txBody>
      </p:sp>
      <p:sp>
        <p:nvSpPr>
          <p:cNvPr id="6" name="Shape 4"/>
          <p:cNvSpPr/>
          <p:nvPr/>
        </p:nvSpPr>
        <p:spPr>
          <a:xfrm>
            <a:off x="731520" y="3840480"/>
            <a:ext cx="3200400" cy="54864"/>
          </a:xfrm>
          <a:prstGeom prst="rect">
            <a:avLst/>
          </a:prstGeom>
          <a:solidFill>
            <a:srgbClr val="FFFFFF">
              <a:alpha val="50000"/>
            </a:srgbClr>
          </a:solidFill>
          <a:ln/>
        </p:spPr>
      </p:sp>
      <p:sp>
        <p:nvSpPr>
          <p:cNvPr id="7" name="Text 5"/>
          <p:cNvSpPr/>
          <p:nvPr/>
        </p:nvSpPr>
        <p:spPr>
          <a:xfrm>
            <a:off x="731520" y="4114800"/>
            <a:ext cx="7315200" cy="0"/>
          </a:xfrm>
          <a:prstGeom prst="rect">
            <a:avLst/>
          </a:prstGeom>
          <a:noFill/>
          <a:ln/>
        </p:spPr>
        <p:txBody>
          <a:bodyPr wrap="square" rtlCol="0" anchor="ctr"/>
          <a:lstStyle/>
          <a:p>
            <a:pPr indent="0" marL="0">
              <a:buNone/>
            </a:pPr>
            <a:r>
              <a:rPr lang="en-US" sz="1400" dirty="0">
                <a:solidFill>
                  <a:srgbClr val="FFFFFF">
                    <a:alpha val="60000"/>
                  </a:srgbClr>
                </a:solidFill>
                <a:latin typeface="Calibri" pitchFamily="34" charset="0"/>
                <a:ea typeface="Calibri" pitchFamily="34" charset="-122"/>
                <a:cs typeface="Calibri" pitchFamily="34" charset="-120"/>
              </a:rPr>
              <a:t>CYBERPUNK DAWN THEME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3B82F6"/>
        </a:solidFill>
      </p:bgPr>
    </p:bg>
    <p:spTree>
      <p:nvGrpSpPr>
        <p:cNvPr id="1" name=""/>
        <p:cNvGrpSpPr/>
        <p:nvPr/>
      </p:nvGrpSpPr>
      <p:grpSpPr>
        <a:xfrm>
          <a:off x="0" y="0"/>
          <a:ext cx="0" cy="0"/>
          <a:chOff x="0" y="0"/>
          <a:chExt cx="0" cy="0"/>
        </a:xfrm>
      </p:grpSpPr>
      <p:sp>
        <p:nvSpPr>
          <p:cNvPr id="2" name="Shape 0"/>
          <p:cNvSpPr/>
          <p:nvPr/>
        </p:nvSpPr>
        <p:spPr>
          <a:xfrm>
            <a:off x="-2743200" y="-2743200"/>
            <a:ext cx="7315200" cy="7315200"/>
          </a:xfrm>
          <a:prstGeom prst="ellipse">
            <a:avLst/>
          </a:prstGeom>
          <a:solidFill>
            <a:srgbClr val="06B6D4">
              <a:alpha val="32000"/>
            </a:srgbClr>
          </a:solidFill>
          <a:ln/>
        </p:spPr>
      </p:sp>
      <p:sp>
        <p:nvSpPr>
          <p:cNvPr id="3" name="Shape 1"/>
          <p:cNvSpPr/>
          <p:nvPr/>
        </p:nvSpPr>
        <p:spPr>
          <a:xfrm>
            <a:off x="5486400" y="3200400"/>
            <a:ext cx="5029200" cy="5029200"/>
          </a:xfrm>
          <a:prstGeom prst="ellipse">
            <a:avLst/>
          </a:prstGeom>
          <a:solidFill>
            <a:srgbClr val="FFFFFF">
              <a:alpha val="10000"/>
            </a:srgbClr>
          </a:solidFill>
          <a:ln/>
        </p:spPr>
      </p:sp>
      <p:sp>
        <p:nvSpPr>
          <p:cNvPr id="4" name="Shape 2"/>
          <p:cNvSpPr/>
          <p:nvPr/>
        </p:nvSpPr>
        <p:spPr>
          <a:xfrm>
            <a:off x="7315200" y="-1828800"/>
            <a:ext cx="3657600" cy="3657600"/>
          </a:xfrm>
          <a:prstGeom prst="ellipse">
            <a:avLst/>
          </a:prstGeom>
          <a:solidFill>
            <a:srgbClr val="06B6D4">
              <a:alpha val="25000"/>
            </a:srgbClr>
          </a:solidFill>
          <a:ln/>
        </p:spPr>
      </p:sp>
      <p:sp>
        <p:nvSpPr>
          <p:cNvPr id="5" name="Text 3"/>
          <p:cNvSpPr/>
          <p:nvPr/>
        </p:nvSpPr>
        <p:spPr>
          <a:xfrm>
            <a:off x="914400" y="1645920"/>
            <a:ext cx="7315200" cy="2286000"/>
          </a:xfrm>
          <a:prstGeom prst="rect">
            <a:avLst/>
          </a:prstGeom>
          <a:noFill/>
          <a:ln/>
          <a:effectLst>
            <a:outerShdw sx="100000" sy="100000" kx="0" ky="0" algn="bl" rotWithShape="0" blurRad="76200" dist="25400" dir="16200000">
              <a:srgbClr val="00000030">
                <a:alpha val="75000"/>
              </a:srgbClr>
            </a:outerShdw>
          </a:effectLst>
        </p:spPr>
        <p:txBody>
          <a:bodyPr wrap="square" rtlCol="0" anchor="ctr"/>
          <a:lstStyle/>
          <a:p>
            <a:pPr algn="ctr" indent="0" marL="0">
              <a:buNone/>
            </a:pPr>
            <a:r>
              <a:rPr lang="en-US" sz="4200" b="1" dirty="0">
                <a:solidFill>
                  <a:srgbClr val="FFFFFF"/>
                </a:solidFill>
                <a:latin typeface="Segoe UI" pitchFamily="34" charset="0"/>
                <a:ea typeface="Segoe UI" pitchFamily="34" charset="-122"/>
                <a:cs typeface="Segoe UI" pitchFamily="34" charset="-120"/>
              </a:rPr>
              <a:t>Introducing Wireless Motor Control with LoRa</a:t>
            </a:r>
            <a:endParaRPr lang="en-US" sz="4200" dirty="0"/>
          </a:p>
        </p:txBody>
      </p:sp>
      <p:sp>
        <p:nvSpPr>
          <p:cNvPr id="6" name="Shape 4"/>
          <p:cNvSpPr/>
          <p:nvPr/>
        </p:nvSpPr>
        <p:spPr>
          <a:xfrm>
            <a:off x="3200400" y="3931920"/>
            <a:ext cx="2743200" cy="36576"/>
          </a:xfrm>
          <a:prstGeom prst="rect">
            <a:avLst/>
          </a:prstGeom>
          <a:solidFill>
            <a:srgbClr val="FFFFFF">
              <a:alpha val="50000"/>
            </a:srgbClr>
          </a:solidFill>
          <a:ln/>
        </p:spPr>
      </p:sp>
      <p:sp>
        <p:nvSpPr>
          <p:cNvPr id="7" name="Text 5"/>
          <p:cNvSpPr/>
          <p:nvPr/>
        </p:nvSpPr>
        <p:spPr>
          <a:xfrm>
            <a:off x="914400" y="4114800"/>
            <a:ext cx="7315200" cy="731520"/>
          </a:xfrm>
          <a:prstGeom prst="rect">
            <a:avLst/>
          </a:prstGeom>
          <a:noFill/>
          <a:ln/>
        </p:spPr>
        <p:txBody>
          <a:bodyPr wrap="square" rtlCol="0" anchor="ctr"/>
          <a:lstStyle/>
          <a:p>
            <a:pPr algn="ctr" indent="0" marL="0">
              <a:buNone/>
            </a:pPr>
            <a:r>
              <a:rPr lang="en-US" sz="1600" dirty="0">
                <a:solidFill>
                  <a:srgbClr val="FFFFFF">
                    <a:alpha val="70000"/>
                  </a:srgbClr>
                </a:solidFill>
                <a:latin typeface="Calibri" pitchFamily="34" charset="0"/>
                <a:ea typeface="Calibri" pitchFamily="34" charset="-122"/>
                <a:cs typeface="Calibri" pitchFamily="34" charset="-120"/>
              </a:rPr>
              <a:t>A system overview illustrating the application of LoRa technology for remote motor activation and deactivation featuring enhanced safety and efficiency.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8229600" y="0"/>
            <a:ext cx="914400" cy="6858000"/>
          </a:xfrm>
          <a:prstGeom prst="rect">
            <a:avLst/>
          </a:prstGeom>
          <a:solidFill>
            <a:srgbClr val="3B82F6">
              <a:alpha val="8000"/>
            </a:srgbClr>
          </a:solidFill>
          <a:ln/>
        </p:spPr>
      </p:sp>
      <p:sp>
        <p:nvSpPr>
          <p:cNvPr id="3" name="Shape 1"/>
          <p:cNvSpPr/>
          <p:nvPr/>
        </p:nvSpPr>
        <p:spPr>
          <a:xfrm>
            <a:off x="-548640" y="-548640"/>
            <a:ext cx="1645920" cy="1645920"/>
          </a:xfrm>
          <a:prstGeom prst="ellipse">
            <a:avLst/>
          </a:prstGeom>
          <a:solidFill>
            <a:srgbClr val="06B6D4">
              <a:alpha val="10000"/>
            </a:srgbClr>
          </a:solidFill>
          <a:ln/>
        </p:spPr>
      </p:sp>
      <p:sp>
        <p:nvSpPr>
          <p:cNvPr id="4" name="Shape 2"/>
          <p:cNvSpPr/>
          <p:nvPr/>
        </p:nvSpPr>
        <p:spPr>
          <a:xfrm>
            <a:off x="0" y="0"/>
            <a:ext cx="12192000" cy="960120"/>
          </a:xfrm>
          <a:prstGeom prst="rect">
            <a:avLst/>
          </a:prstGeom>
          <a:solidFill>
            <a:srgbClr val="3B82F6"/>
          </a:solidFill>
          <a:ln/>
        </p:spPr>
      </p:sp>
      <p:sp>
        <p:nvSpPr>
          <p:cNvPr id="5" name="Text 3"/>
          <p:cNvSpPr/>
          <p:nvPr/>
        </p:nvSpPr>
        <p:spPr>
          <a:xfrm>
            <a:off x="548640" y="109728"/>
            <a:ext cx="7772400" cy="73152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Key Advantages of LoRa-Based Motor Starters</a:t>
            </a:r>
            <a:endParaRPr lang="en-US" sz="2400" dirty="0"/>
          </a:p>
        </p:txBody>
      </p:sp>
      <p:sp>
        <p:nvSpPr>
          <p:cNvPr id="6" name="Shape 4"/>
          <p:cNvSpPr/>
          <p:nvPr/>
        </p:nvSpPr>
        <p:spPr>
          <a:xfrm>
            <a:off x="457200" y="1188720"/>
            <a:ext cx="8229600" cy="4846320"/>
          </a:xfrm>
          <a:prstGeom prst="roundRect">
            <a:avLst>
              <a:gd name="adj" fmla="val 2264"/>
            </a:avLst>
          </a:prstGeom>
          <a:solidFill>
            <a:srgbClr val="1E293B">
              <a:alpha val="70000"/>
            </a:srgbClr>
          </a:solidFill>
          <a:ln w="6350">
            <a:solidFill>
              <a:srgbClr val="515C6E"/>
            </a:solidFill>
            <a:prstDash val="solid"/>
          </a:ln>
        </p:spPr>
      </p:sp>
      <p:sp>
        <p:nvSpPr>
          <p:cNvPr id="7" name="Text 5"/>
          <p:cNvSpPr/>
          <p:nvPr/>
        </p:nvSpPr>
        <p:spPr>
          <a:xfrm>
            <a:off x="822960" y="1463040"/>
            <a:ext cx="7498080" cy="4297680"/>
          </a:xfrm>
          <a:prstGeom prst="rect">
            <a:avLst/>
          </a:prstGeom>
          <a:noFill/>
          <a:ln/>
        </p:spPr>
        <p:txBody>
          <a:bodyPr wrap="square" rtlCol="0" anchor="t"/>
          <a:lstStyle/>
          <a:p>
            <a:pPr marL="342900" indent="-342900">
              <a:spcAft>
                <a:spcPts val="1000"/>
              </a:spcAft>
              <a:buSzPct val="100000"/>
              <a:buFont typeface="+mj-lt"/>
              <a:buAutoNum type="arabicPeriod" startAt="1"/>
            </a:pPr>
            <a:r>
              <a:rPr lang="en-US" sz="1600" dirty="0">
                <a:solidFill>
                  <a:srgbClr val="FFFFFF"/>
                </a:solidFill>
                <a:latin typeface="Calibri" pitchFamily="34" charset="0"/>
                <a:ea typeface="Calibri" pitchFamily="34" charset="-122"/>
                <a:cs typeface="Calibri" pitchFamily="34" charset="-120"/>
              </a:rPr>
              <a:t>  📌 LoRa enables remote motor control over considerable distances, extending operational reach beyond traditional wired solutions.</a:t>
            </a:r>
            <a:endParaRPr lang="en-US" sz="1600" dirty="0"/>
          </a:p>
          <a:p>
            <a:pPr marL="342900" indent="-342900">
              <a:spcAft>
                <a:spcPts val="1000"/>
              </a:spcAft>
              <a:buSzPct val="100000"/>
              <a:buFont typeface="+mj-lt"/>
              <a:buAutoNum type="arabicPeriod" startAt="2"/>
            </a:pPr>
            <a:r>
              <a:rPr lang="en-US" sz="1600" dirty="0">
                <a:solidFill>
                  <a:srgbClr val="FFFFFF"/>
                </a:solidFill>
                <a:latin typeface="Calibri" pitchFamily="34" charset="0"/>
                <a:ea typeface="Calibri" pitchFamily="34" charset="-122"/>
                <a:cs typeface="Calibri" pitchFamily="34" charset="-120"/>
              </a:rPr>
              <a:t>  🔍 System facilitates enhanced safety protocols by enabling immediate motor shutdown from a remote location in emergency situations.</a:t>
            </a:r>
            <a:endParaRPr lang="en-US" sz="1600" dirty="0"/>
          </a:p>
          <a:p>
            <a:pPr marL="342900" indent="-342900">
              <a:spcAft>
                <a:spcPts val="1000"/>
              </a:spcAft>
              <a:buSzPct val="100000"/>
              <a:buFont typeface="+mj-lt"/>
              <a:buAutoNum type="arabicPeriod" startAt="3"/>
            </a:pPr>
            <a:r>
              <a:rPr lang="en-US" sz="1600" dirty="0">
                <a:solidFill>
                  <a:srgbClr val="FFFFFF"/>
                </a:solidFill>
                <a:latin typeface="Calibri" pitchFamily="34" charset="0"/>
                <a:ea typeface="Calibri" pitchFamily="34" charset="-122"/>
                <a:cs typeface="Calibri" pitchFamily="34" charset="-120"/>
              </a:rPr>
              <a:t>  💡 Wireless control reduces wiring complexity, lowering installation costs and improving the flexibility of industrial setups.</a:t>
            </a:r>
            <a:endParaRPr lang="en-US" sz="1600" dirty="0"/>
          </a:p>
          <a:p>
            <a:pPr marL="342900" indent="-342900">
              <a:spcAft>
                <a:spcPts val="1000"/>
              </a:spcAft>
              <a:buSzPct val="100000"/>
              <a:buFont typeface="+mj-lt"/>
              <a:buAutoNum type="arabicPeriod" startAt="4"/>
            </a:pPr>
            <a:r>
              <a:rPr lang="en-US" sz="1600" dirty="0">
                <a:solidFill>
                  <a:srgbClr val="FFFFFF"/>
                </a:solidFill>
                <a:latin typeface="Calibri" pitchFamily="34" charset="0"/>
                <a:ea typeface="Calibri" pitchFamily="34" charset="-122"/>
                <a:cs typeface="Calibri" pitchFamily="34" charset="-120"/>
              </a:rPr>
              <a:t>  🎯 Real-time data feedback via LoRa enables monitoring of motor status, allowing for predictive maintenance and improved operational uptime.</a:t>
            </a:r>
            <a:endParaRPr lang="en-US" sz="1600" dirty="0"/>
          </a:p>
          <a:p>
            <a:pPr marL="342900" indent="-342900">
              <a:spcAft>
                <a:spcPts val="1000"/>
              </a:spcAft>
              <a:buSzPct val="100000"/>
              <a:buFont typeface="+mj-lt"/>
              <a:buAutoNum type="arabicPeriod" startAt="5"/>
            </a:pPr>
            <a:r>
              <a:rPr lang="en-US" sz="1600" dirty="0">
                <a:solidFill>
                  <a:srgbClr val="FFFFFF"/>
                </a:solidFill>
                <a:latin typeface="Calibri" pitchFamily="34" charset="0"/>
                <a:ea typeface="Calibri" pitchFamily="34" charset="-122"/>
                <a:cs typeface="Calibri" pitchFamily="34" charset="-120"/>
              </a:rPr>
              <a:t>  ⚡ Integration with existing industrial IoT infrastructure enhances automation capabilities and promotes smarter management of machine power consumption.</a:t>
            </a:r>
            <a:endParaRPr lang="en-US" sz="1600" dirty="0"/>
          </a:p>
        </p:txBody>
      </p:sp>
      <p:sp>
        <p:nvSpPr>
          <p:cNvPr id="8" name="Shape 6"/>
          <p:cNvSpPr/>
          <p:nvPr/>
        </p:nvSpPr>
        <p:spPr>
          <a:xfrm>
            <a:off x="8366760" y="5897880"/>
            <a:ext cx="457200" cy="457200"/>
          </a:xfrm>
          <a:prstGeom prst="ellipse">
            <a:avLst/>
          </a:prstGeom>
          <a:solidFill>
            <a:srgbClr val="3B82F6"/>
          </a:solidFill>
          <a:ln/>
        </p:spPr>
      </p:sp>
      <p:sp>
        <p:nvSpPr>
          <p:cNvPr id="9" name="Text 7"/>
          <p:cNvSpPr/>
          <p:nvPr/>
        </p:nvSpPr>
        <p:spPr>
          <a:xfrm>
            <a:off x="8366760" y="5897880"/>
            <a:ext cx="457200" cy="457200"/>
          </a:xfrm>
          <a:prstGeom prst="rect">
            <a:avLst/>
          </a:prstGeom>
          <a:noFill/>
          <a:ln/>
        </p:spPr>
        <p:txBody>
          <a:bodyPr wrap="square" rtlCol="0" anchor="ctr"/>
          <a:lstStyle/>
          <a:p>
            <a:pPr algn="ctr" indent="0" marL="0">
              <a:buNone/>
            </a:pPr>
            <a:r>
              <a:rPr lang="en-US" sz="1000" b="1" dirty="0">
                <a:solidFill>
                  <a:srgbClr val="FFFFFF"/>
                </a:solidFill>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457200"/>
            <a:ext cx="2011680" cy="2011680"/>
          </a:xfrm>
          <a:prstGeom prst="rtTriangle">
            <a:avLst/>
          </a:prstGeom>
          <a:solidFill>
            <a:srgbClr val="3B82F6">
              <a:alpha val="12000"/>
            </a:srgbClr>
          </a:solidFill>
          <a:ln/>
        </p:spPr>
      </p:sp>
      <p:sp>
        <p:nvSpPr>
          <p:cNvPr id="3" name="Shape 1"/>
          <p:cNvSpPr/>
          <p:nvPr/>
        </p:nvSpPr>
        <p:spPr>
          <a:xfrm>
            <a:off x="7315200" y="4572000"/>
            <a:ext cx="1828800" cy="1828800"/>
          </a:xfrm>
          <a:prstGeom prst="ellipse">
            <a:avLst/>
          </a:prstGeom>
          <a:solidFill>
            <a:srgbClr val="06B6D4">
              <a:alpha val="10000"/>
            </a:srgbClr>
          </a:solidFill>
          <a:ln/>
        </p:spPr>
      </p:sp>
      <p:sp>
        <p:nvSpPr>
          <p:cNvPr id="4" name="Shape 2"/>
          <p:cNvSpPr/>
          <p:nvPr/>
        </p:nvSpPr>
        <p:spPr>
          <a:xfrm>
            <a:off x="0" y="0"/>
            <a:ext cx="12192000" cy="960120"/>
          </a:xfrm>
          <a:prstGeom prst="rect">
            <a:avLst/>
          </a:prstGeom>
          <a:solidFill>
            <a:srgbClr val="3B82F6"/>
          </a:solidFill>
          <a:ln/>
        </p:spPr>
      </p:sp>
      <p:sp>
        <p:nvSpPr>
          <p:cNvPr id="5" name="Text 3"/>
          <p:cNvSpPr/>
          <p:nvPr/>
        </p:nvSpPr>
        <p:spPr>
          <a:xfrm>
            <a:off x="548640" y="109728"/>
            <a:ext cx="7772400" cy="73152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LoRa Motor Starter: System Architecture</a:t>
            </a:r>
            <a:endParaRPr lang="en-US" sz="2400" dirty="0"/>
          </a:p>
        </p:txBody>
      </p:sp>
      <p:sp>
        <p:nvSpPr>
          <p:cNvPr id="6" name="Shape 4"/>
          <p:cNvSpPr/>
          <p:nvPr/>
        </p:nvSpPr>
        <p:spPr>
          <a:xfrm>
            <a:off x="274320" y="1097280"/>
            <a:ext cx="8595360" cy="4846320"/>
          </a:xfrm>
          <a:prstGeom prst="roundRect">
            <a:avLst>
              <a:gd name="adj" fmla="val 1509"/>
            </a:avLst>
          </a:prstGeom>
          <a:solidFill>
            <a:srgbClr val="1E2332">
              <a:alpha val="85000"/>
            </a:srgbClr>
          </a:solidFill>
          <a:ln w="6350">
            <a:solidFill>
              <a:srgbClr val="3D4251"/>
            </a:solidFill>
            <a:prstDash val="solid"/>
          </a:ln>
        </p:spPr>
      </p:sp>
      <p:sp>
        <p:nvSpPr>
          <p:cNvPr id="7" name="Shape 5"/>
          <p:cNvSpPr/>
          <p:nvPr/>
        </p:nvSpPr>
        <p:spPr>
          <a:xfrm>
            <a:off x="2377440" y="1965960"/>
            <a:ext cx="365760" cy="0"/>
          </a:xfrm>
          <a:prstGeom prst="line">
            <a:avLst/>
          </a:prstGeom>
          <a:noFill/>
          <a:ln w="25400">
            <a:solidFill>
              <a:srgbClr val="3B82F6"/>
            </a:solidFill>
            <a:prstDash val="solid"/>
          </a:ln>
        </p:spPr>
      </p:sp>
      <p:sp>
        <p:nvSpPr>
          <p:cNvPr id="8" name="Text 6"/>
          <p:cNvSpPr/>
          <p:nvPr/>
        </p:nvSpPr>
        <p:spPr>
          <a:xfrm>
            <a:off x="3474720" y="1481328"/>
            <a:ext cx="182880" cy="164592"/>
          </a:xfrm>
          <a:prstGeom prst="rect">
            <a:avLst/>
          </a:prstGeom>
          <a:noFill/>
          <a:ln/>
        </p:spPr>
        <p:txBody>
          <a:bodyPr wrap="square" rtlCol="0" anchor="ctr"/>
          <a:lstStyle/>
          <a:p>
            <a:pPr algn="ctr" indent="0" marL="0">
              <a:buNone/>
            </a:pPr>
            <a:r>
              <a:rPr lang="en-US" sz="600" dirty="0">
                <a:solidFill>
                  <a:srgbClr val="3B82F6"/>
                </a:solidFill>
              </a:rPr>
              <a:t>▶</a:t>
            </a:r>
            <a:endParaRPr lang="en-US" sz="600" dirty="0"/>
          </a:p>
        </p:txBody>
      </p:sp>
      <p:sp>
        <p:nvSpPr>
          <p:cNvPr id="9" name="Shape 7"/>
          <p:cNvSpPr/>
          <p:nvPr/>
        </p:nvSpPr>
        <p:spPr>
          <a:xfrm>
            <a:off x="4389120" y="1965960"/>
            <a:ext cx="365760" cy="0"/>
          </a:xfrm>
          <a:prstGeom prst="line">
            <a:avLst/>
          </a:prstGeom>
          <a:noFill/>
          <a:ln w="25400">
            <a:solidFill>
              <a:srgbClr val="3B82F6"/>
            </a:solidFill>
            <a:prstDash val="solid"/>
          </a:ln>
        </p:spPr>
      </p:sp>
      <p:sp>
        <p:nvSpPr>
          <p:cNvPr id="10" name="Text 8"/>
          <p:cNvSpPr/>
          <p:nvPr/>
        </p:nvSpPr>
        <p:spPr>
          <a:xfrm>
            <a:off x="5486400" y="1481328"/>
            <a:ext cx="182880" cy="164592"/>
          </a:xfrm>
          <a:prstGeom prst="rect">
            <a:avLst/>
          </a:prstGeom>
          <a:noFill/>
          <a:ln/>
        </p:spPr>
        <p:txBody>
          <a:bodyPr wrap="square" rtlCol="0" anchor="ctr"/>
          <a:lstStyle/>
          <a:p>
            <a:pPr algn="ctr" indent="0" marL="0">
              <a:buNone/>
            </a:pPr>
            <a:r>
              <a:rPr lang="en-US" sz="600" dirty="0">
                <a:solidFill>
                  <a:srgbClr val="3B82F6"/>
                </a:solidFill>
              </a:rPr>
              <a:t>▶</a:t>
            </a:r>
            <a:endParaRPr lang="en-US" sz="600" dirty="0"/>
          </a:p>
        </p:txBody>
      </p:sp>
      <p:sp>
        <p:nvSpPr>
          <p:cNvPr id="11" name="Shape 9"/>
          <p:cNvSpPr/>
          <p:nvPr/>
        </p:nvSpPr>
        <p:spPr>
          <a:xfrm>
            <a:off x="6400800" y="1965960"/>
            <a:ext cx="365760" cy="0"/>
          </a:xfrm>
          <a:prstGeom prst="line">
            <a:avLst/>
          </a:prstGeom>
          <a:noFill/>
          <a:ln w="25400">
            <a:solidFill>
              <a:srgbClr val="3B82F6"/>
            </a:solidFill>
            <a:prstDash val="solid"/>
          </a:ln>
        </p:spPr>
      </p:sp>
      <p:sp>
        <p:nvSpPr>
          <p:cNvPr id="12" name="Text 10"/>
          <p:cNvSpPr/>
          <p:nvPr/>
        </p:nvSpPr>
        <p:spPr>
          <a:xfrm>
            <a:off x="7498080" y="1481328"/>
            <a:ext cx="182880" cy="164592"/>
          </a:xfrm>
          <a:prstGeom prst="rect">
            <a:avLst/>
          </a:prstGeom>
          <a:noFill/>
          <a:ln/>
        </p:spPr>
        <p:txBody>
          <a:bodyPr wrap="square" rtlCol="0" anchor="ctr"/>
          <a:lstStyle/>
          <a:p>
            <a:pPr algn="ctr" indent="0" marL="0">
              <a:buNone/>
            </a:pPr>
            <a:r>
              <a:rPr lang="en-US" sz="600" dirty="0">
                <a:solidFill>
                  <a:srgbClr val="3B82F6"/>
                </a:solidFill>
              </a:rPr>
              <a:t>▶</a:t>
            </a:r>
            <a:endParaRPr lang="en-US" sz="600" dirty="0"/>
          </a:p>
        </p:txBody>
      </p:sp>
      <p:sp>
        <p:nvSpPr>
          <p:cNvPr id="13" name="Shape 11"/>
          <p:cNvSpPr/>
          <p:nvPr/>
        </p:nvSpPr>
        <p:spPr>
          <a:xfrm>
            <a:off x="7589520" y="2286000"/>
            <a:ext cx="-6035040" cy="640080"/>
          </a:xfrm>
          <a:prstGeom prst="line">
            <a:avLst/>
          </a:prstGeom>
          <a:noFill/>
          <a:ln w="25400">
            <a:solidFill>
              <a:srgbClr val="3B82F6"/>
            </a:solidFill>
            <a:prstDash val="solid"/>
          </a:ln>
        </p:spPr>
      </p:sp>
      <p:sp>
        <p:nvSpPr>
          <p:cNvPr id="14" name="Text 12"/>
          <p:cNvSpPr/>
          <p:nvPr/>
        </p:nvSpPr>
        <p:spPr>
          <a:xfrm>
            <a:off x="1463040" y="2761488"/>
            <a:ext cx="182880" cy="164592"/>
          </a:xfrm>
          <a:prstGeom prst="rect">
            <a:avLst/>
          </a:prstGeom>
          <a:noFill/>
          <a:ln/>
        </p:spPr>
        <p:txBody>
          <a:bodyPr wrap="square" rtlCol="0" anchor="ctr"/>
          <a:lstStyle/>
          <a:p>
            <a:pPr algn="ctr" indent="0" marL="0">
              <a:buNone/>
            </a:pPr>
            <a:r>
              <a:rPr lang="en-US" sz="600" dirty="0">
                <a:solidFill>
                  <a:srgbClr val="3B82F6"/>
                </a:solidFill>
              </a:rPr>
              <a:t>▶</a:t>
            </a:r>
            <a:endParaRPr lang="en-US" sz="600" dirty="0"/>
          </a:p>
        </p:txBody>
      </p:sp>
      <p:sp>
        <p:nvSpPr>
          <p:cNvPr id="15" name="Shape 13"/>
          <p:cNvSpPr/>
          <p:nvPr/>
        </p:nvSpPr>
        <p:spPr>
          <a:xfrm>
            <a:off x="2377440" y="3246120"/>
            <a:ext cx="365760" cy="0"/>
          </a:xfrm>
          <a:prstGeom prst="line">
            <a:avLst/>
          </a:prstGeom>
          <a:noFill/>
          <a:ln w="25400">
            <a:solidFill>
              <a:srgbClr val="3B82F6"/>
            </a:solidFill>
            <a:prstDash val="solid"/>
          </a:ln>
        </p:spPr>
      </p:sp>
      <p:sp>
        <p:nvSpPr>
          <p:cNvPr id="16" name="Text 14"/>
          <p:cNvSpPr/>
          <p:nvPr/>
        </p:nvSpPr>
        <p:spPr>
          <a:xfrm>
            <a:off x="3474720" y="2761488"/>
            <a:ext cx="182880" cy="164592"/>
          </a:xfrm>
          <a:prstGeom prst="rect">
            <a:avLst/>
          </a:prstGeom>
          <a:noFill/>
          <a:ln/>
        </p:spPr>
        <p:txBody>
          <a:bodyPr wrap="square" rtlCol="0" anchor="ctr"/>
          <a:lstStyle/>
          <a:p>
            <a:pPr algn="ctr" indent="0" marL="0">
              <a:buNone/>
            </a:pPr>
            <a:r>
              <a:rPr lang="en-US" sz="600" dirty="0">
                <a:solidFill>
                  <a:srgbClr val="3B82F6"/>
                </a:solidFill>
              </a:rPr>
              <a:t>▶</a:t>
            </a:r>
            <a:endParaRPr lang="en-US" sz="600" dirty="0"/>
          </a:p>
        </p:txBody>
      </p:sp>
      <p:sp>
        <p:nvSpPr>
          <p:cNvPr id="17" name="Shape 15"/>
          <p:cNvSpPr/>
          <p:nvPr/>
        </p:nvSpPr>
        <p:spPr>
          <a:xfrm>
            <a:off x="731520" y="1645920"/>
            <a:ext cx="1645920" cy="640080"/>
          </a:xfrm>
          <a:prstGeom prst="ellipse">
            <a:avLst/>
          </a:prstGeom>
          <a:solidFill>
            <a:srgbClr val="10B981"/>
          </a:solidFill>
          <a:ln w="12700">
            <a:solidFill>
              <a:srgbClr val="FFFFFF"/>
            </a:solidFill>
            <a:prstDash val="solid"/>
          </a:ln>
          <a:effectLst>
            <a:outerShdw sx="100000" sy="100000" kx="0" ky="0" algn="bl" rotWithShape="0" blurRad="76200" dist="25400" dir="16200000">
              <a:srgbClr val="00000025">
                <a:alpha val="75000"/>
              </a:srgbClr>
            </a:outerShdw>
          </a:effectLst>
        </p:spPr>
      </p:sp>
      <p:sp>
        <p:nvSpPr>
          <p:cNvPr id="18" name="Text 16"/>
          <p:cNvSpPr/>
          <p:nvPr/>
        </p:nvSpPr>
        <p:spPr>
          <a:xfrm>
            <a:off x="731520" y="1645920"/>
            <a:ext cx="1645920" cy="6400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User / Operator</a:t>
            </a:r>
            <a:endParaRPr lang="en-US" sz="1000" dirty="0"/>
          </a:p>
        </p:txBody>
      </p:sp>
      <p:sp>
        <p:nvSpPr>
          <p:cNvPr id="19" name="Shape 17"/>
          <p:cNvSpPr/>
          <p:nvPr/>
        </p:nvSpPr>
        <p:spPr>
          <a:xfrm>
            <a:off x="2743200" y="1645920"/>
            <a:ext cx="1645920" cy="640080"/>
          </a:xfrm>
          <a:prstGeom prst="rect">
            <a:avLst>
              <a:gd name="adj" fmla="val 11429"/>
            </a:avLst>
          </a:prstGeom>
          <a:solidFill>
            <a:srgbClr val="3B82F6"/>
          </a:solidFill>
          <a:ln w="12700">
            <a:solidFill>
              <a:srgbClr val="FFFFFF"/>
            </a:solidFill>
            <a:prstDash val="solid"/>
          </a:ln>
          <a:effectLst>
            <a:outerShdw sx="100000" sy="100000" kx="0" ky="0" algn="bl" rotWithShape="0" blurRad="76200" dist="25400" dir="16200000">
              <a:srgbClr val="00000025">
                <a:alpha val="75000"/>
              </a:srgbClr>
            </a:outerShdw>
          </a:effectLst>
        </p:spPr>
      </p:sp>
      <p:sp>
        <p:nvSpPr>
          <p:cNvPr id="20" name="Text 18"/>
          <p:cNvSpPr/>
          <p:nvPr/>
        </p:nvSpPr>
        <p:spPr>
          <a:xfrm>
            <a:off x="2743200" y="1645920"/>
            <a:ext cx="1645920" cy="6400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LoRa Transmitter Unit</a:t>
            </a:r>
            <a:endParaRPr lang="en-US" sz="1000" dirty="0"/>
          </a:p>
        </p:txBody>
      </p:sp>
      <p:sp>
        <p:nvSpPr>
          <p:cNvPr id="21" name="Shape 19"/>
          <p:cNvSpPr/>
          <p:nvPr/>
        </p:nvSpPr>
        <p:spPr>
          <a:xfrm>
            <a:off x="4754880" y="1645920"/>
            <a:ext cx="1645920" cy="640080"/>
          </a:xfrm>
          <a:prstGeom prst="rect">
            <a:avLst>
              <a:gd name="adj" fmla="val 11429"/>
            </a:avLst>
          </a:prstGeom>
          <a:solidFill>
            <a:srgbClr val="3B82F6"/>
          </a:solidFill>
          <a:ln w="12700">
            <a:solidFill>
              <a:srgbClr val="FFFFFF"/>
            </a:solidFill>
            <a:prstDash val="solid"/>
          </a:ln>
          <a:effectLst>
            <a:outerShdw sx="100000" sy="100000" kx="0" ky="0" algn="bl" rotWithShape="0" blurRad="76200" dist="25400" dir="16200000">
              <a:srgbClr val="00000025">
                <a:alpha val="75000"/>
              </a:srgbClr>
            </a:outerShdw>
          </a:effectLst>
        </p:spPr>
      </p:sp>
      <p:sp>
        <p:nvSpPr>
          <p:cNvPr id="22" name="Text 20"/>
          <p:cNvSpPr/>
          <p:nvPr/>
        </p:nvSpPr>
        <p:spPr>
          <a:xfrm>
            <a:off x="4754880" y="1645920"/>
            <a:ext cx="1645920" cy="6400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LoRa Receiver Unit</a:t>
            </a:r>
            <a:endParaRPr lang="en-US" sz="1000" dirty="0"/>
          </a:p>
        </p:txBody>
      </p:sp>
      <p:sp>
        <p:nvSpPr>
          <p:cNvPr id="23" name="Shape 21"/>
          <p:cNvSpPr/>
          <p:nvPr/>
        </p:nvSpPr>
        <p:spPr>
          <a:xfrm>
            <a:off x="6766560" y="1645920"/>
            <a:ext cx="1645920" cy="640080"/>
          </a:xfrm>
          <a:prstGeom prst="rect">
            <a:avLst>
              <a:gd name="adj" fmla="val 11429"/>
            </a:avLst>
          </a:prstGeom>
          <a:solidFill>
            <a:srgbClr val="3B82F6"/>
          </a:solidFill>
          <a:ln w="12700">
            <a:solidFill>
              <a:srgbClr val="FFFFFF"/>
            </a:solidFill>
            <a:prstDash val="solid"/>
          </a:ln>
          <a:effectLst>
            <a:outerShdw sx="100000" sy="100000" kx="0" ky="0" algn="bl" rotWithShape="0" blurRad="76200" dist="25400" dir="16200000">
              <a:srgbClr val="00000025">
                <a:alpha val="75000"/>
              </a:srgbClr>
            </a:outerShdw>
          </a:effectLst>
        </p:spPr>
      </p:sp>
      <p:sp>
        <p:nvSpPr>
          <p:cNvPr id="24" name="Text 22"/>
          <p:cNvSpPr/>
          <p:nvPr/>
        </p:nvSpPr>
        <p:spPr>
          <a:xfrm>
            <a:off x="6766560" y="1645920"/>
            <a:ext cx="1645920" cy="6400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Microcontroller</a:t>
            </a:r>
            <a:endParaRPr lang="en-US" sz="1000" dirty="0"/>
          </a:p>
        </p:txBody>
      </p:sp>
      <p:sp>
        <p:nvSpPr>
          <p:cNvPr id="25" name="Shape 23"/>
          <p:cNvSpPr/>
          <p:nvPr/>
        </p:nvSpPr>
        <p:spPr>
          <a:xfrm>
            <a:off x="731520" y="2926080"/>
            <a:ext cx="1645920" cy="640080"/>
          </a:xfrm>
          <a:prstGeom prst="rect">
            <a:avLst>
              <a:gd name="adj" fmla="val 11429"/>
            </a:avLst>
          </a:prstGeom>
          <a:solidFill>
            <a:srgbClr val="3B82F6"/>
          </a:solidFill>
          <a:ln w="12700">
            <a:solidFill>
              <a:srgbClr val="FFFFFF"/>
            </a:solidFill>
            <a:prstDash val="solid"/>
          </a:ln>
          <a:effectLst>
            <a:outerShdw sx="100000" sy="100000" kx="0" ky="0" algn="bl" rotWithShape="0" blurRad="76200" dist="25400" dir="16200000">
              <a:srgbClr val="00000025">
                <a:alpha val="75000"/>
              </a:srgbClr>
            </a:outerShdw>
          </a:effectLst>
        </p:spPr>
      </p:sp>
      <p:sp>
        <p:nvSpPr>
          <p:cNvPr id="26" name="Text 24"/>
          <p:cNvSpPr/>
          <p:nvPr/>
        </p:nvSpPr>
        <p:spPr>
          <a:xfrm>
            <a:off x="731520" y="2926080"/>
            <a:ext cx="1645920" cy="6400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Relay Module</a:t>
            </a:r>
            <a:endParaRPr lang="en-US" sz="1000" dirty="0"/>
          </a:p>
        </p:txBody>
      </p:sp>
      <p:sp>
        <p:nvSpPr>
          <p:cNvPr id="27" name="Shape 25"/>
          <p:cNvSpPr/>
          <p:nvPr/>
        </p:nvSpPr>
        <p:spPr>
          <a:xfrm>
            <a:off x="2743200" y="2926080"/>
            <a:ext cx="1645920" cy="640080"/>
          </a:xfrm>
          <a:prstGeom prst="ellipse">
            <a:avLst/>
          </a:prstGeom>
          <a:solidFill>
            <a:srgbClr val="EF4444"/>
          </a:solidFill>
          <a:ln w="12700">
            <a:solidFill>
              <a:srgbClr val="FFFFFF"/>
            </a:solidFill>
            <a:prstDash val="solid"/>
          </a:ln>
          <a:effectLst>
            <a:outerShdw sx="100000" sy="100000" kx="0" ky="0" algn="bl" rotWithShape="0" blurRad="76200" dist="25400" dir="16200000">
              <a:srgbClr val="00000025">
                <a:alpha val="75000"/>
              </a:srgbClr>
            </a:outerShdw>
          </a:effectLst>
        </p:spPr>
      </p:sp>
      <p:sp>
        <p:nvSpPr>
          <p:cNvPr id="28" name="Text 26"/>
          <p:cNvSpPr/>
          <p:nvPr/>
        </p:nvSpPr>
        <p:spPr>
          <a:xfrm>
            <a:off x="2743200" y="2926080"/>
            <a:ext cx="1645920" cy="6400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AC Motor</a:t>
            </a:r>
            <a:endParaRPr lang="en-US" sz="1000" dirty="0"/>
          </a:p>
        </p:txBody>
      </p:sp>
      <p:sp>
        <p:nvSpPr>
          <p:cNvPr id="29" name="Text 27"/>
          <p:cNvSpPr/>
          <p:nvPr/>
        </p:nvSpPr>
        <p:spPr>
          <a:xfrm>
            <a:off x="457200" y="5715000"/>
            <a:ext cx="8229600" cy="320040"/>
          </a:xfrm>
          <a:prstGeom prst="rect">
            <a:avLst/>
          </a:prstGeom>
          <a:noFill/>
          <a:ln/>
        </p:spPr>
        <p:txBody>
          <a:bodyPr wrap="square" rtlCol="0" anchor="ctr"/>
          <a:lstStyle/>
          <a:p>
            <a:pPr algn="ctr" indent="0" marL="0">
              <a:buNone/>
            </a:pPr>
            <a:r>
              <a:rPr lang="en-US" sz="900" i="1" dirty="0">
                <a:solidFill>
                  <a:srgbClr val="FFFFFF"/>
                </a:solidFill>
                <a:latin typeface="Calibri" pitchFamily="34" charset="0"/>
                <a:ea typeface="Calibri" pitchFamily="34" charset="-122"/>
                <a:cs typeface="Calibri" pitchFamily="34" charset="-120"/>
              </a:rPr>
              <a:t>A graphical system architecture of the LoRa Motor Starter project, outlining key components and signal flow from user command to motor activation.</a:t>
            </a:r>
            <a:endParaRPr lang="en-US" sz="900" dirty="0"/>
          </a:p>
        </p:txBody>
      </p:sp>
      <p:sp>
        <p:nvSpPr>
          <p:cNvPr id="30" name="Shape 28"/>
          <p:cNvSpPr/>
          <p:nvPr/>
        </p:nvSpPr>
        <p:spPr>
          <a:xfrm>
            <a:off x="8366760" y="5897880"/>
            <a:ext cx="457200" cy="457200"/>
          </a:xfrm>
          <a:prstGeom prst="ellipse">
            <a:avLst/>
          </a:prstGeom>
          <a:solidFill>
            <a:srgbClr val="3B82F6"/>
          </a:solidFill>
          <a:ln/>
        </p:spPr>
      </p:sp>
      <p:sp>
        <p:nvSpPr>
          <p:cNvPr id="31" name="Text 29"/>
          <p:cNvSpPr/>
          <p:nvPr/>
        </p:nvSpPr>
        <p:spPr>
          <a:xfrm>
            <a:off x="8366760" y="5897880"/>
            <a:ext cx="457200" cy="457200"/>
          </a:xfrm>
          <a:prstGeom prst="rect">
            <a:avLst/>
          </a:prstGeom>
          <a:noFill/>
          <a:ln/>
        </p:spPr>
        <p:txBody>
          <a:bodyPr wrap="square" rtlCol="0" anchor="ctr"/>
          <a:lstStyle/>
          <a:p>
            <a:pPr algn="ctr" indent="0" marL="0">
              <a:buNone/>
            </a:pPr>
            <a:r>
              <a:rPr lang="en-US" sz="1000" b="1" dirty="0">
                <a:solidFill>
                  <a:srgbClr val="FFFFFF"/>
                </a:solidFill>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3B82F6"/>
        </a:solidFill>
      </p:bgPr>
    </p:bg>
    <p:spTree>
      <p:nvGrpSpPr>
        <p:cNvPr id="1" name=""/>
        <p:cNvGrpSpPr/>
        <p:nvPr/>
      </p:nvGrpSpPr>
      <p:grpSpPr>
        <a:xfrm>
          <a:off x="0" y="0"/>
          <a:ext cx="0" cy="0"/>
          <a:chOff x="0" y="0"/>
          <a:chExt cx="0" cy="0"/>
        </a:xfrm>
      </p:grpSpPr>
      <p:sp>
        <p:nvSpPr>
          <p:cNvPr id="2" name="Shape 0"/>
          <p:cNvSpPr/>
          <p:nvPr/>
        </p:nvSpPr>
        <p:spPr>
          <a:xfrm>
            <a:off x="-2743200" y="-2743200"/>
            <a:ext cx="7315200" cy="7315200"/>
          </a:xfrm>
          <a:prstGeom prst="ellipse">
            <a:avLst/>
          </a:prstGeom>
          <a:solidFill>
            <a:srgbClr val="06B6D4">
              <a:alpha val="32000"/>
            </a:srgbClr>
          </a:solidFill>
          <a:ln/>
        </p:spPr>
      </p:sp>
      <p:sp>
        <p:nvSpPr>
          <p:cNvPr id="3" name="Shape 1"/>
          <p:cNvSpPr/>
          <p:nvPr/>
        </p:nvSpPr>
        <p:spPr>
          <a:xfrm>
            <a:off x="5486400" y="3200400"/>
            <a:ext cx="5029200" cy="5029200"/>
          </a:xfrm>
          <a:prstGeom prst="ellipse">
            <a:avLst/>
          </a:prstGeom>
          <a:solidFill>
            <a:srgbClr val="FFFFFF">
              <a:alpha val="10000"/>
            </a:srgbClr>
          </a:solidFill>
          <a:ln/>
        </p:spPr>
      </p:sp>
      <p:sp>
        <p:nvSpPr>
          <p:cNvPr id="4" name="Shape 2"/>
          <p:cNvSpPr/>
          <p:nvPr/>
        </p:nvSpPr>
        <p:spPr>
          <a:xfrm>
            <a:off x="7315200" y="-1828800"/>
            <a:ext cx="3657600" cy="3657600"/>
          </a:xfrm>
          <a:prstGeom prst="ellipse">
            <a:avLst/>
          </a:prstGeom>
          <a:solidFill>
            <a:srgbClr val="06B6D4">
              <a:alpha val="25000"/>
            </a:srgbClr>
          </a:solidFill>
          <a:ln/>
        </p:spPr>
      </p:sp>
      <p:sp>
        <p:nvSpPr>
          <p:cNvPr id="5" name="Text 3"/>
          <p:cNvSpPr/>
          <p:nvPr/>
        </p:nvSpPr>
        <p:spPr>
          <a:xfrm>
            <a:off x="914400" y="1645920"/>
            <a:ext cx="7315200" cy="2286000"/>
          </a:xfrm>
          <a:prstGeom prst="rect">
            <a:avLst/>
          </a:prstGeom>
          <a:noFill/>
          <a:ln/>
          <a:effectLst>
            <a:outerShdw sx="100000" sy="100000" kx="0" ky="0" algn="bl" rotWithShape="0" blurRad="76200" dist="25400" dir="16200000">
              <a:srgbClr val="00000030">
                <a:alpha val="75000"/>
              </a:srgbClr>
            </a:outerShdw>
          </a:effectLst>
        </p:spPr>
        <p:txBody>
          <a:bodyPr wrap="square" rtlCol="0" anchor="ctr"/>
          <a:lstStyle/>
          <a:p>
            <a:pPr algn="ctr" indent="0" marL="0">
              <a:buNone/>
            </a:pPr>
            <a:r>
              <a:rPr lang="en-US" sz="4200" b="1" dirty="0">
                <a:solidFill>
                  <a:srgbClr val="FFFFFF"/>
                </a:solidFill>
                <a:latin typeface="Segoe UI" pitchFamily="34" charset="0"/>
                <a:ea typeface="Segoe UI" pitchFamily="34" charset="-122"/>
                <a:cs typeface="Segoe UI" pitchFamily="34" charset="-120"/>
              </a:rPr>
              <a:t>Safety and Control Logic</a:t>
            </a:r>
            <a:endParaRPr lang="en-US" sz="4200" dirty="0"/>
          </a:p>
        </p:txBody>
      </p:sp>
      <p:sp>
        <p:nvSpPr>
          <p:cNvPr id="6" name="Shape 4"/>
          <p:cNvSpPr/>
          <p:nvPr/>
        </p:nvSpPr>
        <p:spPr>
          <a:xfrm>
            <a:off x="3200400" y="3931920"/>
            <a:ext cx="2743200" cy="36576"/>
          </a:xfrm>
          <a:prstGeom prst="rect">
            <a:avLst/>
          </a:prstGeom>
          <a:solidFill>
            <a:srgbClr val="FFFFFF">
              <a:alpha val="50000"/>
            </a:srgbClr>
          </a:solidFill>
          <a:ln/>
        </p:spPr>
      </p:sp>
      <p:sp>
        <p:nvSpPr>
          <p:cNvPr id="7" name="Text 5"/>
          <p:cNvSpPr/>
          <p:nvPr/>
        </p:nvSpPr>
        <p:spPr>
          <a:xfrm>
            <a:off x="914400" y="4114800"/>
            <a:ext cx="7315200" cy="731520"/>
          </a:xfrm>
          <a:prstGeom prst="rect">
            <a:avLst/>
          </a:prstGeom>
          <a:noFill/>
          <a:ln/>
        </p:spPr>
        <p:txBody>
          <a:bodyPr wrap="square" rtlCol="0" anchor="ctr"/>
          <a:lstStyle/>
          <a:p>
            <a:pPr algn="ctr" indent="0" marL="0">
              <a:buNone/>
            </a:pPr>
            <a:r>
              <a:rPr lang="en-US" sz="1600" dirty="0">
                <a:solidFill>
                  <a:srgbClr val="FFFFFF">
                    <a:alpha val="70000"/>
                  </a:srgbClr>
                </a:solidFill>
                <a:latin typeface="Calibri" pitchFamily="34" charset="0"/>
                <a:ea typeface="Calibri" pitchFamily="34" charset="-122"/>
                <a:cs typeface="Calibri" pitchFamily="34" charset="-120"/>
              </a:rPr>
              <a:t>Detailed explanation of the integration of safety checks and control flows in the LoRa motor control system, ensuring secure and reliable operation.</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858000" y="-1371600"/>
            <a:ext cx="3657600" cy="3657600"/>
          </a:xfrm>
          <a:prstGeom prst="ellipse">
            <a:avLst/>
          </a:prstGeom>
          <a:solidFill>
            <a:srgbClr val="3B82F6">
              <a:alpha val="8000"/>
            </a:srgbClr>
          </a:solidFill>
          <a:ln/>
        </p:spPr>
      </p:sp>
      <p:sp>
        <p:nvSpPr>
          <p:cNvPr id="3" name="Shape 1"/>
          <p:cNvSpPr/>
          <p:nvPr/>
        </p:nvSpPr>
        <p:spPr>
          <a:xfrm>
            <a:off x="7498080" y="182880"/>
            <a:ext cx="2286000" cy="2286000"/>
          </a:xfrm>
          <a:prstGeom prst="ellipse">
            <a:avLst/>
          </a:prstGeom>
          <a:solidFill>
            <a:srgbClr val="06B6D4">
              <a:alpha val="10000"/>
            </a:srgbClr>
          </a:solidFill>
          <a:ln/>
        </p:spPr>
      </p:sp>
      <p:sp>
        <p:nvSpPr>
          <p:cNvPr id="4" name="Shape 2"/>
          <p:cNvSpPr/>
          <p:nvPr/>
        </p:nvSpPr>
        <p:spPr>
          <a:xfrm>
            <a:off x="-1371600" y="3657600"/>
            <a:ext cx="2743200" cy="2743200"/>
          </a:xfrm>
          <a:prstGeom prst="ellipse">
            <a:avLst/>
          </a:prstGeom>
          <a:solidFill>
            <a:srgbClr val="3B82F6">
              <a:alpha val="7000"/>
            </a:srgbClr>
          </a:solidFill>
          <a:ln/>
        </p:spPr>
      </p:sp>
      <p:sp>
        <p:nvSpPr>
          <p:cNvPr id="5" name="Shape 3"/>
          <p:cNvSpPr/>
          <p:nvPr/>
        </p:nvSpPr>
        <p:spPr>
          <a:xfrm>
            <a:off x="0" y="0"/>
            <a:ext cx="12192000" cy="960120"/>
          </a:xfrm>
          <a:prstGeom prst="rect">
            <a:avLst/>
          </a:prstGeom>
          <a:solidFill>
            <a:srgbClr val="3B82F6"/>
          </a:solidFill>
          <a:ln/>
        </p:spPr>
      </p:sp>
      <p:sp>
        <p:nvSpPr>
          <p:cNvPr id="6" name="Text 4"/>
          <p:cNvSpPr/>
          <p:nvPr/>
        </p:nvSpPr>
        <p:spPr>
          <a:xfrm>
            <a:off x="548640" y="109728"/>
            <a:ext cx="7772400" cy="73152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Safety &amp; Control Flow Chart</a:t>
            </a:r>
            <a:endParaRPr lang="en-US" sz="2400" dirty="0"/>
          </a:p>
        </p:txBody>
      </p:sp>
      <p:sp>
        <p:nvSpPr>
          <p:cNvPr id="7" name="Shape 5"/>
          <p:cNvSpPr/>
          <p:nvPr/>
        </p:nvSpPr>
        <p:spPr>
          <a:xfrm>
            <a:off x="274320" y="1097280"/>
            <a:ext cx="8595360" cy="4846320"/>
          </a:xfrm>
          <a:prstGeom prst="roundRect">
            <a:avLst>
              <a:gd name="adj" fmla="val 1509"/>
            </a:avLst>
          </a:prstGeom>
          <a:solidFill>
            <a:srgbClr val="1E2332">
              <a:alpha val="85000"/>
            </a:srgbClr>
          </a:solidFill>
          <a:ln w="6350">
            <a:solidFill>
              <a:srgbClr val="3D4251"/>
            </a:solidFill>
            <a:prstDash val="solid"/>
          </a:ln>
        </p:spPr>
      </p:sp>
      <p:sp>
        <p:nvSpPr>
          <p:cNvPr id="8" name="Shape 6"/>
          <p:cNvSpPr/>
          <p:nvPr/>
        </p:nvSpPr>
        <p:spPr>
          <a:xfrm>
            <a:off x="2377440" y="1965960"/>
            <a:ext cx="365760" cy="0"/>
          </a:xfrm>
          <a:prstGeom prst="line">
            <a:avLst/>
          </a:prstGeom>
          <a:noFill/>
          <a:ln w="25400">
            <a:solidFill>
              <a:srgbClr val="3B82F6"/>
            </a:solidFill>
            <a:prstDash val="solid"/>
          </a:ln>
        </p:spPr>
      </p:sp>
      <p:sp>
        <p:nvSpPr>
          <p:cNvPr id="9" name="Text 7"/>
          <p:cNvSpPr/>
          <p:nvPr/>
        </p:nvSpPr>
        <p:spPr>
          <a:xfrm>
            <a:off x="3474720" y="1481328"/>
            <a:ext cx="182880" cy="164592"/>
          </a:xfrm>
          <a:prstGeom prst="rect">
            <a:avLst/>
          </a:prstGeom>
          <a:noFill/>
          <a:ln/>
        </p:spPr>
        <p:txBody>
          <a:bodyPr wrap="square" rtlCol="0" anchor="ctr"/>
          <a:lstStyle/>
          <a:p>
            <a:pPr algn="ctr" indent="0" marL="0">
              <a:buNone/>
            </a:pPr>
            <a:r>
              <a:rPr lang="en-US" sz="600" dirty="0">
                <a:solidFill>
                  <a:srgbClr val="3B82F6"/>
                </a:solidFill>
              </a:rPr>
              <a:t>▶</a:t>
            </a:r>
            <a:endParaRPr lang="en-US" sz="600" dirty="0"/>
          </a:p>
        </p:txBody>
      </p:sp>
      <p:sp>
        <p:nvSpPr>
          <p:cNvPr id="10" name="Shape 8"/>
          <p:cNvSpPr/>
          <p:nvPr/>
        </p:nvSpPr>
        <p:spPr>
          <a:xfrm>
            <a:off x="4389120" y="1965960"/>
            <a:ext cx="365760" cy="0"/>
          </a:xfrm>
          <a:prstGeom prst="line">
            <a:avLst/>
          </a:prstGeom>
          <a:noFill/>
          <a:ln w="25400">
            <a:solidFill>
              <a:srgbClr val="3B82F6"/>
            </a:solidFill>
            <a:prstDash val="solid"/>
          </a:ln>
        </p:spPr>
      </p:sp>
      <p:sp>
        <p:nvSpPr>
          <p:cNvPr id="11" name="Text 9"/>
          <p:cNvSpPr/>
          <p:nvPr/>
        </p:nvSpPr>
        <p:spPr>
          <a:xfrm>
            <a:off x="5486400" y="1481328"/>
            <a:ext cx="182880" cy="164592"/>
          </a:xfrm>
          <a:prstGeom prst="rect">
            <a:avLst/>
          </a:prstGeom>
          <a:noFill/>
          <a:ln/>
        </p:spPr>
        <p:txBody>
          <a:bodyPr wrap="square" rtlCol="0" anchor="ctr"/>
          <a:lstStyle/>
          <a:p>
            <a:pPr algn="ctr" indent="0" marL="0">
              <a:buNone/>
            </a:pPr>
            <a:r>
              <a:rPr lang="en-US" sz="600" dirty="0">
                <a:solidFill>
                  <a:srgbClr val="3B82F6"/>
                </a:solidFill>
              </a:rPr>
              <a:t>▶</a:t>
            </a:r>
            <a:endParaRPr lang="en-US" sz="600" dirty="0"/>
          </a:p>
        </p:txBody>
      </p:sp>
      <p:sp>
        <p:nvSpPr>
          <p:cNvPr id="12" name="Text 10"/>
          <p:cNvSpPr/>
          <p:nvPr/>
        </p:nvSpPr>
        <p:spPr>
          <a:xfrm>
            <a:off x="4206240" y="1874520"/>
            <a:ext cx="731520" cy="201168"/>
          </a:xfrm>
          <a:prstGeom prst="rect">
            <a:avLst/>
          </a:prstGeom>
          <a:noFill/>
          <a:ln/>
        </p:spPr>
        <p:txBody>
          <a:bodyPr wrap="square" rtlCol="0" anchor="ctr"/>
          <a:lstStyle/>
          <a:p>
            <a:pPr algn="ctr" indent="0" marL="0">
              <a:buNone/>
            </a:pPr>
            <a:r>
              <a:rPr lang="en-US" sz="800" i="1" dirty="0">
                <a:solidFill>
                  <a:srgbClr val="06B6D4"/>
                </a:solidFill>
                <a:latin typeface="Calibri" pitchFamily="34" charset="0"/>
                <a:ea typeface="Calibri" pitchFamily="34" charset="-122"/>
                <a:cs typeface="Calibri" pitchFamily="34" charset="-120"/>
              </a:rPr>
              <a:t>Yes</a:t>
            </a:r>
            <a:endParaRPr lang="en-US" sz="800" dirty="0"/>
          </a:p>
        </p:txBody>
      </p:sp>
      <p:sp>
        <p:nvSpPr>
          <p:cNvPr id="13" name="Shape 11"/>
          <p:cNvSpPr/>
          <p:nvPr/>
        </p:nvSpPr>
        <p:spPr>
          <a:xfrm>
            <a:off x="3566160" y="2286000"/>
            <a:ext cx="0" cy="640080"/>
          </a:xfrm>
          <a:prstGeom prst="line">
            <a:avLst/>
          </a:prstGeom>
          <a:noFill/>
          <a:ln w="25400">
            <a:solidFill>
              <a:srgbClr val="3B82F6"/>
            </a:solidFill>
            <a:prstDash val="solid"/>
          </a:ln>
        </p:spPr>
      </p:sp>
      <p:sp>
        <p:nvSpPr>
          <p:cNvPr id="14" name="Text 12"/>
          <p:cNvSpPr/>
          <p:nvPr/>
        </p:nvSpPr>
        <p:spPr>
          <a:xfrm>
            <a:off x="3474720" y="2761488"/>
            <a:ext cx="182880" cy="164592"/>
          </a:xfrm>
          <a:prstGeom prst="rect">
            <a:avLst/>
          </a:prstGeom>
          <a:noFill/>
          <a:ln/>
        </p:spPr>
        <p:txBody>
          <a:bodyPr wrap="square" rtlCol="0" anchor="ctr"/>
          <a:lstStyle/>
          <a:p>
            <a:pPr algn="ctr" indent="0" marL="0">
              <a:buNone/>
            </a:pPr>
            <a:r>
              <a:rPr lang="en-US" sz="600" dirty="0">
                <a:solidFill>
                  <a:srgbClr val="3B82F6"/>
                </a:solidFill>
              </a:rPr>
              <a:t>▶</a:t>
            </a:r>
            <a:endParaRPr lang="en-US" sz="600" dirty="0"/>
          </a:p>
        </p:txBody>
      </p:sp>
      <p:sp>
        <p:nvSpPr>
          <p:cNvPr id="15" name="Text 13"/>
          <p:cNvSpPr/>
          <p:nvPr/>
        </p:nvSpPr>
        <p:spPr>
          <a:xfrm>
            <a:off x="3200400" y="2514600"/>
            <a:ext cx="731520" cy="201168"/>
          </a:xfrm>
          <a:prstGeom prst="rect">
            <a:avLst/>
          </a:prstGeom>
          <a:noFill/>
          <a:ln/>
        </p:spPr>
        <p:txBody>
          <a:bodyPr wrap="square" rtlCol="0" anchor="ctr"/>
          <a:lstStyle/>
          <a:p>
            <a:pPr algn="ctr" indent="0" marL="0">
              <a:buNone/>
            </a:pPr>
            <a:r>
              <a:rPr lang="en-US" sz="800" i="1" dirty="0">
                <a:solidFill>
                  <a:srgbClr val="06B6D4"/>
                </a:solidFill>
                <a:latin typeface="Calibri" pitchFamily="34" charset="0"/>
                <a:ea typeface="Calibri" pitchFamily="34" charset="-122"/>
                <a:cs typeface="Calibri" pitchFamily="34" charset="-120"/>
              </a:rPr>
              <a:t>No</a:t>
            </a:r>
            <a:endParaRPr lang="en-US" sz="800" dirty="0"/>
          </a:p>
        </p:txBody>
      </p:sp>
      <p:sp>
        <p:nvSpPr>
          <p:cNvPr id="16" name="Shape 14"/>
          <p:cNvSpPr/>
          <p:nvPr/>
        </p:nvSpPr>
        <p:spPr>
          <a:xfrm>
            <a:off x="6400800" y="1965960"/>
            <a:ext cx="365760" cy="0"/>
          </a:xfrm>
          <a:prstGeom prst="line">
            <a:avLst/>
          </a:prstGeom>
          <a:noFill/>
          <a:ln w="25400">
            <a:solidFill>
              <a:srgbClr val="3B82F6"/>
            </a:solidFill>
            <a:prstDash val="solid"/>
          </a:ln>
        </p:spPr>
      </p:sp>
      <p:sp>
        <p:nvSpPr>
          <p:cNvPr id="17" name="Text 15"/>
          <p:cNvSpPr/>
          <p:nvPr/>
        </p:nvSpPr>
        <p:spPr>
          <a:xfrm>
            <a:off x="7498080" y="1481328"/>
            <a:ext cx="182880" cy="164592"/>
          </a:xfrm>
          <a:prstGeom prst="rect">
            <a:avLst/>
          </a:prstGeom>
          <a:noFill/>
          <a:ln/>
        </p:spPr>
        <p:txBody>
          <a:bodyPr wrap="square" rtlCol="0" anchor="ctr"/>
          <a:lstStyle/>
          <a:p>
            <a:pPr algn="ctr" indent="0" marL="0">
              <a:buNone/>
            </a:pPr>
            <a:r>
              <a:rPr lang="en-US" sz="600" dirty="0">
                <a:solidFill>
                  <a:srgbClr val="3B82F6"/>
                </a:solidFill>
              </a:rPr>
              <a:t>▶</a:t>
            </a:r>
            <a:endParaRPr lang="en-US" sz="600" dirty="0"/>
          </a:p>
        </p:txBody>
      </p:sp>
      <p:sp>
        <p:nvSpPr>
          <p:cNvPr id="18" name="Text 16"/>
          <p:cNvSpPr/>
          <p:nvPr/>
        </p:nvSpPr>
        <p:spPr>
          <a:xfrm>
            <a:off x="6217920" y="1874520"/>
            <a:ext cx="731520" cy="201168"/>
          </a:xfrm>
          <a:prstGeom prst="rect">
            <a:avLst/>
          </a:prstGeom>
          <a:noFill/>
          <a:ln/>
        </p:spPr>
        <p:txBody>
          <a:bodyPr wrap="square" rtlCol="0" anchor="ctr"/>
          <a:lstStyle/>
          <a:p>
            <a:pPr algn="ctr" indent="0" marL="0">
              <a:buNone/>
            </a:pPr>
            <a:r>
              <a:rPr lang="en-US" sz="800" i="1" dirty="0">
                <a:solidFill>
                  <a:srgbClr val="06B6D4"/>
                </a:solidFill>
                <a:latin typeface="Calibri" pitchFamily="34" charset="0"/>
                <a:ea typeface="Calibri" pitchFamily="34" charset="-122"/>
                <a:cs typeface="Calibri" pitchFamily="34" charset="-120"/>
              </a:rPr>
              <a:t>Yes</a:t>
            </a:r>
            <a:endParaRPr lang="en-US" sz="800" dirty="0"/>
          </a:p>
        </p:txBody>
      </p:sp>
      <p:sp>
        <p:nvSpPr>
          <p:cNvPr id="19" name="Shape 17"/>
          <p:cNvSpPr/>
          <p:nvPr/>
        </p:nvSpPr>
        <p:spPr>
          <a:xfrm>
            <a:off x="5577840" y="2286000"/>
            <a:ext cx="-2011680" cy="640080"/>
          </a:xfrm>
          <a:prstGeom prst="line">
            <a:avLst/>
          </a:prstGeom>
          <a:noFill/>
          <a:ln w="25400">
            <a:solidFill>
              <a:srgbClr val="3B82F6"/>
            </a:solidFill>
            <a:prstDash val="solid"/>
          </a:ln>
        </p:spPr>
      </p:sp>
      <p:sp>
        <p:nvSpPr>
          <p:cNvPr id="20" name="Text 18"/>
          <p:cNvSpPr/>
          <p:nvPr/>
        </p:nvSpPr>
        <p:spPr>
          <a:xfrm>
            <a:off x="3474720" y="2761488"/>
            <a:ext cx="182880" cy="164592"/>
          </a:xfrm>
          <a:prstGeom prst="rect">
            <a:avLst/>
          </a:prstGeom>
          <a:noFill/>
          <a:ln/>
        </p:spPr>
        <p:txBody>
          <a:bodyPr wrap="square" rtlCol="0" anchor="ctr"/>
          <a:lstStyle/>
          <a:p>
            <a:pPr algn="ctr" indent="0" marL="0">
              <a:buNone/>
            </a:pPr>
            <a:r>
              <a:rPr lang="en-US" sz="600" dirty="0">
                <a:solidFill>
                  <a:srgbClr val="3B82F6"/>
                </a:solidFill>
              </a:rPr>
              <a:t>▶</a:t>
            </a:r>
            <a:endParaRPr lang="en-US" sz="600" dirty="0"/>
          </a:p>
        </p:txBody>
      </p:sp>
      <p:sp>
        <p:nvSpPr>
          <p:cNvPr id="21" name="Text 19"/>
          <p:cNvSpPr/>
          <p:nvPr/>
        </p:nvSpPr>
        <p:spPr>
          <a:xfrm>
            <a:off x="4206240" y="2514600"/>
            <a:ext cx="731520" cy="201168"/>
          </a:xfrm>
          <a:prstGeom prst="rect">
            <a:avLst/>
          </a:prstGeom>
          <a:noFill/>
          <a:ln/>
        </p:spPr>
        <p:txBody>
          <a:bodyPr wrap="square" rtlCol="0" anchor="ctr"/>
          <a:lstStyle/>
          <a:p>
            <a:pPr algn="ctr" indent="0" marL="0">
              <a:buNone/>
            </a:pPr>
            <a:r>
              <a:rPr lang="en-US" sz="800" i="1" dirty="0">
                <a:solidFill>
                  <a:srgbClr val="06B6D4"/>
                </a:solidFill>
                <a:latin typeface="Calibri" pitchFamily="34" charset="0"/>
                <a:ea typeface="Calibri" pitchFamily="34" charset="-122"/>
                <a:cs typeface="Calibri" pitchFamily="34" charset="-120"/>
              </a:rPr>
              <a:t>No</a:t>
            </a:r>
            <a:endParaRPr lang="en-US" sz="800" dirty="0"/>
          </a:p>
        </p:txBody>
      </p:sp>
      <p:sp>
        <p:nvSpPr>
          <p:cNvPr id="22" name="Shape 20"/>
          <p:cNvSpPr/>
          <p:nvPr/>
        </p:nvSpPr>
        <p:spPr>
          <a:xfrm>
            <a:off x="7589520" y="2286000"/>
            <a:ext cx="-6035040" cy="640080"/>
          </a:xfrm>
          <a:prstGeom prst="line">
            <a:avLst/>
          </a:prstGeom>
          <a:noFill/>
          <a:ln w="25400">
            <a:solidFill>
              <a:srgbClr val="3B82F6"/>
            </a:solidFill>
            <a:prstDash val="solid"/>
          </a:ln>
        </p:spPr>
      </p:sp>
      <p:sp>
        <p:nvSpPr>
          <p:cNvPr id="23" name="Text 21"/>
          <p:cNvSpPr/>
          <p:nvPr/>
        </p:nvSpPr>
        <p:spPr>
          <a:xfrm>
            <a:off x="1463040" y="2761488"/>
            <a:ext cx="182880" cy="164592"/>
          </a:xfrm>
          <a:prstGeom prst="rect">
            <a:avLst/>
          </a:prstGeom>
          <a:noFill/>
          <a:ln/>
        </p:spPr>
        <p:txBody>
          <a:bodyPr wrap="square" rtlCol="0" anchor="ctr"/>
          <a:lstStyle/>
          <a:p>
            <a:pPr algn="ctr" indent="0" marL="0">
              <a:buNone/>
            </a:pPr>
            <a:r>
              <a:rPr lang="en-US" sz="600" dirty="0">
                <a:solidFill>
                  <a:srgbClr val="3B82F6"/>
                </a:solidFill>
              </a:rPr>
              <a:t>▶</a:t>
            </a:r>
            <a:endParaRPr lang="en-US" sz="600" dirty="0"/>
          </a:p>
        </p:txBody>
      </p:sp>
      <p:sp>
        <p:nvSpPr>
          <p:cNvPr id="24" name="Shape 22"/>
          <p:cNvSpPr/>
          <p:nvPr/>
        </p:nvSpPr>
        <p:spPr>
          <a:xfrm>
            <a:off x="2377440" y="3246120"/>
            <a:ext cx="365760" cy="0"/>
          </a:xfrm>
          <a:prstGeom prst="line">
            <a:avLst/>
          </a:prstGeom>
          <a:noFill/>
          <a:ln w="25400">
            <a:solidFill>
              <a:srgbClr val="3B82F6"/>
            </a:solidFill>
            <a:prstDash val="solid"/>
          </a:ln>
        </p:spPr>
      </p:sp>
      <p:sp>
        <p:nvSpPr>
          <p:cNvPr id="25" name="Text 23"/>
          <p:cNvSpPr/>
          <p:nvPr/>
        </p:nvSpPr>
        <p:spPr>
          <a:xfrm>
            <a:off x="3474720" y="2761488"/>
            <a:ext cx="182880" cy="164592"/>
          </a:xfrm>
          <a:prstGeom prst="rect">
            <a:avLst/>
          </a:prstGeom>
          <a:noFill/>
          <a:ln/>
        </p:spPr>
        <p:txBody>
          <a:bodyPr wrap="square" rtlCol="0" anchor="ctr"/>
          <a:lstStyle/>
          <a:p>
            <a:pPr algn="ctr" indent="0" marL="0">
              <a:buNone/>
            </a:pPr>
            <a:r>
              <a:rPr lang="en-US" sz="600" dirty="0">
                <a:solidFill>
                  <a:srgbClr val="3B82F6"/>
                </a:solidFill>
              </a:rPr>
              <a:t>▶</a:t>
            </a:r>
            <a:endParaRPr lang="en-US" sz="600" dirty="0"/>
          </a:p>
        </p:txBody>
      </p:sp>
      <p:sp>
        <p:nvSpPr>
          <p:cNvPr id="26" name="Shape 24"/>
          <p:cNvSpPr/>
          <p:nvPr/>
        </p:nvSpPr>
        <p:spPr>
          <a:xfrm>
            <a:off x="731520" y="1645920"/>
            <a:ext cx="1645920" cy="640080"/>
          </a:xfrm>
          <a:prstGeom prst="ellipse">
            <a:avLst/>
          </a:prstGeom>
          <a:solidFill>
            <a:srgbClr val="10B981"/>
          </a:solidFill>
          <a:ln w="12700">
            <a:solidFill>
              <a:srgbClr val="FFFFFF"/>
            </a:solidFill>
            <a:prstDash val="solid"/>
          </a:ln>
          <a:effectLst>
            <a:outerShdw sx="100000" sy="100000" kx="0" ky="0" algn="bl" rotWithShape="0" blurRad="76200" dist="25400" dir="16200000">
              <a:srgbClr val="00000025">
                <a:alpha val="75000"/>
              </a:srgbClr>
            </a:outerShdw>
          </a:effectLst>
        </p:spPr>
      </p:sp>
      <p:sp>
        <p:nvSpPr>
          <p:cNvPr id="27" name="Text 25"/>
          <p:cNvSpPr/>
          <p:nvPr/>
        </p:nvSpPr>
        <p:spPr>
          <a:xfrm>
            <a:off x="731520" y="1645920"/>
            <a:ext cx="1645920" cy="6400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Start</a:t>
            </a:r>
            <a:endParaRPr lang="en-US" sz="1000" dirty="0"/>
          </a:p>
        </p:txBody>
      </p:sp>
      <p:sp>
        <p:nvSpPr>
          <p:cNvPr id="28" name="Shape 26"/>
          <p:cNvSpPr/>
          <p:nvPr/>
        </p:nvSpPr>
        <p:spPr>
          <a:xfrm>
            <a:off x="2743200" y="1645920"/>
            <a:ext cx="1645920" cy="640080"/>
          </a:xfrm>
          <a:prstGeom prst="diamond">
            <a:avLst/>
          </a:prstGeom>
          <a:solidFill>
            <a:srgbClr val="F59E0B"/>
          </a:solidFill>
          <a:ln w="12700">
            <a:solidFill>
              <a:srgbClr val="FFFFFF"/>
            </a:solidFill>
            <a:prstDash val="solid"/>
          </a:ln>
          <a:effectLst>
            <a:outerShdw sx="100000" sy="100000" kx="0" ky="0" algn="bl" rotWithShape="0" blurRad="76200" dist="25400" dir="16200000">
              <a:srgbClr val="00000025">
                <a:alpha val="75000"/>
              </a:srgbClr>
            </a:outerShdw>
          </a:effectLst>
        </p:spPr>
      </p:sp>
      <p:sp>
        <p:nvSpPr>
          <p:cNvPr id="29" name="Text 27"/>
          <p:cNvSpPr/>
          <p:nvPr/>
        </p:nvSpPr>
        <p:spPr>
          <a:xfrm>
            <a:off x="2743200" y="1645920"/>
            <a:ext cx="1645920" cy="6400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Power Available?</a:t>
            </a:r>
            <a:endParaRPr lang="en-US" sz="1000" dirty="0"/>
          </a:p>
        </p:txBody>
      </p:sp>
      <p:sp>
        <p:nvSpPr>
          <p:cNvPr id="30" name="Shape 28"/>
          <p:cNvSpPr/>
          <p:nvPr/>
        </p:nvSpPr>
        <p:spPr>
          <a:xfrm>
            <a:off x="4754880" y="1645920"/>
            <a:ext cx="1645920" cy="640080"/>
          </a:xfrm>
          <a:prstGeom prst="diamond">
            <a:avLst/>
          </a:prstGeom>
          <a:solidFill>
            <a:srgbClr val="F59E0B"/>
          </a:solidFill>
          <a:ln w="12700">
            <a:solidFill>
              <a:srgbClr val="FFFFFF"/>
            </a:solidFill>
            <a:prstDash val="solid"/>
          </a:ln>
          <a:effectLst>
            <a:outerShdw sx="100000" sy="100000" kx="0" ky="0" algn="bl" rotWithShape="0" blurRad="76200" dist="25400" dir="16200000">
              <a:srgbClr val="00000025">
                <a:alpha val="75000"/>
              </a:srgbClr>
            </a:outerShdw>
          </a:effectLst>
        </p:spPr>
      </p:sp>
      <p:sp>
        <p:nvSpPr>
          <p:cNvPr id="31" name="Text 29"/>
          <p:cNvSpPr/>
          <p:nvPr/>
        </p:nvSpPr>
        <p:spPr>
          <a:xfrm>
            <a:off x="4754880" y="1645920"/>
            <a:ext cx="1645920" cy="6400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LoRa Signal OK?</a:t>
            </a:r>
            <a:endParaRPr lang="en-US" sz="1000" dirty="0"/>
          </a:p>
        </p:txBody>
      </p:sp>
      <p:sp>
        <p:nvSpPr>
          <p:cNvPr id="32" name="Shape 30"/>
          <p:cNvSpPr/>
          <p:nvPr/>
        </p:nvSpPr>
        <p:spPr>
          <a:xfrm>
            <a:off x="6766560" y="1645920"/>
            <a:ext cx="1645920" cy="640080"/>
          </a:xfrm>
          <a:prstGeom prst="rect">
            <a:avLst>
              <a:gd name="adj" fmla="val 11429"/>
            </a:avLst>
          </a:prstGeom>
          <a:solidFill>
            <a:srgbClr val="3B82F6"/>
          </a:solidFill>
          <a:ln w="12700">
            <a:solidFill>
              <a:srgbClr val="FFFFFF"/>
            </a:solidFill>
            <a:prstDash val="solid"/>
          </a:ln>
          <a:effectLst>
            <a:outerShdw sx="100000" sy="100000" kx="0" ky="0" algn="bl" rotWithShape="0" blurRad="76200" dist="25400" dir="16200000">
              <a:srgbClr val="00000025">
                <a:alpha val="75000"/>
              </a:srgbClr>
            </a:outerShdw>
          </a:effectLst>
        </p:spPr>
      </p:sp>
      <p:sp>
        <p:nvSpPr>
          <p:cNvPr id="33" name="Text 31"/>
          <p:cNvSpPr/>
          <p:nvPr/>
        </p:nvSpPr>
        <p:spPr>
          <a:xfrm>
            <a:off x="6766560" y="1645920"/>
            <a:ext cx="1645920" cy="6400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Activate Relay</a:t>
            </a:r>
            <a:endParaRPr lang="en-US" sz="1000" dirty="0"/>
          </a:p>
        </p:txBody>
      </p:sp>
      <p:sp>
        <p:nvSpPr>
          <p:cNvPr id="34" name="Shape 32"/>
          <p:cNvSpPr/>
          <p:nvPr/>
        </p:nvSpPr>
        <p:spPr>
          <a:xfrm>
            <a:off x="731520" y="2926080"/>
            <a:ext cx="1645920" cy="640080"/>
          </a:xfrm>
          <a:prstGeom prst="rect">
            <a:avLst>
              <a:gd name="adj" fmla="val 11429"/>
            </a:avLst>
          </a:prstGeom>
          <a:solidFill>
            <a:srgbClr val="3B82F6"/>
          </a:solidFill>
          <a:ln w="12700">
            <a:solidFill>
              <a:srgbClr val="FFFFFF"/>
            </a:solidFill>
            <a:prstDash val="solid"/>
          </a:ln>
          <a:effectLst>
            <a:outerShdw sx="100000" sy="100000" kx="0" ky="0" algn="bl" rotWithShape="0" blurRad="76200" dist="25400" dir="16200000">
              <a:srgbClr val="00000025">
                <a:alpha val="75000"/>
              </a:srgbClr>
            </a:outerShdw>
          </a:effectLst>
        </p:spPr>
      </p:sp>
      <p:sp>
        <p:nvSpPr>
          <p:cNvPr id="35" name="Text 33"/>
          <p:cNvSpPr/>
          <p:nvPr/>
        </p:nvSpPr>
        <p:spPr>
          <a:xfrm>
            <a:off x="731520" y="2926080"/>
            <a:ext cx="1645920" cy="6400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Motor ON</a:t>
            </a:r>
            <a:endParaRPr lang="en-US" sz="1000" dirty="0"/>
          </a:p>
        </p:txBody>
      </p:sp>
      <p:sp>
        <p:nvSpPr>
          <p:cNvPr id="36" name="Shape 34"/>
          <p:cNvSpPr/>
          <p:nvPr/>
        </p:nvSpPr>
        <p:spPr>
          <a:xfrm>
            <a:off x="2743200" y="2926080"/>
            <a:ext cx="1645920" cy="640080"/>
          </a:xfrm>
          <a:prstGeom prst="ellipse">
            <a:avLst/>
          </a:prstGeom>
          <a:solidFill>
            <a:srgbClr val="EF4444"/>
          </a:solidFill>
          <a:ln w="12700">
            <a:solidFill>
              <a:srgbClr val="FFFFFF"/>
            </a:solidFill>
            <a:prstDash val="solid"/>
          </a:ln>
          <a:effectLst>
            <a:outerShdw sx="100000" sy="100000" kx="0" ky="0" algn="bl" rotWithShape="0" blurRad="76200" dist="25400" dir="16200000">
              <a:srgbClr val="00000025">
                <a:alpha val="75000"/>
              </a:srgbClr>
            </a:outerShdw>
          </a:effectLst>
        </p:spPr>
      </p:sp>
      <p:sp>
        <p:nvSpPr>
          <p:cNvPr id="37" name="Text 35"/>
          <p:cNvSpPr/>
          <p:nvPr/>
        </p:nvSpPr>
        <p:spPr>
          <a:xfrm>
            <a:off x="2743200" y="2926080"/>
            <a:ext cx="1645920" cy="6400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Stop</a:t>
            </a:r>
            <a:endParaRPr lang="en-US" sz="1000" dirty="0"/>
          </a:p>
        </p:txBody>
      </p:sp>
      <p:sp>
        <p:nvSpPr>
          <p:cNvPr id="38" name="Text 36"/>
          <p:cNvSpPr/>
          <p:nvPr/>
        </p:nvSpPr>
        <p:spPr>
          <a:xfrm>
            <a:off x="457200" y="5715000"/>
            <a:ext cx="8229600" cy="320040"/>
          </a:xfrm>
          <a:prstGeom prst="rect">
            <a:avLst/>
          </a:prstGeom>
          <a:noFill/>
          <a:ln/>
        </p:spPr>
        <p:txBody>
          <a:bodyPr wrap="square" rtlCol="0" anchor="ctr"/>
          <a:lstStyle/>
          <a:p>
            <a:pPr algn="ctr" indent="0" marL="0">
              <a:buNone/>
            </a:pPr>
            <a:r>
              <a:rPr lang="en-US" sz="900" i="1" dirty="0">
                <a:solidFill>
                  <a:srgbClr val="FFFFFF"/>
                </a:solidFill>
                <a:latin typeface="Calibri" pitchFamily="34" charset="0"/>
                <a:ea typeface="Calibri" pitchFamily="34" charset="-122"/>
                <a:cs typeface="Calibri" pitchFamily="34" charset="-120"/>
              </a:rPr>
              <a:t>Visualization of the operational safeguards built into the system, ensuring safe motor operation by validating power availability and LoRa signal integrity.</a:t>
            </a:r>
            <a:endParaRPr lang="en-US" sz="900" dirty="0"/>
          </a:p>
        </p:txBody>
      </p:sp>
      <p:sp>
        <p:nvSpPr>
          <p:cNvPr id="39" name="Shape 37"/>
          <p:cNvSpPr/>
          <p:nvPr/>
        </p:nvSpPr>
        <p:spPr>
          <a:xfrm>
            <a:off x="8366760" y="5897880"/>
            <a:ext cx="457200" cy="457200"/>
          </a:xfrm>
          <a:prstGeom prst="ellipse">
            <a:avLst/>
          </a:prstGeom>
          <a:solidFill>
            <a:srgbClr val="3B82F6"/>
          </a:solidFill>
          <a:ln/>
        </p:spPr>
      </p:sp>
      <p:sp>
        <p:nvSpPr>
          <p:cNvPr id="40" name="Text 38"/>
          <p:cNvSpPr/>
          <p:nvPr/>
        </p:nvSpPr>
        <p:spPr>
          <a:xfrm>
            <a:off x="8366760" y="5897880"/>
            <a:ext cx="457200" cy="457200"/>
          </a:xfrm>
          <a:prstGeom prst="rect">
            <a:avLst/>
          </a:prstGeom>
          <a:noFill/>
          <a:ln/>
        </p:spPr>
        <p:txBody>
          <a:bodyPr wrap="square" rtlCol="0" anchor="ctr"/>
          <a:lstStyle/>
          <a:p>
            <a:pPr algn="ctr" indent="0" marL="0">
              <a:buNone/>
            </a:pPr>
            <a:r>
              <a:rPr lang="en-US" sz="1000" b="1" dirty="0">
                <a:solidFill>
                  <a:srgbClr val="FFFFFF"/>
                </a:solidFill>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7132320" y="-731520"/>
            <a:ext cx="2743200" cy="2743200"/>
          </a:xfrm>
          <a:prstGeom prst="ellipse">
            <a:avLst/>
          </a:prstGeom>
          <a:solidFill>
            <a:srgbClr val="3B82F6">
              <a:alpha val="12000"/>
            </a:srgbClr>
          </a:solidFill>
          <a:ln/>
        </p:spPr>
      </p:sp>
      <p:sp>
        <p:nvSpPr>
          <p:cNvPr id="3" name="Shape 1"/>
          <p:cNvSpPr/>
          <p:nvPr/>
        </p:nvSpPr>
        <p:spPr>
          <a:xfrm>
            <a:off x="-1097280" y="5029200"/>
            <a:ext cx="2286000" cy="2286000"/>
          </a:xfrm>
          <a:prstGeom prst="ellipse">
            <a:avLst/>
          </a:prstGeom>
          <a:solidFill>
            <a:srgbClr val="06B6D4">
              <a:alpha val="12000"/>
            </a:srgbClr>
          </a:solidFill>
          <a:ln/>
        </p:spPr>
      </p:sp>
      <p:sp>
        <p:nvSpPr>
          <p:cNvPr id="4" name="Shape 2"/>
          <p:cNvSpPr/>
          <p:nvPr/>
        </p:nvSpPr>
        <p:spPr>
          <a:xfrm>
            <a:off x="0" y="0"/>
            <a:ext cx="12192000" cy="960120"/>
          </a:xfrm>
          <a:prstGeom prst="rect">
            <a:avLst/>
          </a:prstGeom>
          <a:solidFill>
            <a:srgbClr val="3B82F6"/>
          </a:solidFill>
          <a:ln/>
        </p:spPr>
      </p:sp>
      <p:sp>
        <p:nvSpPr>
          <p:cNvPr id="5" name="Text 3"/>
          <p:cNvSpPr/>
          <p:nvPr/>
        </p:nvSpPr>
        <p:spPr>
          <a:xfrm>
            <a:off x="548640" y="109728"/>
            <a:ext cx="7772400" cy="73152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Signal Flow Sequence</a:t>
            </a:r>
            <a:endParaRPr lang="en-US" sz="2400" dirty="0"/>
          </a:p>
        </p:txBody>
      </p:sp>
      <p:sp>
        <p:nvSpPr>
          <p:cNvPr id="6" name="Shape 4"/>
          <p:cNvSpPr/>
          <p:nvPr/>
        </p:nvSpPr>
        <p:spPr>
          <a:xfrm>
            <a:off x="731520" y="3474720"/>
            <a:ext cx="7680960" cy="45720"/>
          </a:xfrm>
          <a:prstGeom prst="rect">
            <a:avLst/>
          </a:prstGeom>
          <a:solidFill>
            <a:srgbClr val="3B82F6"/>
          </a:solidFill>
          <a:ln/>
        </p:spPr>
      </p:sp>
      <p:sp>
        <p:nvSpPr>
          <p:cNvPr id="7" name="Shape 5"/>
          <p:cNvSpPr/>
          <p:nvPr/>
        </p:nvSpPr>
        <p:spPr>
          <a:xfrm>
            <a:off x="914400" y="3337560"/>
            <a:ext cx="365760" cy="365760"/>
          </a:xfrm>
          <a:prstGeom prst="ellipse">
            <a:avLst/>
          </a:prstGeom>
          <a:solidFill>
            <a:srgbClr val="3B82F6"/>
          </a:solidFill>
          <a:ln w="25400">
            <a:solidFill>
              <a:srgbClr val="FFFFFF"/>
            </a:solidFill>
            <a:prstDash val="solid"/>
          </a:ln>
          <a:effectLst>
            <a:outerShdw sx="100000" sy="100000" kx="0" ky="0" algn="bl" rotWithShape="0" blurRad="38100" dist="12700" dir="16200000">
              <a:srgbClr val="00000018">
                <a:alpha val="75000"/>
              </a:srgbClr>
            </a:outerShdw>
          </a:effectLst>
        </p:spPr>
      </p:sp>
      <p:sp>
        <p:nvSpPr>
          <p:cNvPr id="8" name="Shape 6"/>
          <p:cNvSpPr/>
          <p:nvPr/>
        </p:nvSpPr>
        <p:spPr>
          <a:xfrm>
            <a:off x="1088136" y="2560320"/>
            <a:ext cx="18288" cy="777240"/>
          </a:xfrm>
          <a:prstGeom prst="rect">
            <a:avLst/>
          </a:prstGeom>
          <a:solidFill>
            <a:srgbClr val="4A4F5E"/>
          </a:solidFill>
          <a:ln/>
        </p:spPr>
      </p:sp>
      <p:sp>
        <p:nvSpPr>
          <p:cNvPr id="9" name="Shape 7"/>
          <p:cNvSpPr/>
          <p:nvPr/>
        </p:nvSpPr>
        <p:spPr>
          <a:xfrm>
            <a:off x="594360" y="1920240"/>
            <a:ext cx="1005840" cy="411480"/>
          </a:xfrm>
          <a:prstGeom prst="roundRect">
            <a:avLst>
              <a:gd name="adj" fmla="val 13333"/>
            </a:avLst>
          </a:prstGeom>
          <a:solidFill>
            <a:srgbClr val="3B82F6"/>
          </a:solidFill>
          <a:ln/>
        </p:spPr>
      </p:sp>
      <p:sp>
        <p:nvSpPr>
          <p:cNvPr id="10" name="Text 8"/>
          <p:cNvSpPr/>
          <p:nvPr/>
        </p:nvSpPr>
        <p:spPr>
          <a:xfrm>
            <a:off x="594360" y="1920240"/>
            <a:ext cx="1005840" cy="411480"/>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User</a:t>
            </a:r>
            <a:endParaRPr lang="en-US" sz="1000" dirty="0"/>
          </a:p>
        </p:txBody>
      </p:sp>
      <p:sp>
        <p:nvSpPr>
          <p:cNvPr id="11" name="Text 9"/>
          <p:cNvSpPr/>
          <p:nvPr/>
        </p:nvSpPr>
        <p:spPr>
          <a:xfrm>
            <a:off x="457200" y="2377440"/>
            <a:ext cx="1280160" cy="548640"/>
          </a:xfrm>
          <a:prstGeom prst="rect">
            <a:avLst/>
          </a:prstGeom>
          <a:noFill/>
          <a:ln/>
        </p:spPr>
        <p:txBody>
          <a:bodyPr wrap="square"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Start/Stop Command is initiated from interface.</a:t>
            </a:r>
            <a:endParaRPr lang="en-US" sz="900" dirty="0"/>
          </a:p>
        </p:txBody>
      </p:sp>
      <p:sp>
        <p:nvSpPr>
          <p:cNvPr id="12" name="Shape 10"/>
          <p:cNvSpPr/>
          <p:nvPr/>
        </p:nvSpPr>
        <p:spPr>
          <a:xfrm>
            <a:off x="2133600" y="3337560"/>
            <a:ext cx="365760" cy="365760"/>
          </a:xfrm>
          <a:prstGeom prst="ellipse">
            <a:avLst/>
          </a:prstGeom>
          <a:solidFill>
            <a:srgbClr val="3B82F6"/>
          </a:solidFill>
          <a:ln w="25400">
            <a:solidFill>
              <a:srgbClr val="FFFFFF"/>
            </a:solidFill>
            <a:prstDash val="solid"/>
          </a:ln>
          <a:effectLst>
            <a:outerShdw sx="100000" sy="100000" kx="0" ky="0" algn="bl" rotWithShape="0" blurRad="38100" dist="12700" dir="16200000">
              <a:srgbClr val="00000018">
                <a:alpha val="75000"/>
              </a:srgbClr>
            </a:outerShdw>
          </a:effectLst>
        </p:spPr>
      </p:sp>
      <p:sp>
        <p:nvSpPr>
          <p:cNvPr id="13" name="Shape 11"/>
          <p:cNvSpPr/>
          <p:nvPr/>
        </p:nvSpPr>
        <p:spPr>
          <a:xfrm>
            <a:off x="2307336" y="3749040"/>
            <a:ext cx="18288" cy="777240"/>
          </a:xfrm>
          <a:prstGeom prst="rect">
            <a:avLst/>
          </a:prstGeom>
          <a:solidFill>
            <a:srgbClr val="4A4F5E"/>
          </a:solidFill>
          <a:ln/>
        </p:spPr>
      </p:sp>
      <p:sp>
        <p:nvSpPr>
          <p:cNvPr id="14" name="Shape 12"/>
          <p:cNvSpPr/>
          <p:nvPr/>
        </p:nvSpPr>
        <p:spPr>
          <a:xfrm>
            <a:off x="1813560" y="4572000"/>
            <a:ext cx="1005840" cy="411480"/>
          </a:xfrm>
          <a:prstGeom prst="roundRect">
            <a:avLst>
              <a:gd name="adj" fmla="val 13333"/>
            </a:avLst>
          </a:prstGeom>
          <a:solidFill>
            <a:srgbClr val="3B82F6"/>
          </a:solidFill>
          <a:ln/>
        </p:spPr>
      </p:sp>
      <p:sp>
        <p:nvSpPr>
          <p:cNvPr id="15" name="Text 13"/>
          <p:cNvSpPr/>
          <p:nvPr/>
        </p:nvSpPr>
        <p:spPr>
          <a:xfrm>
            <a:off x="1813560" y="4572000"/>
            <a:ext cx="1005840" cy="411480"/>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LoRa Transmitter</a:t>
            </a:r>
            <a:endParaRPr lang="en-US" sz="1000" dirty="0"/>
          </a:p>
        </p:txBody>
      </p:sp>
      <p:sp>
        <p:nvSpPr>
          <p:cNvPr id="16" name="Text 14"/>
          <p:cNvSpPr/>
          <p:nvPr/>
        </p:nvSpPr>
        <p:spPr>
          <a:xfrm>
            <a:off x="1676400" y="4023360"/>
            <a:ext cx="1280160" cy="548640"/>
          </a:xfrm>
          <a:prstGeom prst="rect">
            <a:avLst/>
          </a:prstGeom>
          <a:noFill/>
          <a:ln/>
        </p:spPr>
        <p:txBody>
          <a:bodyPr wrap="square"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LoRa Data Packet is transmitted wirelessly through LoRa network.</a:t>
            </a:r>
            <a:endParaRPr lang="en-US" sz="900" dirty="0"/>
          </a:p>
        </p:txBody>
      </p:sp>
      <p:sp>
        <p:nvSpPr>
          <p:cNvPr id="17" name="Shape 15"/>
          <p:cNvSpPr/>
          <p:nvPr/>
        </p:nvSpPr>
        <p:spPr>
          <a:xfrm>
            <a:off x="3352800" y="3337560"/>
            <a:ext cx="365760" cy="365760"/>
          </a:xfrm>
          <a:prstGeom prst="ellipse">
            <a:avLst/>
          </a:prstGeom>
          <a:solidFill>
            <a:srgbClr val="3B82F6"/>
          </a:solidFill>
          <a:ln w="25400">
            <a:solidFill>
              <a:srgbClr val="FFFFFF"/>
            </a:solidFill>
            <a:prstDash val="solid"/>
          </a:ln>
          <a:effectLst>
            <a:outerShdw sx="100000" sy="100000" kx="0" ky="0" algn="bl" rotWithShape="0" blurRad="38100" dist="12700" dir="16200000">
              <a:srgbClr val="00000018">
                <a:alpha val="75000"/>
              </a:srgbClr>
            </a:outerShdw>
          </a:effectLst>
        </p:spPr>
      </p:sp>
      <p:sp>
        <p:nvSpPr>
          <p:cNvPr id="18" name="Shape 16"/>
          <p:cNvSpPr/>
          <p:nvPr/>
        </p:nvSpPr>
        <p:spPr>
          <a:xfrm>
            <a:off x="3526536" y="2560320"/>
            <a:ext cx="18288" cy="777240"/>
          </a:xfrm>
          <a:prstGeom prst="rect">
            <a:avLst/>
          </a:prstGeom>
          <a:solidFill>
            <a:srgbClr val="4A4F5E"/>
          </a:solidFill>
          <a:ln/>
        </p:spPr>
      </p:sp>
      <p:sp>
        <p:nvSpPr>
          <p:cNvPr id="19" name="Shape 17"/>
          <p:cNvSpPr/>
          <p:nvPr/>
        </p:nvSpPr>
        <p:spPr>
          <a:xfrm>
            <a:off x="3032760" y="1920240"/>
            <a:ext cx="1005840" cy="411480"/>
          </a:xfrm>
          <a:prstGeom prst="roundRect">
            <a:avLst>
              <a:gd name="adj" fmla="val 13333"/>
            </a:avLst>
          </a:prstGeom>
          <a:solidFill>
            <a:srgbClr val="3B82F6"/>
          </a:solidFill>
          <a:ln/>
        </p:spPr>
      </p:sp>
      <p:sp>
        <p:nvSpPr>
          <p:cNvPr id="20" name="Text 18"/>
          <p:cNvSpPr/>
          <p:nvPr/>
        </p:nvSpPr>
        <p:spPr>
          <a:xfrm>
            <a:off x="3032760" y="1920240"/>
            <a:ext cx="1005840" cy="411480"/>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LoRa Receiver</a:t>
            </a:r>
            <a:endParaRPr lang="en-US" sz="1000" dirty="0"/>
          </a:p>
        </p:txBody>
      </p:sp>
      <p:sp>
        <p:nvSpPr>
          <p:cNvPr id="21" name="Text 19"/>
          <p:cNvSpPr/>
          <p:nvPr/>
        </p:nvSpPr>
        <p:spPr>
          <a:xfrm>
            <a:off x="2895600" y="2377440"/>
            <a:ext cx="1280160" cy="548640"/>
          </a:xfrm>
          <a:prstGeom prst="rect">
            <a:avLst/>
          </a:prstGeom>
          <a:noFill/>
          <a:ln/>
        </p:spPr>
        <p:txBody>
          <a:bodyPr wrap="square"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Signal is validated upon secure receipt to confirm the transmission.</a:t>
            </a:r>
            <a:endParaRPr lang="en-US" sz="900" dirty="0"/>
          </a:p>
        </p:txBody>
      </p:sp>
      <p:sp>
        <p:nvSpPr>
          <p:cNvPr id="22" name="Shape 20"/>
          <p:cNvSpPr/>
          <p:nvPr/>
        </p:nvSpPr>
        <p:spPr>
          <a:xfrm>
            <a:off x="4572000" y="3337560"/>
            <a:ext cx="365760" cy="365760"/>
          </a:xfrm>
          <a:prstGeom prst="ellipse">
            <a:avLst/>
          </a:prstGeom>
          <a:solidFill>
            <a:srgbClr val="3B82F6"/>
          </a:solidFill>
          <a:ln w="25400">
            <a:solidFill>
              <a:srgbClr val="FFFFFF"/>
            </a:solidFill>
            <a:prstDash val="solid"/>
          </a:ln>
          <a:effectLst>
            <a:outerShdw sx="100000" sy="100000" kx="0" ky="0" algn="bl" rotWithShape="0" blurRad="38100" dist="12700" dir="16200000">
              <a:srgbClr val="00000018">
                <a:alpha val="75000"/>
              </a:srgbClr>
            </a:outerShdw>
          </a:effectLst>
        </p:spPr>
      </p:sp>
      <p:sp>
        <p:nvSpPr>
          <p:cNvPr id="23" name="Shape 21"/>
          <p:cNvSpPr/>
          <p:nvPr/>
        </p:nvSpPr>
        <p:spPr>
          <a:xfrm>
            <a:off x="4745736" y="3749040"/>
            <a:ext cx="18288" cy="777240"/>
          </a:xfrm>
          <a:prstGeom prst="rect">
            <a:avLst/>
          </a:prstGeom>
          <a:solidFill>
            <a:srgbClr val="4A4F5E"/>
          </a:solidFill>
          <a:ln/>
        </p:spPr>
      </p:sp>
      <p:sp>
        <p:nvSpPr>
          <p:cNvPr id="24" name="Shape 22"/>
          <p:cNvSpPr/>
          <p:nvPr/>
        </p:nvSpPr>
        <p:spPr>
          <a:xfrm>
            <a:off x="4251960" y="4572000"/>
            <a:ext cx="1005840" cy="411480"/>
          </a:xfrm>
          <a:prstGeom prst="roundRect">
            <a:avLst>
              <a:gd name="adj" fmla="val 13333"/>
            </a:avLst>
          </a:prstGeom>
          <a:solidFill>
            <a:srgbClr val="3B82F6"/>
          </a:solidFill>
          <a:ln/>
        </p:spPr>
      </p:sp>
      <p:sp>
        <p:nvSpPr>
          <p:cNvPr id="25" name="Text 23"/>
          <p:cNvSpPr/>
          <p:nvPr/>
        </p:nvSpPr>
        <p:spPr>
          <a:xfrm>
            <a:off x="4251960" y="4572000"/>
            <a:ext cx="1005840" cy="411480"/>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MCU</a:t>
            </a:r>
            <a:endParaRPr lang="en-US" sz="1000" dirty="0"/>
          </a:p>
        </p:txBody>
      </p:sp>
      <p:sp>
        <p:nvSpPr>
          <p:cNvPr id="26" name="Text 24"/>
          <p:cNvSpPr/>
          <p:nvPr/>
        </p:nvSpPr>
        <p:spPr>
          <a:xfrm>
            <a:off x="4114800" y="4023360"/>
            <a:ext cx="1280160" cy="548640"/>
          </a:xfrm>
          <a:prstGeom prst="rect">
            <a:avLst/>
          </a:prstGeom>
          <a:noFill/>
          <a:ln/>
        </p:spPr>
        <p:txBody>
          <a:bodyPr wrap="square"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Microcontroller logic enables Trigger ON/OFF relay status.</a:t>
            </a:r>
            <a:endParaRPr lang="en-US" sz="900" dirty="0"/>
          </a:p>
        </p:txBody>
      </p:sp>
      <p:sp>
        <p:nvSpPr>
          <p:cNvPr id="27" name="Shape 25"/>
          <p:cNvSpPr/>
          <p:nvPr/>
        </p:nvSpPr>
        <p:spPr>
          <a:xfrm>
            <a:off x="5791200" y="3337560"/>
            <a:ext cx="365760" cy="365760"/>
          </a:xfrm>
          <a:prstGeom prst="ellipse">
            <a:avLst/>
          </a:prstGeom>
          <a:solidFill>
            <a:srgbClr val="3B82F6"/>
          </a:solidFill>
          <a:ln w="25400">
            <a:solidFill>
              <a:srgbClr val="FFFFFF"/>
            </a:solidFill>
            <a:prstDash val="solid"/>
          </a:ln>
          <a:effectLst>
            <a:outerShdw sx="100000" sy="100000" kx="0" ky="0" algn="bl" rotWithShape="0" blurRad="38100" dist="12700" dir="16200000">
              <a:srgbClr val="00000018">
                <a:alpha val="75000"/>
              </a:srgbClr>
            </a:outerShdw>
          </a:effectLst>
        </p:spPr>
      </p:sp>
      <p:sp>
        <p:nvSpPr>
          <p:cNvPr id="28" name="Shape 26"/>
          <p:cNvSpPr/>
          <p:nvPr/>
        </p:nvSpPr>
        <p:spPr>
          <a:xfrm>
            <a:off x="5964936" y="2560320"/>
            <a:ext cx="18288" cy="777240"/>
          </a:xfrm>
          <a:prstGeom prst="rect">
            <a:avLst/>
          </a:prstGeom>
          <a:solidFill>
            <a:srgbClr val="4A4F5E"/>
          </a:solidFill>
          <a:ln/>
        </p:spPr>
      </p:sp>
      <p:sp>
        <p:nvSpPr>
          <p:cNvPr id="29" name="Shape 27"/>
          <p:cNvSpPr/>
          <p:nvPr/>
        </p:nvSpPr>
        <p:spPr>
          <a:xfrm>
            <a:off x="5471160" y="1920240"/>
            <a:ext cx="1005840" cy="411480"/>
          </a:xfrm>
          <a:prstGeom prst="roundRect">
            <a:avLst>
              <a:gd name="adj" fmla="val 13333"/>
            </a:avLst>
          </a:prstGeom>
          <a:solidFill>
            <a:srgbClr val="3B82F6"/>
          </a:solidFill>
          <a:ln/>
        </p:spPr>
      </p:sp>
      <p:sp>
        <p:nvSpPr>
          <p:cNvPr id="30" name="Text 28"/>
          <p:cNvSpPr/>
          <p:nvPr/>
        </p:nvSpPr>
        <p:spPr>
          <a:xfrm>
            <a:off x="5471160" y="1920240"/>
            <a:ext cx="1005840" cy="411480"/>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Relay</a:t>
            </a:r>
            <a:endParaRPr lang="en-US" sz="1000" dirty="0"/>
          </a:p>
        </p:txBody>
      </p:sp>
      <p:sp>
        <p:nvSpPr>
          <p:cNvPr id="31" name="Text 29"/>
          <p:cNvSpPr/>
          <p:nvPr/>
        </p:nvSpPr>
        <p:spPr>
          <a:xfrm>
            <a:off x="5334000" y="2377440"/>
            <a:ext cx="1280160" cy="548640"/>
          </a:xfrm>
          <a:prstGeom prst="rect">
            <a:avLst/>
          </a:prstGeom>
          <a:noFill/>
          <a:ln/>
        </p:spPr>
        <p:txBody>
          <a:bodyPr wrap="square"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Relay module switches to enable secure Power Control.</a:t>
            </a:r>
            <a:endParaRPr lang="en-US" sz="900" dirty="0"/>
          </a:p>
        </p:txBody>
      </p:sp>
      <p:sp>
        <p:nvSpPr>
          <p:cNvPr id="32" name="Shape 30"/>
          <p:cNvSpPr/>
          <p:nvPr/>
        </p:nvSpPr>
        <p:spPr>
          <a:xfrm>
            <a:off x="7010400" y="3337560"/>
            <a:ext cx="365760" cy="365760"/>
          </a:xfrm>
          <a:prstGeom prst="ellipse">
            <a:avLst/>
          </a:prstGeom>
          <a:solidFill>
            <a:srgbClr val="3B82F6"/>
          </a:solidFill>
          <a:ln w="25400">
            <a:solidFill>
              <a:srgbClr val="FFFFFF"/>
            </a:solidFill>
            <a:prstDash val="solid"/>
          </a:ln>
          <a:effectLst>
            <a:outerShdw sx="100000" sy="100000" kx="0" ky="0" algn="bl" rotWithShape="0" blurRad="38100" dist="12700" dir="16200000">
              <a:srgbClr val="00000018">
                <a:alpha val="75000"/>
              </a:srgbClr>
            </a:outerShdw>
          </a:effectLst>
        </p:spPr>
      </p:sp>
      <p:sp>
        <p:nvSpPr>
          <p:cNvPr id="33" name="Shape 31"/>
          <p:cNvSpPr/>
          <p:nvPr/>
        </p:nvSpPr>
        <p:spPr>
          <a:xfrm>
            <a:off x="7184136" y="3749040"/>
            <a:ext cx="18288" cy="777240"/>
          </a:xfrm>
          <a:prstGeom prst="rect">
            <a:avLst/>
          </a:prstGeom>
          <a:solidFill>
            <a:srgbClr val="4A4F5E"/>
          </a:solidFill>
          <a:ln/>
        </p:spPr>
      </p:sp>
      <p:sp>
        <p:nvSpPr>
          <p:cNvPr id="34" name="Shape 32"/>
          <p:cNvSpPr/>
          <p:nvPr/>
        </p:nvSpPr>
        <p:spPr>
          <a:xfrm>
            <a:off x="6690360" y="4572000"/>
            <a:ext cx="1005840" cy="411480"/>
          </a:xfrm>
          <a:prstGeom prst="roundRect">
            <a:avLst>
              <a:gd name="adj" fmla="val 13333"/>
            </a:avLst>
          </a:prstGeom>
          <a:solidFill>
            <a:srgbClr val="3B82F6"/>
          </a:solidFill>
          <a:ln/>
        </p:spPr>
      </p:sp>
      <p:sp>
        <p:nvSpPr>
          <p:cNvPr id="35" name="Text 33"/>
          <p:cNvSpPr/>
          <p:nvPr/>
        </p:nvSpPr>
        <p:spPr>
          <a:xfrm>
            <a:off x="6690360" y="4572000"/>
            <a:ext cx="1005840" cy="411480"/>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Motor</a:t>
            </a:r>
            <a:endParaRPr lang="en-US" sz="1000" dirty="0"/>
          </a:p>
        </p:txBody>
      </p:sp>
      <p:sp>
        <p:nvSpPr>
          <p:cNvPr id="36" name="Text 34"/>
          <p:cNvSpPr/>
          <p:nvPr/>
        </p:nvSpPr>
        <p:spPr>
          <a:xfrm>
            <a:off x="6553200" y="4023360"/>
            <a:ext cx="1280160" cy="548640"/>
          </a:xfrm>
          <a:prstGeom prst="rect">
            <a:avLst/>
          </a:prstGeom>
          <a:noFill/>
          <a:ln/>
        </p:spPr>
        <p:txBody>
          <a:bodyPr wrap="square"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Motor on/off is activated based on relay.</a:t>
            </a:r>
            <a:endParaRPr lang="en-US" sz="900" dirty="0"/>
          </a:p>
        </p:txBody>
      </p:sp>
      <p:sp>
        <p:nvSpPr>
          <p:cNvPr id="37" name="Shape 35"/>
          <p:cNvSpPr/>
          <p:nvPr/>
        </p:nvSpPr>
        <p:spPr>
          <a:xfrm>
            <a:off x="8366760" y="5897880"/>
            <a:ext cx="457200" cy="457200"/>
          </a:xfrm>
          <a:prstGeom prst="ellipse">
            <a:avLst/>
          </a:prstGeom>
          <a:solidFill>
            <a:srgbClr val="3B82F6"/>
          </a:solidFill>
          <a:ln/>
        </p:spPr>
      </p:sp>
      <p:sp>
        <p:nvSpPr>
          <p:cNvPr id="38" name="Text 36"/>
          <p:cNvSpPr/>
          <p:nvPr/>
        </p:nvSpPr>
        <p:spPr>
          <a:xfrm>
            <a:off x="8366760" y="5897880"/>
            <a:ext cx="457200" cy="457200"/>
          </a:xfrm>
          <a:prstGeom prst="rect">
            <a:avLst/>
          </a:prstGeom>
          <a:noFill/>
          <a:ln/>
        </p:spPr>
        <p:txBody>
          <a:bodyPr wrap="square" rtlCol="0" anchor="ctr"/>
          <a:lstStyle/>
          <a:p>
            <a:pPr algn="ctr" indent="0" marL="0">
              <a:buNone/>
            </a:pPr>
            <a:r>
              <a:rPr lang="en-US" sz="1000" b="1" dirty="0">
                <a:solidFill>
                  <a:srgbClr val="FFFFFF"/>
                </a:solidFill>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8229600" y="0"/>
            <a:ext cx="914400" cy="6858000"/>
          </a:xfrm>
          <a:prstGeom prst="rect">
            <a:avLst/>
          </a:prstGeom>
          <a:solidFill>
            <a:srgbClr val="3B82F6">
              <a:alpha val="8000"/>
            </a:srgbClr>
          </a:solidFill>
          <a:ln/>
        </p:spPr>
      </p:sp>
      <p:sp>
        <p:nvSpPr>
          <p:cNvPr id="3" name="Shape 1"/>
          <p:cNvSpPr/>
          <p:nvPr/>
        </p:nvSpPr>
        <p:spPr>
          <a:xfrm>
            <a:off x="-548640" y="-548640"/>
            <a:ext cx="1645920" cy="1645920"/>
          </a:xfrm>
          <a:prstGeom prst="ellipse">
            <a:avLst/>
          </a:prstGeom>
          <a:solidFill>
            <a:srgbClr val="06B6D4">
              <a:alpha val="10000"/>
            </a:srgbClr>
          </a:solidFill>
          <a:ln/>
        </p:spPr>
      </p:sp>
      <p:sp>
        <p:nvSpPr>
          <p:cNvPr id="4" name="Shape 2"/>
          <p:cNvSpPr/>
          <p:nvPr/>
        </p:nvSpPr>
        <p:spPr>
          <a:xfrm>
            <a:off x="0" y="0"/>
            <a:ext cx="12192000" cy="960120"/>
          </a:xfrm>
          <a:prstGeom prst="rect">
            <a:avLst/>
          </a:prstGeom>
          <a:solidFill>
            <a:srgbClr val="3B82F6"/>
          </a:solidFill>
          <a:ln/>
        </p:spPr>
      </p:sp>
      <p:sp>
        <p:nvSpPr>
          <p:cNvPr id="5" name="Text 3"/>
          <p:cNvSpPr/>
          <p:nvPr/>
        </p:nvSpPr>
        <p:spPr>
          <a:xfrm>
            <a:off x="548640" y="109728"/>
            <a:ext cx="7772400" cy="73152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Performance Metrics for Wireless Motor Control</a:t>
            </a:r>
            <a:endParaRPr lang="en-US" sz="2400" dirty="0"/>
          </a:p>
        </p:txBody>
      </p:sp>
      <p:sp>
        <p:nvSpPr>
          <p:cNvPr id="6" name="Shape 4"/>
          <p:cNvSpPr/>
          <p:nvPr/>
        </p:nvSpPr>
        <p:spPr>
          <a:xfrm>
            <a:off x="411480" y="1645920"/>
            <a:ext cx="1874520" cy="3931920"/>
          </a:xfrm>
          <a:prstGeom prst="roundRect">
            <a:avLst>
              <a:gd name="adj" fmla="val 5854"/>
            </a:avLst>
          </a:prstGeom>
          <a:solidFill>
            <a:srgbClr val="1E293B">
              <a:alpha val="80000"/>
            </a:srgbClr>
          </a:solidFill>
          <a:ln w="19050">
            <a:solidFill>
              <a:srgbClr val="3B82F6"/>
            </a:solidFill>
            <a:prstDash val="solid"/>
          </a:ln>
          <a:effectLst>
            <a:outerShdw sx="100000" sy="100000" kx="0" ky="0" algn="bl" rotWithShape="0" blurRad="63500" dist="25400" dir="16200000">
              <a:srgbClr val="00000012">
                <a:alpha val="75000"/>
              </a:srgbClr>
            </a:outerShdw>
          </a:effectLst>
        </p:spPr>
      </p:sp>
      <p:sp>
        <p:nvSpPr>
          <p:cNvPr id="7" name="Shape 5"/>
          <p:cNvSpPr/>
          <p:nvPr/>
        </p:nvSpPr>
        <p:spPr>
          <a:xfrm>
            <a:off x="411480" y="1645920"/>
            <a:ext cx="1874520" cy="64008"/>
          </a:xfrm>
          <a:prstGeom prst="rect">
            <a:avLst/>
          </a:prstGeom>
          <a:solidFill>
            <a:srgbClr val="3B82F6"/>
          </a:solidFill>
          <a:ln/>
        </p:spPr>
      </p:sp>
      <p:sp>
        <p:nvSpPr>
          <p:cNvPr id="8" name="Text 6"/>
          <p:cNvSpPr/>
          <p:nvPr/>
        </p:nvSpPr>
        <p:spPr>
          <a:xfrm>
            <a:off x="411480" y="2103120"/>
            <a:ext cx="1874520" cy="1828800"/>
          </a:xfrm>
          <a:prstGeom prst="rect">
            <a:avLst/>
          </a:prstGeom>
          <a:noFill/>
          <a:ln/>
        </p:spPr>
        <p:txBody>
          <a:bodyPr wrap="square" rtlCol="0" anchor="ctr"/>
          <a:lstStyle/>
          <a:p>
            <a:pPr algn="ctr" indent="0" marL="0">
              <a:buNone/>
            </a:pPr>
            <a:r>
              <a:rPr lang="en-US" sz="3800" b="1" dirty="0">
                <a:solidFill>
                  <a:srgbClr val="3B82F6"/>
                </a:solidFill>
                <a:latin typeface="Segoe UI" pitchFamily="34" charset="0"/>
                <a:ea typeface="Segoe UI" pitchFamily="34" charset="-122"/>
                <a:cs typeface="Segoe UI" pitchFamily="34" charset="-120"/>
              </a:rPr>
              <a:t>98%</a:t>
            </a:r>
            <a:endParaRPr lang="en-US" sz="3800" dirty="0"/>
          </a:p>
        </p:txBody>
      </p:sp>
      <p:sp>
        <p:nvSpPr>
          <p:cNvPr id="9" name="Text 7"/>
          <p:cNvSpPr/>
          <p:nvPr/>
        </p:nvSpPr>
        <p:spPr>
          <a:xfrm>
            <a:off x="548640" y="4114800"/>
            <a:ext cx="1600200" cy="1188720"/>
          </a:xfrm>
          <a:prstGeom prst="rect">
            <a:avLst/>
          </a:prstGeom>
          <a:noFill/>
          <a:ln/>
        </p:spPr>
        <p:txBody>
          <a:bodyPr wrap="square"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Successful Command Transmission Rate</a:t>
            </a:r>
            <a:endParaRPr lang="en-US" sz="1200" dirty="0"/>
          </a:p>
        </p:txBody>
      </p:sp>
      <p:sp>
        <p:nvSpPr>
          <p:cNvPr id="10" name="Shape 8"/>
          <p:cNvSpPr/>
          <p:nvPr/>
        </p:nvSpPr>
        <p:spPr>
          <a:xfrm>
            <a:off x="2560320" y="1645920"/>
            <a:ext cx="1874520" cy="3931920"/>
          </a:xfrm>
          <a:prstGeom prst="roundRect">
            <a:avLst>
              <a:gd name="adj" fmla="val 5854"/>
            </a:avLst>
          </a:prstGeom>
          <a:solidFill>
            <a:srgbClr val="1E293B">
              <a:alpha val="80000"/>
            </a:srgbClr>
          </a:solidFill>
          <a:ln w="19050">
            <a:solidFill>
              <a:srgbClr val="3B82F6"/>
            </a:solidFill>
            <a:prstDash val="solid"/>
          </a:ln>
          <a:effectLst>
            <a:outerShdw sx="100000" sy="100000" kx="0" ky="0" algn="bl" rotWithShape="0" blurRad="63500" dist="25400" dir="16200000">
              <a:srgbClr val="00000012">
                <a:alpha val="75000"/>
              </a:srgbClr>
            </a:outerShdw>
          </a:effectLst>
        </p:spPr>
      </p:sp>
      <p:sp>
        <p:nvSpPr>
          <p:cNvPr id="11" name="Shape 9"/>
          <p:cNvSpPr/>
          <p:nvPr/>
        </p:nvSpPr>
        <p:spPr>
          <a:xfrm>
            <a:off x="2560320" y="1645920"/>
            <a:ext cx="1874520" cy="64008"/>
          </a:xfrm>
          <a:prstGeom prst="rect">
            <a:avLst/>
          </a:prstGeom>
          <a:solidFill>
            <a:srgbClr val="3B82F6"/>
          </a:solidFill>
          <a:ln/>
        </p:spPr>
      </p:sp>
      <p:sp>
        <p:nvSpPr>
          <p:cNvPr id="12" name="Text 10"/>
          <p:cNvSpPr/>
          <p:nvPr/>
        </p:nvSpPr>
        <p:spPr>
          <a:xfrm>
            <a:off x="2560320" y="2103120"/>
            <a:ext cx="1874520" cy="1828800"/>
          </a:xfrm>
          <a:prstGeom prst="rect">
            <a:avLst/>
          </a:prstGeom>
          <a:noFill/>
          <a:ln/>
        </p:spPr>
        <p:txBody>
          <a:bodyPr wrap="square" rtlCol="0" anchor="ctr"/>
          <a:lstStyle/>
          <a:p>
            <a:pPr algn="ctr" indent="0" marL="0">
              <a:buNone/>
            </a:pPr>
            <a:r>
              <a:rPr lang="en-US" sz="3800" b="1" dirty="0">
                <a:solidFill>
                  <a:srgbClr val="3B82F6"/>
                </a:solidFill>
                <a:latin typeface="Segoe UI" pitchFamily="34" charset="0"/>
                <a:ea typeface="Segoe UI" pitchFamily="34" charset="-122"/>
                <a:cs typeface="Segoe UI" pitchFamily="34" charset="-120"/>
              </a:rPr>
              <a:t>2.5 km</a:t>
            </a:r>
            <a:endParaRPr lang="en-US" sz="3800" dirty="0"/>
          </a:p>
        </p:txBody>
      </p:sp>
      <p:sp>
        <p:nvSpPr>
          <p:cNvPr id="13" name="Text 11"/>
          <p:cNvSpPr/>
          <p:nvPr/>
        </p:nvSpPr>
        <p:spPr>
          <a:xfrm>
            <a:off x="2697480" y="4114800"/>
            <a:ext cx="1600200" cy="1188720"/>
          </a:xfrm>
          <a:prstGeom prst="rect">
            <a:avLst/>
          </a:prstGeom>
          <a:noFill/>
          <a:ln/>
        </p:spPr>
        <p:txBody>
          <a:bodyPr wrap="square"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Maximum Operational Range in Urban Environment</a:t>
            </a:r>
            <a:endParaRPr lang="en-US" sz="1200" dirty="0"/>
          </a:p>
        </p:txBody>
      </p:sp>
      <p:sp>
        <p:nvSpPr>
          <p:cNvPr id="14" name="Shape 12"/>
          <p:cNvSpPr/>
          <p:nvPr/>
        </p:nvSpPr>
        <p:spPr>
          <a:xfrm>
            <a:off x="4709160" y="1645920"/>
            <a:ext cx="1874520" cy="3931920"/>
          </a:xfrm>
          <a:prstGeom prst="roundRect">
            <a:avLst>
              <a:gd name="adj" fmla="val 5854"/>
            </a:avLst>
          </a:prstGeom>
          <a:solidFill>
            <a:srgbClr val="1E293B">
              <a:alpha val="80000"/>
            </a:srgbClr>
          </a:solidFill>
          <a:ln w="19050">
            <a:solidFill>
              <a:srgbClr val="3B82F6"/>
            </a:solidFill>
            <a:prstDash val="solid"/>
          </a:ln>
          <a:effectLst>
            <a:outerShdw sx="100000" sy="100000" kx="0" ky="0" algn="bl" rotWithShape="0" blurRad="63500" dist="25400" dir="16200000">
              <a:srgbClr val="00000012">
                <a:alpha val="75000"/>
              </a:srgbClr>
            </a:outerShdw>
          </a:effectLst>
        </p:spPr>
      </p:sp>
      <p:sp>
        <p:nvSpPr>
          <p:cNvPr id="15" name="Shape 13"/>
          <p:cNvSpPr/>
          <p:nvPr/>
        </p:nvSpPr>
        <p:spPr>
          <a:xfrm>
            <a:off x="4709160" y="1645920"/>
            <a:ext cx="1874520" cy="64008"/>
          </a:xfrm>
          <a:prstGeom prst="rect">
            <a:avLst/>
          </a:prstGeom>
          <a:solidFill>
            <a:srgbClr val="3B82F6"/>
          </a:solidFill>
          <a:ln/>
        </p:spPr>
      </p:sp>
      <p:sp>
        <p:nvSpPr>
          <p:cNvPr id="16" name="Text 14"/>
          <p:cNvSpPr/>
          <p:nvPr/>
        </p:nvSpPr>
        <p:spPr>
          <a:xfrm>
            <a:off x="4709160" y="2103120"/>
            <a:ext cx="1874520" cy="1828800"/>
          </a:xfrm>
          <a:prstGeom prst="rect">
            <a:avLst/>
          </a:prstGeom>
          <a:noFill/>
          <a:ln/>
        </p:spPr>
        <p:txBody>
          <a:bodyPr wrap="square" rtlCol="0" anchor="ctr"/>
          <a:lstStyle/>
          <a:p>
            <a:pPr algn="ctr" indent="0" marL="0">
              <a:buNone/>
            </a:pPr>
            <a:r>
              <a:rPr lang="en-US" sz="3800" b="1" dirty="0">
                <a:solidFill>
                  <a:srgbClr val="3B82F6"/>
                </a:solidFill>
                <a:latin typeface="Segoe UI" pitchFamily="34" charset="0"/>
                <a:ea typeface="Segoe UI" pitchFamily="34" charset="-122"/>
                <a:cs typeface="Segoe UI" pitchFamily="34" charset="-120"/>
              </a:rPr>
              <a:t>10 ms</a:t>
            </a:r>
            <a:endParaRPr lang="en-US" sz="3800" dirty="0"/>
          </a:p>
        </p:txBody>
      </p:sp>
      <p:sp>
        <p:nvSpPr>
          <p:cNvPr id="17" name="Text 15"/>
          <p:cNvSpPr/>
          <p:nvPr/>
        </p:nvSpPr>
        <p:spPr>
          <a:xfrm>
            <a:off x="4846320" y="4114800"/>
            <a:ext cx="1600200" cy="1188720"/>
          </a:xfrm>
          <a:prstGeom prst="rect">
            <a:avLst/>
          </a:prstGeom>
          <a:noFill/>
          <a:ln/>
        </p:spPr>
        <p:txBody>
          <a:bodyPr wrap="square"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Average Command Response Time</a:t>
            </a:r>
            <a:endParaRPr lang="en-US" sz="1200" dirty="0"/>
          </a:p>
        </p:txBody>
      </p:sp>
      <p:sp>
        <p:nvSpPr>
          <p:cNvPr id="18" name="Shape 16"/>
          <p:cNvSpPr/>
          <p:nvPr/>
        </p:nvSpPr>
        <p:spPr>
          <a:xfrm>
            <a:off x="6858000" y="1645920"/>
            <a:ext cx="1874520" cy="3931920"/>
          </a:xfrm>
          <a:prstGeom prst="roundRect">
            <a:avLst>
              <a:gd name="adj" fmla="val 5854"/>
            </a:avLst>
          </a:prstGeom>
          <a:solidFill>
            <a:srgbClr val="1E293B">
              <a:alpha val="80000"/>
            </a:srgbClr>
          </a:solidFill>
          <a:ln w="19050">
            <a:solidFill>
              <a:srgbClr val="3B82F6"/>
            </a:solidFill>
            <a:prstDash val="solid"/>
          </a:ln>
          <a:effectLst>
            <a:outerShdw sx="100000" sy="100000" kx="0" ky="0" algn="bl" rotWithShape="0" blurRad="63500" dist="25400" dir="16200000">
              <a:srgbClr val="00000012">
                <a:alpha val="75000"/>
              </a:srgbClr>
            </a:outerShdw>
          </a:effectLst>
        </p:spPr>
      </p:sp>
      <p:sp>
        <p:nvSpPr>
          <p:cNvPr id="19" name="Shape 17"/>
          <p:cNvSpPr/>
          <p:nvPr/>
        </p:nvSpPr>
        <p:spPr>
          <a:xfrm>
            <a:off x="6858000" y="1645920"/>
            <a:ext cx="1874520" cy="64008"/>
          </a:xfrm>
          <a:prstGeom prst="rect">
            <a:avLst/>
          </a:prstGeom>
          <a:solidFill>
            <a:srgbClr val="3B82F6"/>
          </a:solidFill>
          <a:ln/>
        </p:spPr>
      </p:sp>
      <p:sp>
        <p:nvSpPr>
          <p:cNvPr id="20" name="Text 18"/>
          <p:cNvSpPr/>
          <p:nvPr/>
        </p:nvSpPr>
        <p:spPr>
          <a:xfrm>
            <a:off x="6858000" y="2103120"/>
            <a:ext cx="1874520" cy="1828800"/>
          </a:xfrm>
          <a:prstGeom prst="rect">
            <a:avLst/>
          </a:prstGeom>
          <a:noFill/>
          <a:ln/>
        </p:spPr>
        <p:txBody>
          <a:bodyPr wrap="square" rtlCol="0" anchor="ctr"/>
          <a:lstStyle/>
          <a:p>
            <a:pPr algn="ctr" indent="0" marL="0">
              <a:buNone/>
            </a:pPr>
            <a:r>
              <a:rPr lang="en-US" sz="3800" b="1" dirty="0">
                <a:solidFill>
                  <a:srgbClr val="3B82F6"/>
                </a:solidFill>
                <a:latin typeface="Segoe UI" pitchFamily="34" charset="0"/>
                <a:ea typeface="Segoe UI" pitchFamily="34" charset="-122"/>
                <a:cs typeface="Segoe UI" pitchFamily="34" charset="-120"/>
              </a:rPr>
              <a:t>99.99%</a:t>
            </a:r>
            <a:endParaRPr lang="en-US" sz="3800" dirty="0"/>
          </a:p>
        </p:txBody>
      </p:sp>
      <p:sp>
        <p:nvSpPr>
          <p:cNvPr id="21" name="Text 19"/>
          <p:cNvSpPr/>
          <p:nvPr/>
        </p:nvSpPr>
        <p:spPr>
          <a:xfrm>
            <a:off x="6995160" y="4114800"/>
            <a:ext cx="1600200" cy="1188720"/>
          </a:xfrm>
          <a:prstGeom prst="rect">
            <a:avLst/>
          </a:prstGeom>
          <a:noFill/>
          <a:ln/>
        </p:spPr>
        <p:txBody>
          <a:bodyPr wrap="square"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System Uptime Reliability</a:t>
            </a:r>
            <a:endParaRPr lang="en-US" sz="1200" dirty="0"/>
          </a:p>
        </p:txBody>
      </p:sp>
      <p:sp>
        <p:nvSpPr>
          <p:cNvPr id="22" name="Shape 20"/>
          <p:cNvSpPr/>
          <p:nvPr/>
        </p:nvSpPr>
        <p:spPr>
          <a:xfrm>
            <a:off x="8366760" y="5897880"/>
            <a:ext cx="457200" cy="457200"/>
          </a:xfrm>
          <a:prstGeom prst="ellipse">
            <a:avLst/>
          </a:prstGeom>
          <a:solidFill>
            <a:srgbClr val="3B82F6"/>
          </a:solidFill>
          <a:ln/>
        </p:spPr>
      </p:sp>
      <p:sp>
        <p:nvSpPr>
          <p:cNvPr id="23" name="Text 21"/>
          <p:cNvSpPr/>
          <p:nvPr/>
        </p:nvSpPr>
        <p:spPr>
          <a:xfrm>
            <a:off x="8366760" y="5897880"/>
            <a:ext cx="457200" cy="457200"/>
          </a:xfrm>
          <a:prstGeom prst="rect">
            <a:avLst/>
          </a:prstGeom>
          <a:noFill/>
          <a:ln/>
        </p:spPr>
        <p:txBody>
          <a:bodyPr wrap="square" rtlCol="0" anchor="ctr"/>
          <a:lstStyle/>
          <a:p>
            <a:pPr algn="ctr" indent="0" marL="0">
              <a:buNone/>
            </a:pPr>
            <a:r>
              <a:rPr lang="en-US" sz="1000" b="1" dirty="0">
                <a:solidFill>
                  <a:srgbClr val="FFFFFF"/>
                </a:solidFill>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457200"/>
            <a:ext cx="2011680" cy="2011680"/>
          </a:xfrm>
          <a:prstGeom prst="rtTriangle">
            <a:avLst/>
          </a:prstGeom>
          <a:solidFill>
            <a:srgbClr val="3B82F6">
              <a:alpha val="12000"/>
            </a:srgbClr>
          </a:solidFill>
          <a:ln/>
        </p:spPr>
      </p:sp>
      <p:sp>
        <p:nvSpPr>
          <p:cNvPr id="3" name="Shape 1"/>
          <p:cNvSpPr/>
          <p:nvPr/>
        </p:nvSpPr>
        <p:spPr>
          <a:xfrm>
            <a:off x="7315200" y="4572000"/>
            <a:ext cx="1828800" cy="1828800"/>
          </a:xfrm>
          <a:prstGeom prst="ellipse">
            <a:avLst/>
          </a:prstGeom>
          <a:solidFill>
            <a:srgbClr val="06B6D4">
              <a:alpha val="10000"/>
            </a:srgbClr>
          </a:solidFill>
          <a:ln/>
        </p:spPr>
      </p:sp>
      <p:sp>
        <p:nvSpPr>
          <p:cNvPr id="4" name="Shape 2"/>
          <p:cNvSpPr/>
          <p:nvPr/>
        </p:nvSpPr>
        <p:spPr>
          <a:xfrm>
            <a:off x="0" y="0"/>
            <a:ext cx="12192000" cy="960120"/>
          </a:xfrm>
          <a:prstGeom prst="rect">
            <a:avLst/>
          </a:prstGeom>
          <a:solidFill>
            <a:srgbClr val="3B82F6"/>
          </a:solidFill>
          <a:ln/>
        </p:spPr>
      </p:sp>
      <p:sp>
        <p:nvSpPr>
          <p:cNvPr id="5" name="Text 3"/>
          <p:cNvSpPr/>
          <p:nvPr/>
        </p:nvSpPr>
        <p:spPr>
          <a:xfrm>
            <a:off x="548640" y="109728"/>
            <a:ext cx="7772400" cy="73152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LoRa vs. Bluetooth for Remote Motor Control</a:t>
            </a:r>
            <a:endParaRPr lang="en-US" sz="2400" dirty="0"/>
          </a:p>
        </p:txBody>
      </p:sp>
      <p:sp>
        <p:nvSpPr>
          <p:cNvPr id="6" name="Shape 4"/>
          <p:cNvSpPr/>
          <p:nvPr/>
        </p:nvSpPr>
        <p:spPr>
          <a:xfrm>
            <a:off x="4434840" y="1188720"/>
            <a:ext cx="274320" cy="4846320"/>
          </a:xfrm>
          <a:prstGeom prst="rect">
            <a:avLst/>
          </a:prstGeom>
          <a:solidFill>
            <a:srgbClr val="303544">
              <a:alpha val="40000"/>
            </a:srgbClr>
          </a:solidFill>
          <a:ln/>
        </p:spPr>
      </p:sp>
      <p:sp>
        <p:nvSpPr>
          <p:cNvPr id="7" name="Shape 5"/>
          <p:cNvSpPr/>
          <p:nvPr/>
        </p:nvSpPr>
        <p:spPr>
          <a:xfrm>
            <a:off x="4114800" y="3108960"/>
            <a:ext cx="914400" cy="914400"/>
          </a:xfrm>
          <a:prstGeom prst="ellipse">
            <a:avLst/>
          </a:prstGeom>
          <a:solidFill>
            <a:srgbClr val="3B82F6"/>
          </a:solidFill>
          <a:ln/>
        </p:spPr>
      </p:sp>
      <p:sp>
        <p:nvSpPr>
          <p:cNvPr id="8" name="Text 6"/>
          <p:cNvSpPr/>
          <p:nvPr/>
        </p:nvSpPr>
        <p:spPr>
          <a:xfrm>
            <a:off x="4114800" y="3108960"/>
            <a:ext cx="914400" cy="91440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VS</a:t>
            </a:r>
            <a:endParaRPr lang="en-US" sz="1400" dirty="0"/>
          </a:p>
        </p:txBody>
      </p:sp>
      <p:sp>
        <p:nvSpPr>
          <p:cNvPr id="9" name="Shape 7"/>
          <p:cNvSpPr/>
          <p:nvPr/>
        </p:nvSpPr>
        <p:spPr>
          <a:xfrm>
            <a:off x="365760" y="1188720"/>
            <a:ext cx="3931920" cy="4846320"/>
          </a:xfrm>
          <a:prstGeom prst="roundRect">
            <a:avLst>
              <a:gd name="adj" fmla="val 2326"/>
            </a:avLst>
          </a:prstGeom>
          <a:solidFill>
            <a:srgbClr val="1E293B">
              <a:alpha val="65000"/>
            </a:srgbClr>
          </a:solidFill>
          <a:ln w="12700">
            <a:solidFill>
              <a:srgbClr val="3B82F6"/>
            </a:solidFill>
            <a:prstDash val="solid"/>
          </a:ln>
        </p:spPr>
      </p:sp>
      <p:sp>
        <p:nvSpPr>
          <p:cNvPr id="10" name="Text 8"/>
          <p:cNvSpPr/>
          <p:nvPr/>
        </p:nvSpPr>
        <p:spPr>
          <a:xfrm>
            <a:off x="548640" y="1371600"/>
            <a:ext cx="3566160" cy="548640"/>
          </a:xfrm>
          <a:prstGeom prst="rect">
            <a:avLst/>
          </a:prstGeom>
          <a:noFill/>
          <a:ln/>
        </p:spPr>
        <p:txBody>
          <a:bodyPr wrap="square" rtlCol="0" anchor="ctr"/>
          <a:lstStyle/>
          <a:p>
            <a:pPr algn="ctr" indent="0" marL="0">
              <a:buNone/>
            </a:pPr>
            <a:r>
              <a:rPr lang="en-US" sz="1800" b="1" dirty="0">
                <a:solidFill>
                  <a:srgbClr val="3B82F6"/>
                </a:solidFill>
                <a:latin typeface="Segoe UI" pitchFamily="34" charset="0"/>
                <a:ea typeface="Segoe UI" pitchFamily="34" charset="-122"/>
                <a:cs typeface="Segoe UI" pitchFamily="34" charset="-120"/>
              </a:rPr>
              <a:t>LoRa</a:t>
            </a:r>
            <a:endParaRPr lang="en-US" sz="1800" dirty="0"/>
          </a:p>
        </p:txBody>
      </p:sp>
      <p:sp>
        <p:nvSpPr>
          <p:cNvPr id="11" name="Text 9"/>
          <p:cNvSpPr/>
          <p:nvPr/>
        </p:nvSpPr>
        <p:spPr>
          <a:xfrm>
            <a:off x="731520" y="2103120"/>
            <a:ext cx="3200400" cy="3474720"/>
          </a:xfrm>
          <a:prstGeom prst="rect">
            <a:avLst/>
          </a:prstGeom>
          <a:noFill/>
          <a:ln/>
        </p:spPr>
        <p:txBody>
          <a:bodyPr wrap="square" rtlCol="0" anchor="t"/>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  ✅ Extended Range: Operates efficiently over several kilometers which makes it ideal for expansive industrial facilities.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  ⚡ Low Power Consumption: Enables prolonged battery life for remote sensor nodes and minimizes maintenance overhead.</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  🔧 Superior Interference Handling: Robust communication protocol that offers dependable data delivery while operating near signal disruptions.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  📊 Excellent Scalability: Supports large numbers of devices within a single network, offering substantial possibilities for further development.</a:t>
            </a:r>
            <a:endParaRPr lang="en-US" sz="1300" dirty="0"/>
          </a:p>
        </p:txBody>
      </p:sp>
      <p:sp>
        <p:nvSpPr>
          <p:cNvPr id="12" name="Shape 10"/>
          <p:cNvSpPr/>
          <p:nvPr/>
        </p:nvSpPr>
        <p:spPr>
          <a:xfrm>
            <a:off x="4846320" y="1188720"/>
            <a:ext cx="3931920" cy="4846320"/>
          </a:xfrm>
          <a:prstGeom prst="roundRect">
            <a:avLst>
              <a:gd name="adj" fmla="val 2326"/>
            </a:avLst>
          </a:prstGeom>
          <a:solidFill>
            <a:srgbClr val="1E293B">
              <a:alpha val="65000"/>
            </a:srgbClr>
          </a:solidFill>
          <a:ln w="12700">
            <a:solidFill>
              <a:srgbClr val="06B6D4"/>
            </a:solidFill>
            <a:prstDash val="solid"/>
          </a:ln>
        </p:spPr>
      </p:sp>
      <p:sp>
        <p:nvSpPr>
          <p:cNvPr id="13" name="Text 11"/>
          <p:cNvSpPr/>
          <p:nvPr/>
        </p:nvSpPr>
        <p:spPr>
          <a:xfrm>
            <a:off x="5029200" y="1371600"/>
            <a:ext cx="3566160" cy="548640"/>
          </a:xfrm>
          <a:prstGeom prst="rect">
            <a:avLst/>
          </a:prstGeom>
          <a:noFill/>
          <a:ln/>
        </p:spPr>
        <p:txBody>
          <a:bodyPr wrap="square" rtlCol="0" anchor="ctr"/>
          <a:lstStyle/>
          <a:p>
            <a:pPr algn="ctr" indent="0" marL="0">
              <a:buNone/>
            </a:pPr>
            <a:r>
              <a:rPr lang="en-US" sz="1800" b="1" dirty="0">
                <a:solidFill>
                  <a:srgbClr val="06B6D4"/>
                </a:solidFill>
                <a:latin typeface="Segoe UI" pitchFamily="34" charset="0"/>
                <a:ea typeface="Segoe UI" pitchFamily="34" charset="-122"/>
                <a:cs typeface="Segoe UI" pitchFamily="34" charset="-120"/>
              </a:rPr>
              <a:t>Bluetooth</a:t>
            </a:r>
            <a:endParaRPr lang="en-US" sz="1800" dirty="0"/>
          </a:p>
        </p:txBody>
      </p:sp>
      <p:sp>
        <p:nvSpPr>
          <p:cNvPr id="14" name="Text 12"/>
          <p:cNvSpPr/>
          <p:nvPr/>
        </p:nvSpPr>
        <p:spPr>
          <a:xfrm>
            <a:off x="5212080" y="2103120"/>
            <a:ext cx="3200400" cy="3474720"/>
          </a:xfrm>
          <a:prstGeom prst="rect">
            <a:avLst/>
          </a:prstGeom>
          <a:noFill/>
          <a:ln/>
        </p:spPr>
        <p:txBody>
          <a:bodyPr wrap="square" rtlCol="0" anchor="t"/>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  ✅ High Bandwidth: Allows for relatively higher data transfer rates, facilitating intricate data logging and visual analysis.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  🛡️ Wide Device Compatibility: Smooth integration with any typical smartphone or tablet for instant monitoring and control.</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  🎯 Simpler Setup: Generally uncomplicated pairing mechanisms suitable for ad-hoc, short-term adjustments or troubleshooting.</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  💰 Lower Component Costs: Bluetooth modules are typically more economical which makes them applicable to budget-sensitive integrations.</a:t>
            </a:r>
            <a:endParaRPr lang="en-US" sz="1300" dirty="0"/>
          </a:p>
        </p:txBody>
      </p:sp>
      <p:sp>
        <p:nvSpPr>
          <p:cNvPr id="15" name="Shape 13"/>
          <p:cNvSpPr/>
          <p:nvPr/>
        </p:nvSpPr>
        <p:spPr>
          <a:xfrm>
            <a:off x="8366760" y="5897880"/>
            <a:ext cx="457200" cy="457200"/>
          </a:xfrm>
          <a:prstGeom prst="ellipse">
            <a:avLst/>
          </a:prstGeom>
          <a:solidFill>
            <a:srgbClr val="3B82F6"/>
          </a:solidFill>
          <a:ln/>
        </p:spPr>
      </p:sp>
      <p:sp>
        <p:nvSpPr>
          <p:cNvPr id="16" name="Text 14"/>
          <p:cNvSpPr/>
          <p:nvPr/>
        </p:nvSpPr>
        <p:spPr>
          <a:xfrm>
            <a:off x="8366760" y="5897880"/>
            <a:ext cx="457200" cy="457200"/>
          </a:xfrm>
          <a:prstGeom prst="rect">
            <a:avLst/>
          </a:prstGeom>
          <a:noFill/>
          <a:ln/>
        </p:spPr>
        <p:txBody>
          <a:bodyPr wrap="square" rtlCol="0" anchor="ctr"/>
          <a:lstStyle/>
          <a:p>
            <a:pPr algn="ctr" indent="0" marL="0">
              <a:buNone/>
            </a:pPr>
            <a:r>
              <a:rPr lang="en-US" sz="1000" b="1" dirty="0">
                <a:solidFill>
                  <a:srgbClr val="FFFFFF"/>
                </a:solidFill>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3B82F6"/>
          </a:solidFill>
          <a:ln/>
        </p:spPr>
      </p:sp>
      <p:sp>
        <p:nvSpPr>
          <p:cNvPr id="3" name="Shape 1"/>
          <p:cNvSpPr/>
          <p:nvPr/>
        </p:nvSpPr>
        <p:spPr>
          <a:xfrm>
            <a:off x="7315200" y="457200"/>
            <a:ext cx="1463040" cy="1463040"/>
          </a:xfrm>
          <a:prstGeom prst="ellipse">
            <a:avLst/>
          </a:prstGeom>
          <a:solidFill>
            <a:srgbClr val="06B6D4">
              <a:alpha val="15000"/>
            </a:srgbClr>
          </a:solidFill>
          <a:ln/>
        </p:spPr>
      </p:sp>
      <p:sp>
        <p:nvSpPr>
          <p:cNvPr id="4" name="Shape 2"/>
          <p:cNvSpPr/>
          <p:nvPr/>
        </p:nvSpPr>
        <p:spPr>
          <a:xfrm>
            <a:off x="7772400" y="4754880"/>
            <a:ext cx="914400" cy="914400"/>
          </a:xfrm>
          <a:prstGeom prst="ellipse">
            <a:avLst/>
          </a:prstGeom>
          <a:solidFill>
            <a:srgbClr val="3B82F6">
              <a:alpha val="12000"/>
            </a:srgbClr>
          </a:solidFill>
          <a:ln/>
        </p:spPr>
      </p:sp>
      <p:sp>
        <p:nvSpPr>
          <p:cNvPr id="5" name="Text 3"/>
          <p:cNvSpPr/>
          <p:nvPr/>
        </p:nvSpPr>
        <p:spPr>
          <a:xfrm>
            <a:off x="457200" y="182880"/>
            <a:ext cx="1828800" cy="2011680"/>
          </a:xfrm>
          <a:prstGeom prst="rect">
            <a:avLst/>
          </a:prstGeom>
          <a:noFill/>
          <a:ln/>
        </p:spPr>
        <p:txBody>
          <a:bodyPr wrap="square" rtlCol="0" anchor="ctr"/>
          <a:lstStyle/>
          <a:p>
            <a:pPr indent="0" marL="0">
              <a:buNone/>
            </a:pPr>
            <a:r>
              <a:rPr lang="en-US" sz="13000" dirty="0">
                <a:solidFill>
                  <a:srgbClr val="3B82F6">
                    <a:alpha val="75000"/>
                  </a:srgbClr>
                </a:solidFill>
                <a:latin typeface="Georgia" pitchFamily="34" charset="0"/>
                <a:ea typeface="Georgia" pitchFamily="34" charset="-122"/>
                <a:cs typeface="Georgia" pitchFamily="34" charset="-120"/>
              </a:rPr>
              <a:t>“</a:t>
            </a:r>
            <a:endParaRPr lang="en-US" sz="13000" dirty="0"/>
          </a:p>
        </p:txBody>
      </p:sp>
      <p:sp>
        <p:nvSpPr>
          <p:cNvPr id="6" name="Text 4"/>
          <p:cNvSpPr/>
          <p:nvPr/>
        </p:nvSpPr>
        <p:spPr>
          <a:xfrm>
            <a:off x="1097280" y="1645920"/>
            <a:ext cx="6949440" cy="2926080"/>
          </a:xfrm>
          <a:prstGeom prst="rect">
            <a:avLst/>
          </a:prstGeom>
          <a:noFill/>
          <a:ln/>
        </p:spPr>
        <p:txBody>
          <a:bodyPr wrap="square" rtlCol="0" anchor="ctr"/>
          <a:lstStyle/>
          <a:p>
            <a:pPr algn="ctr" indent="0" marL="0">
              <a:lnSpc>
                <a:spcPct val="150000"/>
              </a:lnSpc>
              <a:buNone/>
            </a:pPr>
            <a:r>
              <a:rPr lang="en-US" sz="2600" i="1" dirty="0">
                <a:solidFill>
                  <a:srgbClr val="FFFFFF"/>
                </a:solidFill>
                <a:latin typeface="Georgia" pitchFamily="34" charset="0"/>
                <a:ea typeface="Georgia" pitchFamily="34" charset="-122"/>
                <a:cs typeface="Georgia" pitchFamily="34" charset="-120"/>
              </a:rPr>
              <a:t>“Integrating LoRa technology into motor control systems not only enhances operational efficiency but also unlocks new possibilities for predictive maintenance, leading to significant cost savings and improved sustainability in industrial environments.”</a:t>
            </a:r>
            <a:endParaRPr lang="en-US" sz="2600" dirty="0"/>
          </a:p>
        </p:txBody>
      </p:sp>
      <p:sp>
        <p:nvSpPr>
          <p:cNvPr id="7" name="Shape 5"/>
          <p:cNvSpPr/>
          <p:nvPr/>
        </p:nvSpPr>
        <p:spPr>
          <a:xfrm>
            <a:off x="3200400" y="4709160"/>
            <a:ext cx="2743200" cy="36576"/>
          </a:xfrm>
          <a:prstGeom prst="rect">
            <a:avLst/>
          </a:prstGeom>
          <a:solidFill>
            <a:srgbClr val="3B82F6"/>
          </a:solidFill>
          <a:ln/>
        </p:spPr>
      </p:sp>
      <p:sp>
        <p:nvSpPr>
          <p:cNvPr id="8" name="Text 6"/>
          <p:cNvSpPr/>
          <p:nvPr/>
        </p:nvSpPr>
        <p:spPr>
          <a:xfrm>
            <a:off x="914400" y="4892040"/>
            <a:ext cx="7315200" cy="457200"/>
          </a:xfrm>
          <a:prstGeom prst="rect">
            <a:avLst/>
          </a:prstGeom>
          <a:noFill/>
          <a:ln/>
        </p:spPr>
        <p:txBody>
          <a:bodyPr wrap="square" rtlCol="0" anchor="ctr"/>
          <a:lstStyle/>
          <a:p>
            <a:pPr algn="ctr" indent="0" marL="0">
              <a:buNone/>
            </a:pPr>
            <a:r>
              <a:rPr lang="en-US" sz="1300" b="1" dirty="0">
                <a:solidFill>
                  <a:srgbClr val="06B6D4"/>
                </a:solidFill>
                <a:latin typeface="Calibri" pitchFamily="34" charset="0"/>
                <a:ea typeface="Calibri" pitchFamily="34" charset="-122"/>
                <a:cs typeface="Calibri" pitchFamily="34" charset="-120"/>
              </a:rPr>
              <a:t>— Dr. Anya Sharma, Lead Researcher at Industrial IoT Labs</a:t>
            </a:r>
            <a:endParaRPr lang="en-US" sz="1300" dirty="0"/>
          </a:p>
        </p:txBody>
      </p:sp>
      <p:sp>
        <p:nvSpPr>
          <p:cNvPr id="9" name="Shape 7"/>
          <p:cNvSpPr/>
          <p:nvPr/>
        </p:nvSpPr>
        <p:spPr>
          <a:xfrm>
            <a:off x="8366760" y="5897880"/>
            <a:ext cx="457200" cy="457200"/>
          </a:xfrm>
          <a:prstGeom prst="ellipse">
            <a:avLst/>
          </a:prstGeom>
          <a:solidFill>
            <a:srgbClr val="3B82F6"/>
          </a:solidFill>
          <a:ln/>
        </p:spPr>
      </p:sp>
      <p:sp>
        <p:nvSpPr>
          <p:cNvPr id="10" name="Text 8"/>
          <p:cNvSpPr/>
          <p:nvPr/>
        </p:nvSpPr>
        <p:spPr>
          <a:xfrm>
            <a:off x="8366760" y="5897880"/>
            <a:ext cx="457200" cy="457200"/>
          </a:xfrm>
          <a:prstGeom prst="rect">
            <a:avLst/>
          </a:prstGeom>
          <a:noFill/>
          <a:ln/>
        </p:spPr>
        <p:txBody>
          <a:bodyPr wrap="square" rtlCol="0" anchor="ctr"/>
          <a:lstStyle/>
          <a:p>
            <a:pPr algn="ctr" indent="0" marL="0">
              <a:buNone/>
            </a:pPr>
            <a:r>
              <a:rPr lang="en-US" sz="1000" b="1" dirty="0">
                <a:solidFill>
                  <a:srgbClr val="FFFFFF"/>
                </a:solidFill>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6858000" y="-1371600"/>
            <a:ext cx="3657600" cy="3657600"/>
          </a:xfrm>
          <a:prstGeom prst="ellipse">
            <a:avLst/>
          </a:prstGeom>
          <a:solidFill>
            <a:srgbClr val="3B82F6">
              <a:alpha val="8000"/>
            </a:srgbClr>
          </a:solidFill>
          <a:ln/>
        </p:spPr>
      </p:sp>
      <p:sp>
        <p:nvSpPr>
          <p:cNvPr id="3" name="Shape 1"/>
          <p:cNvSpPr/>
          <p:nvPr/>
        </p:nvSpPr>
        <p:spPr>
          <a:xfrm>
            <a:off x="7498080" y="182880"/>
            <a:ext cx="2286000" cy="2286000"/>
          </a:xfrm>
          <a:prstGeom prst="ellipse">
            <a:avLst/>
          </a:prstGeom>
          <a:solidFill>
            <a:srgbClr val="06B6D4">
              <a:alpha val="10000"/>
            </a:srgbClr>
          </a:solidFill>
          <a:ln/>
        </p:spPr>
      </p:sp>
      <p:sp>
        <p:nvSpPr>
          <p:cNvPr id="4" name="Shape 2"/>
          <p:cNvSpPr/>
          <p:nvPr/>
        </p:nvSpPr>
        <p:spPr>
          <a:xfrm>
            <a:off x="-1371600" y="3657600"/>
            <a:ext cx="2743200" cy="2743200"/>
          </a:xfrm>
          <a:prstGeom prst="ellipse">
            <a:avLst/>
          </a:prstGeom>
          <a:solidFill>
            <a:srgbClr val="3B82F6">
              <a:alpha val="7000"/>
            </a:srgbClr>
          </a:solidFill>
          <a:ln/>
        </p:spPr>
      </p:sp>
      <p:sp>
        <p:nvSpPr>
          <p:cNvPr id="5" name="Shape 3"/>
          <p:cNvSpPr/>
          <p:nvPr/>
        </p:nvSpPr>
        <p:spPr>
          <a:xfrm>
            <a:off x="0" y="0"/>
            <a:ext cx="12192000" cy="960120"/>
          </a:xfrm>
          <a:prstGeom prst="rect">
            <a:avLst/>
          </a:prstGeom>
          <a:solidFill>
            <a:srgbClr val="3B82F6"/>
          </a:solidFill>
          <a:ln/>
        </p:spPr>
      </p:sp>
      <p:sp>
        <p:nvSpPr>
          <p:cNvPr id="6" name="Text 4"/>
          <p:cNvSpPr/>
          <p:nvPr/>
        </p:nvSpPr>
        <p:spPr>
          <a:xfrm>
            <a:off x="548640" y="109728"/>
            <a:ext cx="7772400" cy="73152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Applications and Use Cases</a:t>
            </a:r>
            <a:endParaRPr lang="en-US" sz="2400" dirty="0"/>
          </a:p>
        </p:txBody>
      </p:sp>
      <p:sp>
        <p:nvSpPr>
          <p:cNvPr id="7" name="Shape 5"/>
          <p:cNvSpPr/>
          <p:nvPr/>
        </p:nvSpPr>
        <p:spPr>
          <a:xfrm>
            <a:off x="457200" y="1188720"/>
            <a:ext cx="8229600" cy="4846320"/>
          </a:xfrm>
          <a:prstGeom prst="roundRect">
            <a:avLst>
              <a:gd name="adj" fmla="val 2264"/>
            </a:avLst>
          </a:prstGeom>
          <a:solidFill>
            <a:srgbClr val="1E293B">
              <a:alpha val="70000"/>
            </a:srgbClr>
          </a:solidFill>
          <a:ln w="6350">
            <a:solidFill>
              <a:srgbClr val="515C6E"/>
            </a:solidFill>
            <a:prstDash val="solid"/>
          </a:ln>
        </p:spPr>
      </p:sp>
      <p:sp>
        <p:nvSpPr>
          <p:cNvPr id="8" name="Text 6"/>
          <p:cNvSpPr/>
          <p:nvPr/>
        </p:nvSpPr>
        <p:spPr>
          <a:xfrm>
            <a:off x="822960" y="1463040"/>
            <a:ext cx="7498080" cy="4297680"/>
          </a:xfrm>
          <a:prstGeom prst="rect">
            <a:avLst/>
          </a:prstGeom>
          <a:noFill/>
          <a:ln/>
        </p:spPr>
        <p:txBody>
          <a:bodyPr wrap="square" rtlCol="0" anchor="t"/>
          <a:lstStyle/>
          <a:p>
            <a:pPr marL="342900" indent="-342900">
              <a:spcAft>
                <a:spcPts val="1000"/>
              </a:spcAft>
              <a:buSzPct val="100000"/>
              <a:buFont typeface="+mj-lt"/>
              <a:buAutoNum type="arabicPeriod" startAt="1"/>
            </a:pPr>
            <a:r>
              <a:rPr lang="en-US" sz="1600" dirty="0">
                <a:solidFill>
                  <a:srgbClr val="FFFFFF"/>
                </a:solidFill>
                <a:latin typeface="Calibri" pitchFamily="34" charset="0"/>
                <a:ea typeface="Calibri" pitchFamily="34" charset="-122"/>
                <a:cs typeface="Calibri" pitchFamily="34" charset="-120"/>
              </a:rPr>
              <a:t>  📌 Remote Motor Control across Extensive Industrial Facilities, optimizing activation sequences and enhancing safety protocols during high-risk processes.</a:t>
            </a:r>
            <a:endParaRPr lang="en-US" sz="1600" dirty="0"/>
          </a:p>
          <a:p>
            <a:pPr marL="342900" indent="-342900">
              <a:spcAft>
                <a:spcPts val="1000"/>
              </a:spcAft>
              <a:buSzPct val="100000"/>
              <a:buFont typeface="+mj-lt"/>
              <a:buAutoNum type="arabicPeriod" startAt="2"/>
            </a:pPr>
            <a:r>
              <a:rPr lang="en-US" sz="1600" dirty="0">
                <a:solidFill>
                  <a:srgbClr val="FFFFFF"/>
                </a:solidFill>
                <a:latin typeface="Calibri" pitchFamily="34" charset="0"/>
                <a:ea typeface="Calibri" pitchFamily="34" charset="-122"/>
                <a:cs typeface="Calibri" pitchFamily="34" charset="-120"/>
              </a:rPr>
              <a:t>  🔍 Agricultural Irrigation Systems utilizing LoRa for precise, on-demand control, reducing water wastage and adapting to dynamic environmental conditions.</a:t>
            </a:r>
            <a:endParaRPr lang="en-US" sz="1600" dirty="0"/>
          </a:p>
          <a:p>
            <a:pPr marL="342900" indent="-342900">
              <a:spcAft>
                <a:spcPts val="1000"/>
              </a:spcAft>
              <a:buSzPct val="100000"/>
              <a:buFont typeface="+mj-lt"/>
              <a:buAutoNum type="arabicPeriod" startAt="3"/>
            </a:pPr>
            <a:r>
              <a:rPr lang="en-US" sz="1600" dirty="0">
                <a:solidFill>
                  <a:srgbClr val="FFFFFF"/>
                </a:solidFill>
                <a:latin typeface="Calibri" pitchFamily="34" charset="0"/>
                <a:ea typeface="Calibri" pitchFamily="34" charset="-122"/>
                <a:cs typeface="Calibri" pitchFamily="34" charset="-120"/>
              </a:rPr>
              <a:t>  💡 Oil and Gas Pipeline Management enabling real-time monitoring and control of motorized valves, preventing leaks and enhancing pipeline integrity.</a:t>
            </a:r>
            <a:endParaRPr lang="en-US" sz="1600" dirty="0"/>
          </a:p>
          <a:p>
            <a:pPr marL="342900" indent="-342900">
              <a:spcAft>
                <a:spcPts val="1000"/>
              </a:spcAft>
              <a:buSzPct val="100000"/>
              <a:buFont typeface="+mj-lt"/>
              <a:buAutoNum type="arabicPeriod" startAt="4"/>
            </a:pPr>
            <a:r>
              <a:rPr lang="en-US" sz="1600" dirty="0">
                <a:solidFill>
                  <a:srgbClr val="FFFFFF"/>
                </a:solidFill>
                <a:latin typeface="Calibri" pitchFamily="34" charset="0"/>
                <a:ea typeface="Calibri" pitchFamily="34" charset="-122"/>
                <a:cs typeface="Calibri" pitchFamily="34" charset="-120"/>
              </a:rPr>
              <a:t>  🎯 Smart City Infrastructure leveraging LoRa for precise street and traffic light control, leading to massive energy savings and optimizing urban sustainability.</a:t>
            </a:r>
            <a:endParaRPr lang="en-US" sz="1600" dirty="0"/>
          </a:p>
          <a:p>
            <a:pPr marL="342900" indent="-342900">
              <a:spcAft>
                <a:spcPts val="1000"/>
              </a:spcAft>
              <a:buSzPct val="100000"/>
              <a:buFont typeface="+mj-lt"/>
              <a:buAutoNum type="arabicPeriod" startAt="5"/>
            </a:pPr>
            <a:r>
              <a:rPr lang="en-US" sz="1600" dirty="0">
                <a:solidFill>
                  <a:srgbClr val="FFFFFF"/>
                </a:solidFill>
                <a:latin typeface="Calibri" pitchFamily="34" charset="0"/>
                <a:ea typeface="Calibri" pitchFamily="34" charset="-122"/>
                <a:cs typeface="Calibri" pitchFamily="34" charset="-120"/>
              </a:rPr>
              <a:t>  ⚡ Automated Manufacturing Processes integrating LoRa-controlled motors in conveyor systems that improve efficiency.</a:t>
            </a:r>
            <a:endParaRPr lang="en-US" sz="1600" dirty="0"/>
          </a:p>
        </p:txBody>
      </p:sp>
      <p:sp>
        <p:nvSpPr>
          <p:cNvPr id="9" name="Shape 7"/>
          <p:cNvSpPr/>
          <p:nvPr/>
        </p:nvSpPr>
        <p:spPr>
          <a:xfrm>
            <a:off x="8366760" y="5897880"/>
            <a:ext cx="457200" cy="457200"/>
          </a:xfrm>
          <a:prstGeom prst="ellipse">
            <a:avLst/>
          </a:prstGeom>
          <a:solidFill>
            <a:srgbClr val="3B82F6"/>
          </a:solidFill>
          <a:ln/>
        </p:spPr>
      </p:sp>
      <p:sp>
        <p:nvSpPr>
          <p:cNvPr id="10" name="Text 8"/>
          <p:cNvSpPr/>
          <p:nvPr/>
        </p:nvSpPr>
        <p:spPr>
          <a:xfrm>
            <a:off x="8366760" y="5897880"/>
            <a:ext cx="457200" cy="457200"/>
          </a:xfrm>
          <a:prstGeom prst="rect">
            <a:avLst/>
          </a:prstGeom>
          <a:noFill/>
          <a:ln/>
        </p:spPr>
        <p:txBody>
          <a:bodyPr wrap="square" rtlCol="0" anchor="ctr"/>
          <a:lstStyle/>
          <a:p>
            <a:pPr algn="ctr" indent="0" marL="0">
              <a:buNone/>
            </a:pPr>
            <a:r>
              <a:rPr lang="en-US" sz="1000" b="1" dirty="0">
                <a:solidFill>
                  <a:srgbClr val="FFFFFF"/>
                </a:solidFill>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LoRa Motor Control: Wireless Command Architecture</dc:title>
  <dc:subject>Generated by Pre Max AI — Cyberpunk Dawn</dc:subject>
  <dc:creator>PptxGenJS</dc:creator>
  <cp:lastModifiedBy>PptxGenJS</cp:lastModifiedBy>
  <cp:revision>1</cp:revision>
  <dcterms:created xsi:type="dcterms:W3CDTF">2026-02-12T12:39:24Z</dcterms:created>
  <dcterms:modified xsi:type="dcterms:W3CDTF">2026-02-12T12:39:24Z</dcterms:modified>
</cp:coreProperties>
</file>