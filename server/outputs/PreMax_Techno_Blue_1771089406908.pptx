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0033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09360"/>
            <a:ext cx="12192000" cy="548640"/>
          </a:xfrm>
          <a:prstGeom prst="rect">
            <a:avLst/>
          </a:prstGeom>
          <a:solidFill>
            <a:srgbClr val="ADD8E6">
              <a:alpha val="7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473952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65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 MAX AI — Techno Blue</a:t>
            </a:r>
            <a:endParaRPr lang="en-US" sz="7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gif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gif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ADD8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B0E0E6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3657600"/>
            <a:ext cx="4114800" cy="411480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-1371600"/>
            <a:ext cx="3200400" cy="3200400"/>
          </a:xfrm>
          <a:prstGeom prst="ellipse">
            <a:avLst/>
          </a:prstGeom>
          <a:solidFill>
            <a:srgbClr val="B0E0E6">
              <a:alpha val="2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7315200" cy="228600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25400" dir="16200000">
              <a:srgbClr val="00000040">
                <a:alpha val="75000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Horizon Kernel: A Deep Dive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731520" y="3840480"/>
            <a:ext cx="3200400" cy="54864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1148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 BLUE THEME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ADD8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ADD8E6">
              <a:alpha val="7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1645920"/>
            <a:ext cx="7315200" cy="228600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25400" dir="16200000">
              <a:srgbClr val="00000060">
                <a:alpha val="75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Unveiling the Horizon Kernel</a:t>
            </a:r>
            <a:endParaRPr lang="en-US" sz="4200" dirty="0"/>
          </a:p>
        </p:txBody>
      </p:sp>
      <p:sp>
        <p:nvSpPr>
          <p:cNvPr id="5" name="Shape 2"/>
          <p:cNvSpPr/>
          <p:nvPr/>
        </p:nvSpPr>
        <p:spPr>
          <a:xfrm>
            <a:off x="3200400" y="3931920"/>
            <a:ext cx="27432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41148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introduction to the core components and innovative architecture of the Horizon Kernel, designed for advanced machine learning and AI applications.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0"/>
            <a:ext cx="914400" cy="6858000"/>
          </a:xfrm>
          <a:prstGeom prst="rect">
            <a:avLst/>
          </a:prstGeom>
          <a:solidFill>
            <a:srgbClr val="ADD8E6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48640" y="-548640"/>
            <a:ext cx="1645920" cy="1645920"/>
          </a:xfrm>
          <a:prstGeom prst="ellipse">
            <a:avLst/>
          </a:prstGeom>
          <a:solidFill>
            <a:srgbClr val="B0E0E6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ADD8E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Overview: Dissecting the Horizon Kernel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5029200" cy="4846320"/>
          </a:xfrm>
          <a:prstGeom prst="roundRect">
            <a:avLst>
              <a:gd name="adj" fmla="val 2264"/>
            </a:avLst>
          </a:prstGeom>
          <a:solidFill>
            <a:srgbClr val="36454F">
              <a:alpha val="70000"/>
            </a:srgbClr>
          </a:solidFill>
          <a:ln w="6350">
            <a:solidFill>
              <a:srgbClr val="6978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463040"/>
            <a:ext cx="42976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This diagram illustrates the core modules of the Horizon Kernel, including the inference engine, memory manager, and communication interface, to show their spatial arrangement.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2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inference engine is the central processing unit responsible for executing machine learning models with optimized performance and decreased system slowdown.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3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memory manager facilitates efficient allocation and deallocation of resources, mitigating memory leaks and supporting larger models for complex jobs.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4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communication interface handles data exchange between the kernel and external systems, emphasizing low-latency and high-bandwidth networking capabilities.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577840" y="1554480"/>
            <a:ext cx="3383280" cy="3840480"/>
          </a:xfrm>
          <a:prstGeom prst="roundRect">
            <a:avLst>
              <a:gd name="adj" fmla="val 4054"/>
            </a:avLst>
          </a:prstGeom>
          <a:solidFill>
            <a:srgbClr val="ADD8E6">
              <a:alpha val="20000"/>
            </a:srgbClr>
          </a:solidFill>
          <a:ln w="12700">
            <a:solidFill>
              <a:srgbClr val="ADD8E6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645920"/>
            <a:ext cx="3200400" cy="3657600"/>
          </a:xfrm>
          <a:prstGeom prst="ellipse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ADD8E6"/>
          </a:solidFill>
          <a:ln/>
        </p:spPr>
      </p:sp>
      <p:sp>
        <p:nvSpPr>
          <p:cNvPr id="11" name="Text 8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2011680" cy="2011680"/>
          </a:xfrm>
          <a:prstGeom prst="rtTriangle">
            <a:avLst/>
          </a:prstGeom>
          <a:solidFill>
            <a:srgbClr val="ADD8E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4572000"/>
            <a:ext cx="1828800" cy="1828800"/>
          </a:xfrm>
          <a:prstGeom prst="ellipse">
            <a:avLst/>
          </a:prstGeom>
          <a:solidFill>
            <a:srgbClr val="B0E0E6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ADD8E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Horizon Kernel Architecture: Layers of Innovation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5029200" cy="4846320"/>
          </a:xfrm>
          <a:prstGeom prst="roundRect">
            <a:avLst>
              <a:gd name="adj" fmla="val 2264"/>
            </a:avLst>
          </a:prstGeom>
          <a:solidFill>
            <a:srgbClr val="36454F">
              <a:alpha val="70000"/>
            </a:srgbClr>
          </a:solidFill>
          <a:ln w="6350">
            <a:solidFill>
              <a:srgbClr val="6978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463040"/>
            <a:ext cx="42976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architecture encapsulates modular design, which enhances reusability and maintainability, enabling iterative enhancements based on new market demands.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2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At its base, the hardware abstraction layer provides compatibility with various hardware platforms, allowing the kernel to be deployed across heterogeneous devices.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3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model management layer handles the loading and deployment of AI models, enabling efficient versioning and A/B testing for performance optimization.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4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Integrated debugging tools allow real-time tracking of kernel activity, identifying bottlenecks and enabling efficient optimization for improved performance.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577840" y="1554480"/>
            <a:ext cx="3383280" cy="3840480"/>
          </a:xfrm>
          <a:prstGeom prst="roundRect">
            <a:avLst>
              <a:gd name="adj" fmla="val 4054"/>
            </a:avLst>
          </a:prstGeom>
          <a:solidFill>
            <a:srgbClr val="ADD8E6">
              <a:alpha val="20000"/>
            </a:srgbClr>
          </a:solidFill>
          <a:ln w="12700">
            <a:solidFill>
              <a:srgbClr val="ADD8E6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645920"/>
            <a:ext cx="3200400" cy="3657600"/>
          </a:xfrm>
          <a:prstGeom prst="ellipse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ADD8E6"/>
          </a:solidFill>
          <a:ln/>
        </p:spPr>
      </p:sp>
      <p:sp>
        <p:nvSpPr>
          <p:cNvPr id="11" name="Text 8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ADD8E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Continuous Learning Loop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3474720"/>
            <a:ext cx="7680960" cy="45720"/>
          </a:xfrm>
          <a:prstGeom prst="rect">
            <a:avLst/>
          </a:prstGeom>
          <a:solidFill>
            <a:srgbClr val="ADD8E6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3337560"/>
            <a:ext cx="365760" cy="365760"/>
          </a:xfrm>
          <a:prstGeom prst="ellipse">
            <a:avLst/>
          </a:prstGeom>
          <a:solidFill>
            <a:srgbClr val="ADD8E6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18">
                <a:alpha val="7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88136" y="2560320"/>
            <a:ext cx="18288" cy="777240"/>
          </a:xfrm>
          <a:prstGeom prst="rect">
            <a:avLst/>
          </a:prstGeom>
          <a:solidFill>
            <a:srgbClr val="4073A6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920240"/>
            <a:ext cx="1005840" cy="411480"/>
          </a:xfrm>
          <a:prstGeom prst="roundRect">
            <a:avLst>
              <a:gd name="adj" fmla="val 13333"/>
            </a:avLst>
          </a:prstGeom>
          <a:solidFill>
            <a:srgbClr val="ADD8E6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92024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1: Data Acquisition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3774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kernel collects and pre-processes real-world data from diverse sources, preparing it for training and refinement of existing models.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377440" y="3337560"/>
            <a:ext cx="365760" cy="365760"/>
          </a:xfrm>
          <a:prstGeom prst="ellipse">
            <a:avLst/>
          </a:prstGeom>
          <a:solidFill>
            <a:srgbClr val="ADD8E6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18">
                <a:alpha val="7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51176" y="3749040"/>
            <a:ext cx="18288" cy="777240"/>
          </a:xfrm>
          <a:prstGeom prst="rect">
            <a:avLst/>
          </a:prstGeom>
          <a:solidFill>
            <a:srgbClr val="4073A6"/>
          </a:solidFill>
          <a:ln/>
        </p:spPr>
      </p:sp>
      <p:sp>
        <p:nvSpPr>
          <p:cNvPr id="13" name="Shape 11"/>
          <p:cNvSpPr/>
          <p:nvPr/>
        </p:nvSpPr>
        <p:spPr>
          <a:xfrm>
            <a:off x="2057400" y="4572000"/>
            <a:ext cx="1005840" cy="411480"/>
          </a:xfrm>
          <a:prstGeom prst="roundRect">
            <a:avLst>
              <a:gd name="adj" fmla="val 13333"/>
            </a:avLst>
          </a:prstGeom>
          <a:solidFill>
            <a:srgbClr val="ADD8E6"/>
          </a:solidFill>
          <a:ln/>
        </p:spPr>
      </p:sp>
      <p:sp>
        <p:nvSpPr>
          <p:cNvPr id="14" name="Text 12"/>
          <p:cNvSpPr/>
          <p:nvPr/>
        </p:nvSpPr>
        <p:spPr>
          <a:xfrm>
            <a:off x="2057400" y="457200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2: Model Training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920240" y="40233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acquired data, the kernel retrains machine learning models, adapting to new patterns and behaviors to improve prediction accuracy.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840480" y="3337560"/>
            <a:ext cx="365760" cy="365760"/>
          </a:xfrm>
          <a:prstGeom prst="ellipse">
            <a:avLst/>
          </a:prstGeom>
          <a:solidFill>
            <a:srgbClr val="ADD8E6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18">
                <a:alpha val="7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014216" y="2560320"/>
            <a:ext cx="18288" cy="777240"/>
          </a:xfrm>
          <a:prstGeom prst="rect">
            <a:avLst/>
          </a:prstGeom>
          <a:solidFill>
            <a:srgbClr val="4073A6"/>
          </a:solidFill>
          <a:ln/>
        </p:spPr>
      </p:sp>
      <p:sp>
        <p:nvSpPr>
          <p:cNvPr id="18" name="Shape 16"/>
          <p:cNvSpPr/>
          <p:nvPr/>
        </p:nvSpPr>
        <p:spPr>
          <a:xfrm>
            <a:off x="3520440" y="1920240"/>
            <a:ext cx="1005840" cy="411480"/>
          </a:xfrm>
          <a:prstGeom prst="roundRect">
            <a:avLst>
              <a:gd name="adj" fmla="val 13333"/>
            </a:avLst>
          </a:prstGeom>
          <a:solidFill>
            <a:srgbClr val="ADD8E6"/>
          </a:solidFill>
          <a:ln/>
        </p:spPr>
      </p:sp>
      <p:sp>
        <p:nvSpPr>
          <p:cNvPr id="19" name="Text 17"/>
          <p:cNvSpPr/>
          <p:nvPr/>
        </p:nvSpPr>
        <p:spPr>
          <a:xfrm>
            <a:off x="3520440" y="192024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3: Validation and Testing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83280" y="23774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models are rigorously tested against validation datasets to ensure generalization and prevent overfitting, which degrades reliability.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303520" y="3337560"/>
            <a:ext cx="365760" cy="365760"/>
          </a:xfrm>
          <a:prstGeom prst="ellipse">
            <a:avLst/>
          </a:prstGeom>
          <a:solidFill>
            <a:srgbClr val="ADD8E6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18">
                <a:alpha val="7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77256" y="3749040"/>
            <a:ext cx="18288" cy="777240"/>
          </a:xfrm>
          <a:prstGeom prst="rect">
            <a:avLst/>
          </a:prstGeom>
          <a:solidFill>
            <a:srgbClr val="4073A6"/>
          </a:solidFill>
          <a:ln/>
        </p:spPr>
      </p:sp>
      <p:sp>
        <p:nvSpPr>
          <p:cNvPr id="23" name="Shape 21"/>
          <p:cNvSpPr/>
          <p:nvPr/>
        </p:nvSpPr>
        <p:spPr>
          <a:xfrm>
            <a:off x="4983480" y="4572000"/>
            <a:ext cx="1005840" cy="411480"/>
          </a:xfrm>
          <a:prstGeom prst="roundRect">
            <a:avLst>
              <a:gd name="adj" fmla="val 13333"/>
            </a:avLst>
          </a:prstGeom>
          <a:solidFill>
            <a:srgbClr val="ADD8E6"/>
          </a:solidFill>
          <a:ln/>
        </p:spPr>
      </p:sp>
      <p:sp>
        <p:nvSpPr>
          <p:cNvPr id="24" name="Text 22"/>
          <p:cNvSpPr/>
          <p:nvPr/>
        </p:nvSpPr>
        <p:spPr>
          <a:xfrm>
            <a:off x="4983480" y="457200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4: Model Deployment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46320" y="40233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models are deployed into the live environment, integrated seamlessly with existing systems to start impacting real-time decision-making tasks.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766560" y="3337560"/>
            <a:ext cx="365760" cy="365760"/>
          </a:xfrm>
          <a:prstGeom prst="ellipse">
            <a:avLst/>
          </a:prstGeom>
          <a:solidFill>
            <a:srgbClr val="ADD8E6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18">
                <a:alpha val="7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940296" y="2560320"/>
            <a:ext cx="18288" cy="777240"/>
          </a:xfrm>
          <a:prstGeom prst="rect">
            <a:avLst/>
          </a:prstGeom>
          <a:solidFill>
            <a:srgbClr val="4073A6"/>
          </a:solidFill>
          <a:ln/>
        </p:spPr>
      </p:sp>
      <p:sp>
        <p:nvSpPr>
          <p:cNvPr id="28" name="Shape 26"/>
          <p:cNvSpPr/>
          <p:nvPr/>
        </p:nvSpPr>
        <p:spPr>
          <a:xfrm>
            <a:off x="6446520" y="1920240"/>
            <a:ext cx="1005840" cy="411480"/>
          </a:xfrm>
          <a:prstGeom prst="roundRect">
            <a:avLst>
              <a:gd name="adj" fmla="val 13333"/>
            </a:avLst>
          </a:prstGeom>
          <a:solidFill>
            <a:srgbClr val="ADD8E6"/>
          </a:solidFill>
          <a:ln/>
        </p:spPr>
      </p:sp>
      <p:sp>
        <p:nvSpPr>
          <p:cNvPr id="29" name="Text 27"/>
          <p:cNvSpPr/>
          <p:nvPr/>
        </p:nvSpPr>
        <p:spPr>
          <a:xfrm>
            <a:off x="6446520" y="192024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5: Performance Monitoring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09360" y="23774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kernel continuously monitors the performance of deployed models, tracking key metrics and identifying areas for further optimization and refinement.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ADD8E6"/>
          </a:solidFill>
          <a:ln/>
        </p:spPr>
      </p:sp>
      <p:sp>
        <p:nvSpPr>
          <p:cNvPr id="32" name="Text 30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ADD8E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Accelerated Development: The 90-Day Build Plan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3474720"/>
            <a:ext cx="7680960" cy="45720"/>
          </a:xfrm>
          <a:prstGeom prst="rect">
            <a:avLst/>
          </a:prstGeom>
          <a:solidFill>
            <a:srgbClr val="ADD8E6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3337560"/>
            <a:ext cx="365760" cy="365760"/>
          </a:xfrm>
          <a:prstGeom prst="ellipse">
            <a:avLst/>
          </a:prstGeom>
          <a:solidFill>
            <a:srgbClr val="ADD8E6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18">
                <a:alpha val="7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88136" y="2560320"/>
            <a:ext cx="18288" cy="777240"/>
          </a:xfrm>
          <a:prstGeom prst="rect">
            <a:avLst/>
          </a:prstGeom>
          <a:solidFill>
            <a:srgbClr val="4073A6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920240"/>
            <a:ext cx="1005840" cy="411480"/>
          </a:xfrm>
          <a:prstGeom prst="roundRect">
            <a:avLst>
              <a:gd name="adj" fmla="val 13333"/>
            </a:avLst>
          </a:prstGeom>
          <a:solidFill>
            <a:srgbClr val="ADD8E6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92024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 1-4: Foundation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3774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Establishing core architecture, defining the key interfaces, and conducting initial proof-of-concept testing to evaluate core functionality.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0" y="3337560"/>
            <a:ext cx="365760" cy="365760"/>
          </a:xfrm>
          <a:prstGeom prst="ellipse">
            <a:avLst/>
          </a:prstGeom>
          <a:solidFill>
            <a:srgbClr val="ADD8E6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18">
                <a:alpha val="7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916936" y="3749040"/>
            <a:ext cx="18288" cy="777240"/>
          </a:xfrm>
          <a:prstGeom prst="rect">
            <a:avLst/>
          </a:prstGeom>
          <a:solidFill>
            <a:srgbClr val="4073A6"/>
          </a:solidFill>
          <a:ln/>
        </p:spPr>
      </p:sp>
      <p:sp>
        <p:nvSpPr>
          <p:cNvPr id="13" name="Shape 11"/>
          <p:cNvSpPr/>
          <p:nvPr/>
        </p:nvSpPr>
        <p:spPr>
          <a:xfrm>
            <a:off x="2423160" y="4572000"/>
            <a:ext cx="1005840" cy="411480"/>
          </a:xfrm>
          <a:prstGeom prst="roundRect">
            <a:avLst>
              <a:gd name="adj" fmla="val 13333"/>
            </a:avLst>
          </a:prstGeom>
          <a:solidFill>
            <a:srgbClr val="ADD8E6"/>
          </a:solidFill>
          <a:ln/>
        </p:spPr>
      </p:sp>
      <p:sp>
        <p:nvSpPr>
          <p:cNvPr id="14" name="Text 12"/>
          <p:cNvSpPr/>
          <p:nvPr/>
        </p:nvSpPr>
        <p:spPr>
          <a:xfrm>
            <a:off x="2423160" y="457200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 5-8: Module Integration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0" y="40233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Integrating core modules such as inference engine and memory manager, ensuring seamless data flow and efficient resource allocation among components.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0" y="3337560"/>
            <a:ext cx="365760" cy="365760"/>
          </a:xfrm>
          <a:prstGeom prst="ellipse">
            <a:avLst/>
          </a:prstGeom>
          <a:solidFill>
            <a:srgbClr val="ADD8E6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18">
                <a:alpha val="7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45736" y="2560320"/>
            <a:ext cx="18288" cy="777240"/>
          </a:xfrm>
          <a:prstGeom prst="rect">
            <a:avLst/>
          </a:prstGeom>
          <a:solidFill>
            <a:srgbClr val="4073A6"/>
          </a:solidFill>
          <a:ln/>
        </p:spPr>
      </p:sp>
      <p:sp>
        <p:nvSpPr>
          <p:cNvPr id="18" name="Shape 16"/>
          <p:cNvSpPr/>
          <p:nvPr/>
        </p:nvSpPr>
        <p:spPr>
          <a:xfrm>
            <a:off x="4251960" y="1920240"/>
            <a:ext cx="1005840" cy="411480"/>
          </a:xfrm>
          <a:prstGeom prst="roundRect">
            <a:avLst>
              <a:gd name="adj" fmla="val 13333"/>
            </a:avLst>
          </a:prstGeom>
          <a:solidFill>
            <a:srgbClr val="ADD8E6"/>
          </a:solidFill>
          <a:ln/>
        </p:spPr>
      </p:sp>
      <p:sp>
        <p:nvSpPr>
          <p:cNvPr id="19" name="Text 17"/>
          <p:cNvSpPr/>
          <p:nvPr/>
        </p:nvSpPr>
        <p:spPr>
          <a:xfrm>
            <a:off x="4251960" y="192024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 9-12: System Optimization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14800" y="23774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Optimizing kernel performance through profiling, implementing caching strategies, and reducing memory footprint to meet stringent performance requirements.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400800" y="3337560"/>
            <a:ext cx="365760" cy="365760"/>
          </a:xfrm>
          <a:prstGeom prst="ellipse">
            <a:avLst/>
          </a:prstGeom>
          <a:solidFill>
            <a:srgbClr val="ADD8E6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18">
                <a:alpha val="7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74536" y="3749040"/>
            <a:ext cx="18288" cy="777240"/>
          </a:xfrm>
          <a:prstGeom prst="rect">
            <a:avLst/>
          </a:prstGeom>
          <a:solidFill>
            <a:srgbClr val="4073A6"/>
          </a:solidFill>
          <a:ln/>
        </p:spPr>
      </p:sp>
      <p:sp>
        <p:nvSpPr>
          <p:cNvPr id="23" name="Shape 21"/>
          <p:cNvSpPr/>
          <p:nvPr/>
        </p:nvSpPr>
        <p:spPr>
          <a:xfrm>
            <a:off x="6080760" y="4572000"/>
            <a:ext cx="1005840" cy="411480"/>
          </a:xfrm>
          <a:prstGeom prst="roundRect">
            <a:avLst>
              <a:gd name="adj" fmla="val 13333"/>
            </a:avLst>
          </a:prstGeom>
          <a:solidFill>
            <a:srgbClr val="ADD8E6"/>
          </a:solidFill>
          <a:ln/>
        </p:spPr>
      </p:sp>
      <p:sp>
        <p:nvSpPr>
          <p:cNvPr id="24" name="Text 22"/>
          <p:cNvSpPr/>
          <p:nvPr/>
        </p:nvSpPr>
        <p:spPr>
          <a:xfrm>
            <a:off x="6080760" y="457200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 13: Testing and Validation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43600" y="40233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Conducting comprehensive testing and validation to ensure stability, reliability, and adherence to specified performance benchmarks for optimal end-user experience.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ADD8E6"/>
          </a:solidFill>
          <a:ln/>
        </p:spPr>
      </p:sp>
      <p:sp>
        <p:nvSpPr>
          <p:cNvPr id="27" name="Text 25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731520"/>
            <a:ext cx="2743200" cy="2743200"/>
          </a:xfrm>
          <a:prstGeom prst="ellipse">
            <a:avLst/>
          </a:prstGeom>
          <a:solidFill>
            <a:srgbClr val="ADD8E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029200"/>
            <a:ext cx="2286000" cy="2286000"/>
          </a:xfrm>
          <a:prstGeom prst="ellipse">
            <a:avLst/>
          </a:prstGeom>
          <a:solidFill>
            <a:srgbClr val="B0E0E6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ADD8E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Performance Indicators (KPIs) for the Horizon Kernel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5029200" cy="4846320"/>
          </a:xfrm>
          <a:prstGeom prst="roundRect">
            <a:avLst>
              <a:gd name="adj" fmla="val 2264"/>
            </a:avLst>
          </a:prstGeom>
          <a:solidFill>
            <a:srgbClr val="36454F">
              <a:alpha val="70000"/>
            </a:srgbClr>
          </a:solidFill>
          <a:ln w="6350">
            <a:solidFill>
              <a:srgbClr val="6978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463040"/>
            <a:ext cx="42976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inference speed reflects the kernel's ability to process data and make predictions quickly, directly correlating to real-time decision-making capabilities.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2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Resource utilization gauges the efficiency of memory and computational resources, reducing overall operational costs and promoting eco-friendly practices.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3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Model accuracy tracks the performance of deployed models, ensuring alignment with business goals while continuously adapting to evolving data patterns.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4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System uptime measures the reliability and stability of the kernel, crucial for maintaining continuous operation and preventing service interruptions that impact consumers.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577840" y="1554480"/>
            <a:ext cx="3383280" cy="3840480"/>
          </a:xfrm>
          <a:prstGeom prst="roundRect">
            <a:avLst>
              <a:gd name="adj" fmla="val 4054"/>
            </a:avLst>
          </a:prstGeom>
          <a:solidFill>
            <a:srgbClr val="ADD8E6">
              <a:alpha val="20000"/>
            </a:srgbClr>
          </a:solidFill>
          <a:ln w="12700">
            <a:solidFill>
              <a:srgbClr val="ADD8E6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645920"/>
            <a:ext cx="3200400" cy="3657600"/>
          </a:xfrm>
          <a:prstGeom prst="ellipse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ADD8E6"/>
          </a:solidFill>
          <a:ln/>
        </p:spPr>
      </p:sp>
      <p:sp>
        <p:nvSpPr>
          <p:cNvPr id="11" name="Text 8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ADD8E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vs. Horizon Kernel: A Performance Showdown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434840" y="1188720"/>
            <a:ext cx="274320" cy="4846320"/>
          </a:xfrm>
          <a:prstGeom prst="rect">
            <a:avLst/>
          </a:prstGeom>
          <a:solidFill>
            <a:srgbClr val="26598C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114800" y="3108960"/>
            <a:ext cx="914400" cy="914400"/>
          </a:xfrm>
          <a:prstGeom prst="ellipse">
            <a:avLst/>
          </a:prstGeom>
          <a:solidFill>
            <a:srgbClr val="ADD8E6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0" y="31089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188720"/>
            <a:ext cx="3931920" cy="4846320"/>
          </a:xfrm>
          <a:prstGeom prst="roundRect">
            <a:avLst>
              <a:gd name="adj" fmla="val 2326"/>
            </a:avLst>
          </a:prstGeom>
          <a:solidFill>
            <a:srgbClr val="36454F">
              <a:alpha val="65000"/>
            </a:srgbClr>
          </a:solidFill>
          <a:ln w="12700">
            <a:solidFill>
              <a:srgbClr val="ADD8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3716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DD8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Typical Agent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32004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Offers limited scalability due to monolithic architecture, making them unsuitable for large-scale deployments in heavy duty enterprise.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Higher latency in processing data, thus impacting real-time decision-making and delaying responses that customers demand.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Limited support for heterogeneous data sources that can complicate integration with diverse systems in an ecosystem.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846320" y="1188720"/>
            <a:ext cx="3931920" cy="4846320"/>
          </a:xfrm>
          <a:prstGeom prst="roundRect">
            <a:avLst>
              <a:gd name="adj" fmla="val 2326"/>
            </a:avLst>
          </a:prstGeom>
          <a:solidFill>
            <a:srgbClr val="36454F">
              <a:alpha val="65000"/>
            </a:srgbClr>
          </a:solidFill>
          <a:ln w="12700">
            <a:solidFill>
              <a:srgbClr val="B0E0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13716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0E0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Horizon Kernel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212080" y="2103120"/>
            <a:ext cx="32004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Offers enhanced scalability with modular architecture, better suited for handling large volumes of data in sophisticated applications.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Provides lower latency driven by optimized inference engine, making the kernel superior for real-time processing with fast response times.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Supports diverse heterogenous data sources, simplifying integration of data from various sources and enterprise software for business solutions.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ADD8E6"/>
          </a:solidFill>
          <a:ln/>
        </p:spPr>
      </p:sp>
      <p:sp>
        <p:nvSpPr>
          <p:cNvPr id="15" name="Text 13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ADD8E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World Model Research: Bridging Simulation and Reality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434840" y="1188720"/>
            <a:ext cx="274320" cy="4846320"/>
          </a:xfrm>
          <a:prstGeom prst="rect">
            <a:avLst/>
          </a:prstGeom>
          <a:solidFill>
            <a:srgbClr val="26598C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114800" y="3108960"/>
            <a:ext cx="914400" cy="914400"/>
          </a:xfrm>
          <a:prstGeom prst="ellipse">
            <a:avLst/>
          </a:prstGeom>
          <a:solidFill>
            <a:srgbClr val="ADD8E6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0" y="31089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188720"/>
            <a:ext cx="3931920" cy="4846320"/>
          </a:xfrm>
          <a:prstGeom prst="roundRect">
            <a:avLst>
              <a:gd name="adj" fmla="val 2326"/>
            </a:avLst>
          </a:prstGeom>
          <a:solidFill>
            <a:srgbClr val="36454F">
              <a:alpha val="65000"/>
            </a:srgbClr>
          </a:solidFill>
          <a:ln w="12700">
            <a:solidFill>
              <a:srgbClr val="ADD8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3716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DD8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Traditional Approaches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32004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Relies on pre-defined rules and static environments which can fail to capture the complexity and dynamics of the real world systems.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Struggle to generalize across evolving conditions limiting their applicability in uncertain, non-steady state conditions.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Can be computationally expensive thus inhibiting the speed and efficiency of predictive modeling over dynamic situations.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846320" y="1188720"/>
            <a:ext cx="3931920" cy="4846320"/>
          </a:xfrm>
          <a:prstGeom prst="roundRect">
            <a:avLst>
              <a:gd name="adj" fmla="val 2326"/>
            </a:avLst>
          </a:prstGeom>
          <a:solidFill>
            <a:srgbClr val="36454F">
              <a:alpha val="65000"/>
            </a:srgbClr>
          </a:solidFill>
          <a:ln w="12700">
            <a:solidFill>
              <a:srgbClr val="B0E0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13716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0E0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Horizon Kernel Advancements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212080" y="2103120"/>
            <a:ext cx="32004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Uses real-time data integration from sensors and IoT devices increasing the accuracy of world model behavior in complex scenarios.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Utilizes machine learning algorithms to adapt to new conditions by improving the prediction and generalization across diverse environments.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Allows for scalable simulations which support exploration of diverse what-if scenarios to improve business optimization and risk management situations.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ADD8E6"/>
          </a:solidFill>
          <a:ln/>
        </p:spPr>
      </p:sp>
      <p:sp>
        <p:nvSpPr>
          <p:cNvPr id="15" name="Text 13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DD8E6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457200"/>
            <a:ext cx="1463040" cy="1463040"/>
          </a:xfrm>
          <a:prstGeom prst="ellipse">
            <a:avLst/>
          </a:prstGeom>
          <a:solidFill>
            <a:srgbClr val="B0E0E6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4754880"/>
            <a:ext cx="914400" cy="914400"/>
          </a:xfrm>
          <a:prstGeom prst="ellipse">
            <a:avLst/>
          </a:prstGeom>
          <a:solidFill>
            <a:srgbClr val="ADD8E6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ADD8E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 Context Protocol: Ensuring AI Coherence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5029200" cy="4846320"/>
          </a:xfrm>
          <a:prstGeom prst="roundRect">
            <a:avLst>
              <a:gd name="adj" fmla="val 2264"/>
            </a:avLst>
          </a:prstGeom>
          <a:solidFill>
            <a:srgbClr val="36454F">
              <a:alpha val="70000"/>
            </a:srgbClr>
          </a:solidFill>
          <a:ln w="6350">
            <a:solidFill>
              <a:srgbClr val="6978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463040"/>
            <a:ext cx="42976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Model Context Protocol provides a standardized framework for encapsulating contextual information of AI models, ensuring reusability and transparency.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2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protocol facilitates seamless model integration across various platforms, promoting operational efficiency and adaptability to evolving system needs.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3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It enables enhanced auditability of AI decisions, allowing for in-depth analysis and compliance with regulatory requirements while providing consumer assurances.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4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protocol enhances the reliability and robustness of AI systems by explicitly defining model assumptions and limitations, which improves safety.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577840" y="1554480"/>
            <a:ext cx="3383280" cy="3840480"/>
          </a:xfrm>
          <a:prstGeom prst="roundRect">
            <a:avLst>
              <a:gd name="adj" fmla="val 4054"/>
            </a:avLst>
          </a:prstGeom>
          <a:solidFill>
            <a:srgbClr val="ADD8E6">
              <a:alpha val="20000"/>
            </a:srgbClr>
          </a:solidFill>
          <a:ln w="12700">
            <a:solidFill>
              <a:srgbClr val="ADD8E6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645920"/>
            <a:ext cx="3200400" cy="3657600"/>
          </a:xfrm>
          <a:prstGeom prst="ellipse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ADD8E6"/>
          </a:solidFill>
          <a:ln/>
        </p:spPr>
      </p:sp>
      <p:sp>
        <p:nvSpPr>
          <p:cNvPr id="12" name="Text 9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ADD8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ADD8E6">
              <a:alpha val="7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1645920"/>
            <a:ext cx="7315200" cy="228600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25400" dir="16200000">
              <a:srgbClr val="00000060">
                <a:alpha val="75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Horizon is Here</a:t>
            </a:r>
            <a:endParaRPr lang="en-US" sz="4200" dirty="0"/>
          </a:p>
        </p:txBody>
      </p:sp>
      <p:sp>
        <p:nvSpPr>
          <p:cNvPr id="5" name="Shape 2"/>
          <p:cNvSpPr/>
          <p:nvPr/>
        </p:nvSpPr>
        <p:spPr>
          <a:xfrm>
            <a:off x="3200400" y="3931920"/>
            <a:ext cx="27432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41148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Horizon Kernel represents the next evolution in adaptive and accelerated machine learning, improving AI performance across domains.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Horizon Kernel: A Deep Dive</dc:title>
  <dc:subject>Generated by Pre Max AI — Techno Blue</dc:subject>
  <dc:creator>PptxGenJS</dc:creator>
  <cp:lastModifiedBy>PptxGenJS</cp:lastModifiedBy>
  <cp:revision>1</cp:revision>
  <dcterms:created xsi:type="dcterms:W3CDTF">2026-02-14T17:16:46Z</dcterms:created>
  <dcterms:modified xsi:type="dcterms:W3CDTF">2026-02-14T17:16:46Z</dcterms:modified>
</cp:coreProperties>
</file>