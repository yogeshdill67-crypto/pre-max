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MASTER">
    <p:bg>
      <p:bgPr>
        <a:solidFill>
          <a:srgbClr val="F0FD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309360"/>
            <a:ext cx="12192000" cy="548640"/>
          </a:xfrm>
          <a:prstGeom prst="rect">
            <a:avLst/>
          </a:prstGeom>
          <a:solidFill>
            <a:srgbClr val="16A34A">
              <a:alpha val="1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644652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6EF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 MAX AI</a:t>
            </a:r>
            <a:endParaRPr lang="en-US" sz="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_MASTER">
    <p:bg>
      <p:bgPr>
        <a:solidFill>
          <a:srgbClr val="16A3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A3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4572000" cy="4572000"/>
          </a:xfrm>
          <a:prstGeom prst="ellipse">
            <a:avLst/>
          </a:prstGeom>
          <a:solidFill>
            <a:srgbClr val="15803D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400800" y="3657600"/>
            <a:ext cx="3657600" cy="3657600"/>
          </a:xfrm>
          <a:prstGeom prst="ellipse">
            <a:avLst/>
          </a:prstGeom>
          <a:solidFill>
            <a:srgbClr val="FFFFFF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772400" y="-914400"/>
            <a:ext cx="2743200" cy="2743200"/>
          </a:xfrm>
          <a:prstGeom prst="ellipse">
            <a:avLst/>
          </a:prstGeom>
          <a:solidFill>
            <a:srgbClr val="15803D">
              <a:alpha val="2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645920"/>
            <a:ext cx="7315200" cy="1828800"/>
          </a:xfrm>
          <a:prstGeom prst="rect">
            <a:avLst/>
          </a:prstGeom>
          <a:noFill/>
          <a:ln/>
          <a:effectLst>
            <a:outerShdw sx="100000" sy="100000" kx="0" ky="0" algn="bl" rotWithShape="0" blurRad="101600" dist="25400" dir="16200000">
              <a:srgbClr val="00000040">
                <a:alpha val="75000"/>
              </a:srgbClr>
            </a:outerShdw>
          </a:effectLst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Modern Smart Irrigation: A Global Bridge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731520" y="347472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EDUCATION • FOREST GREEN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3931920"/>
            <a:ext cx="2743200" cy="54864"/>
          </a:xfrm>
          <a:prstGeom prst="rect">
            <a:avLst/>
          </a:prstGeom>
          <a:solidFill>
            <a:srgbClr val="FFFFFF">
              <a:alpha val="50000"/>
            </a:srgbClr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0" y="-2743200"/>
            <a:ext cx="7315200" cy="7315200"/>
          </a:xfrm>
          <a:prstGeom prst="ellipse">
            <a:avLst/>
          </a:prstGeom>
          <a:solidFill>
            <a:srgbClr val="15803D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486400" y="2743200"/>
            <a:ext cx="5486400" cy="5486400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315200" y="-1828800"/>
            <a:ext cx="3657600" cy="3657600"/>
          </a:xfrm>
          <a:prstGeom prst="ellipse">
            <a:avLst/>
          </a:prstGeom>
          <a:solidFill>
            <a:srgbClr val="15803D">
              <a:alpha val="2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828800"/>
            <a:ext cx="7315200" cy="1828800"/>
          </a:xfrm>
          <a:prstGeom prst="rect">
            <a:avLst/>
          </a:prstGeom>
          <a:noFill/>
          <a:ln/>
          <a:effectLst>
            <a:outerShdw sx="100000" sy="100000" kx="0" ky="0" algn="bl" rotWithShape="0" blurRad="76200" dist="25400" dir="16200000">
              <a:srgbClr val="00000030">
                <a:alpha val="75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Introduction: Smart Irrigation</a:t>
            </a:r>
            <a:endParaRPr lang="en-US" sz="4400" dirty="0"/>
          </a:p>
        </p:txBody>
      </p:sp>
      <p:sp>
        <p:nvSpPr>
          <p:cNvPr id="6" name="Shape 4"/>
          <p:cNvSpPr/>
          <p:nvPr/>
        </p:nvSpPr>
        <p:spPr>
          <a:xfrm>
            <a:off x="3200400" y="3749040"/>
            <a:ext cx="2743200" cy="45720"/>
          </a:xfrm>
          <a:prstGeom prst="rect">
            <a:avLst/>
          </a:prstGeom>
          <a:solidFill>
            <a:srgbClr val="FFFFFF">
              <a:alpha val="5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393192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Solving agriculture's critical problems with modern technology.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0"/>
            <a:ext cx="1371600" cy="6858000"/>
          </a:xfrm>
          <a:prstGeom prst="rect">
            <a:avLst/>
          </a:prstGeom>
          <a:solidFill>
            <a:srgbClr val="16A34A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731520" y="-731520"/>
            <a:ext cx="1828800" cy="1828800"/>
          </a:xfrm>
          <a:prstGeom prst="ellipse">
            <a:avLst/>
          </a:prstGeom>
          <a:solidFill>
            <a:srgbClr val="15803D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371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Challenges in Agriculture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8229600" cy="4754880"/>
          </a:xfrm>
          <a:prstGeom prst="roundRect">
            <a:avLst>
              <a:gd name="adj" fmla="val 2885"/>
            </a:avLst>
          </a:prstGeom>
          <a:solidFill>
            <a:srgbClr val="D1FAE5">
              <a:alpha val="70000"/>
            </a:srgbClr>
          </a:solidFill>
          <a:ln w="6350">
            <a:solidFill>
              <a:srgbClr val="86EFA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554480"/>
            <a:ext cx="749808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rgbClr val="1453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Human safety risks in remote fields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2"/>
            </a:pPr>
            <a:r>
              <a:rPr lang="en-US" sz="1700" dirty="0">
                <a:solidFill>
                  <a:srgbClr val="1453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Inefficient resource management (water and electricity)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3"/>
            </a:pPr>
            <a:r>
              <a:rPr lang="en-US" sz="1700" dirty="0">
                <a:solidFill>
                  <a:srgbClr val="1453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Lack of remote monitoring and control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4"/>
            </a:pPr>
            <a:r>
              <a:rPr lang="en-US" sz="1700" dirty="0">
                <a:solidFill>
                  <a:srgbClr val="1453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Potential for infrastructure damage (motor burnout)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8412480" y="5943600"/>
            <a:ext cx="457200" cy="45720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9" name="Text 7"/>
          <p:cNvSpPr/>
          <p:nvPr/>
        </p:nvSpPr>
        <p:spPr>
          <a:xfrm>
            <a:off x="8412480" y="5943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" y="-274320"/>
            <a:ext cx="1828800" cy="1828800"/>
          </a:xfrm>
          <a:prstGeom prst="rtTriangle">
            <a:avLst/>
          </a:prstGeom>
          <a:solidFill>
            <a:srgbClr val="16A34A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10800000">
            <a:off x="7772400" y="5303520"/>
            <a:ext cx="1828800" cy="1828800"/>
          </a:xfrm>
          <a:prstGeom prst="rtTriangle">
            <a:avLst/>
          </a:prstGeom>
          <a:solidFill>
            <a:srgbClr val="15803D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371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Architecture: Global Control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74320" y="1188720"/>
            <a:ext cx="8595360" cy="4754880"/>
          </a:xfrm>
          <a:prstGeom prst="roundRect">
            <a:avLst>
              <a:gd name="adj" fmla="val 1923"/>
            </a:avLst>
          </a:prstGeom>
          <a:solidFill>
            <a:srgbClr val="FFFFFF">
              <a:alpha val="85000"/>
            </a:srgbClr>
          </a:solidFill>
          <a:ln w="6350">
            <a:solidFill>
              <a:srgbClr val="86EFA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377440" y="1988820"/>
            <a:ext cx="365760" cy="0"/>
          </a:xfrm>
          <a:prstGeom prst="line">
            <a:avLst/>
          </a:prstGeom>
          <a:noFill/>
          <a:ln w="25400">
            <a:solidFill>
              <a:srgbClr val="16A3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0" y="146304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16A34A"/>
                </a:solidFill>
              </a:rPr>
              <a:t>▶</a:t>
            </a:r>
            <a:endParaRPr lang="en-US" sz="600" dirty="0"/>
          </a:p>
        </p:txBody>
      </p:sp>
      <p:sp>
        <p:nvSpPr>
          <p:cNvPr id="9" name="Shape 7"/>
          <p:cNvSpPr/>
          <p:nvPr/>
        </p:nvSpPr>
        <p:spPr>
          <a:xfrm>
            <a:off x="4389120" y="1988820"/>
            <a:ext cx="365760" cy="0"/>
          </a:xfrm>
          <a:prstGeom prst="line">
            <a:avLst/>
          </a:prstGeom>
          <a:noFill/>
          <a:ln w="25400">
            <a:solidFill>
              <a:srgbClr val="16A3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0" y="146304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16A34A"/>
                </a:solidFill>
              </a:rPr>
              <a:t>▶</a:t>
            </a:r>
            <a:endParaRPr lang="en-US" sz="600" dirty="0"/>
          </a:p>
        </p:txBody>
      </p:sp>
      <p:sp>
        <p:nvSpPr>
          <p:cNvPr id="11" name="Shape 9"/>
          <p:cNvSpPr/>
          <p:nvPr/>
        </p:nvSpPr>
        <p:spPr>
          <a:xfrm>
            <a:off x="6400800" y="1988820"/>
            <a:ext cx="365760" cy="0"/>
          </a:xfrm>
          <a:prstGeom prst="line">
            <a:avLst/>
          </a:prstGeom>
          <a:noFill/>
          <a:ln w="25400">
            <a:solidFill>
              <a:srgbClr val="16A3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98080" y="146304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16A34A"/>
                </a:solidFill>
              </a:rPr>
              <a:t>▶</a:t>
            </a:r>
            <a:endParaRPr lang="en-US" sz="600" dirty="0"/>
          </a:p>
        </p:txBody>
      </p:sp>
      <p:sp>
        <p:nvSpPr>
          <p:cNvPr id="13" name="Shape 11"/>
          <p:cNvSpPr/>
          <p:nvPr/>
        </p:nvSpPr>
        <p:spPr>
          <a:xfrm>
            <a:off x="7589520" y="2331720"/>
            <a:ext cx="-6035040" cy="685800"/>
          </a:xfrm>
          <a:prstGeom prst="line">
            <a:avLst/>
          </a:prstGeom>
          <a:noFill/>
          <a:ln w="254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463040" y="283464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16A34A"/>
                </a:solidFill>
              </a:rPr>
              <a:t>▶</a:t>
            </a:r>
            <a:endParaRPr lang="en-US" sz="600" dirty="0"/>
          </a:p>
        </p:txBody>
      </p:sp>
      <p:sp>
        <p:nvSpPr>
          <p:cNvPr id="15" name="Shape 13"/>
          <p:cNvSpPr/>
          <p:nvPr/>
        </p:nvSpPr>
        <p:spPr>
          <a:xfrm>
            <a:off x="2377440" y="3360420"/>
            <a:ext cx="365760" cy="0"/>
          </a:xfrm>
          <a:prstGeom prst="line">
            <a:avLst/>
          </a:prstGeom>
          <a:noFill/>
          <a:ln w="25400">
            <a:solidFill>
              <a:srgbClr val="16A3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74720" y="283464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16A34A"/>
                </a:solidFill>
              </a:rPr>
              <a:t>▶</a:t>
            </a:r>
            <a:endParaRPr lang="en-US" sz="600" dirty="0"/>
          </a:p>
        </p:txBody>
      </p:sp>
      <p:sp>
        <p:nvSpPr>
          <p:cNvPr id="17" name="Shape 15"/>
          <p:cNvSpPr/>
          <p:nvPr/>
        </p:nvSpPr>
        <p:spPr>
          <a:xfrm>
            <a:off x="731520" y="1645920"/>
            <a:ext cx="1645920" cy="685800"/>
          </a:xfrm>
          <a:prstGeom prst="ellipse">
            <a:avLst/>
          </a:prstGeom>
          <a:solidFill>
            <a:srgbClr val="10B981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30">
                <a:alpha val="7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31520" y="1645920"/>
            <a:ext cx="1645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User (App)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43200" y="1645920"/>
            <a:ext cx="1645920" cy="685800"/>
          </a:xfrm>
          <a:prstGeom prst="rect">
            <a:avLst>
              <a:gd name="adj" fmla="val 10667"/>
            </a:avLst>
          </a:prstGeom>
          <a:solidFill>
            <a:srgbClr val="3B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30">
                <a:alpha val="7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2743200" y="1645920"/>
            <a:ext cx="1645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IoT Cloud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54880" y="1645920"/>
            <a:ext cx="1645920" cy="685800"/>
          </a:xfrm>
          <a:prstGeom prst="rect">
            <a:avLst>
              <a:gd name="adj" fmla="val 10667"/>
            </a:avLst>
          </a:prstGeom>
          <a:solidFill>
            <a:srgbClr val="3B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30">
                <a:alpha val="7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754880" y="1645920"/>
            <a:ext cx="1645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ESP32 Gateway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766560" y="1645920"/>
            <a:ext cx="1645920" cy="685800"/>
          </a:xfrm>
          <a:prstGeom prst="rect">
            <a:avLst>
              <a:gd name="adj" fmla="val 10667"/>
            </a:avLst>
          </a:prstGeom>
          <a:solidFill>
            <a:srgbClr val="3B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30">
                <a:alpha val="7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766560" y="1645920"/>
            <a:ext cx="1645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LoRa Receiver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31520" y="3017520"/>
            <a:ext cx="1645920" cy="685800"/>
          </a:xfrm>
          <a:prstGeom prst="rect">
            <a:avLst>
              <a:gd name="adj" fmla="val 10667"/>
            </a:avLst>
          </a:prstGeom>
          <a:solidFill>
            <a:srgbClr val="3B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30">
                <a:alpha val="7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731520" y="3017520"/>
            <a:ext cx="1645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Relay Switch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743200" y="3017520"/>
            <a:ext cx="1645920" cy="685800"/>
          </a:xfrm>
          <a:prstGeom prst="ellipse">
            <a:avLst/>
          </a:prstGeom>
          <a:solidFill>
            <a:srgbClr val="EF4444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30">
                <a:alpha val="7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2743200" y="3017520"/>
            <a:ext cx="1645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Motor/Pump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57200" y="5760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1453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Signal path from user's phone to agricultural motor via ESP32 and LoRa.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8412480" y="5943600"/>
            <a:ext cx="457200" cy="45720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31" name="Text 29"/>
          <p:cNvSpPr/>
          <p:nvPr/>
        </p:nvSpPr>
        <p:spPr>
          <a:xfrm>
            <a:off x="8412480" y="5943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0" y="-2743200"/>
            <a:ext cx="7315200" cy="7315200"/>
          </a:xfrm>
          <a:prstGeom prst="ellipse">
            <a:avLst/>
          </a:prstGeom>
          <a:solidFill>
            <a:srgbClr val="15803D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486400" y="2743200"/>
            <a:ext cx="5486400" cy="5486400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315200" y="-1828800"/>
            <a:ext cx="3657600" cy="3657600"/>
          </a:xfrm>
          <a:prstGeom prst="ellipse">
            <a:avLst/>
          </a:prstGeom>
          <a:solidFill>
            <a:srgbClr val="15803D">
              <a:alpha val="2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828800"/>
            <a:ext cx="7315200" cy="1828800"/>
          </a:xfrm>
          <a:prstGeom prst="rect">
            <a:avLst/>
          </a:prstGeom>
          <a:noFill/>
          <a:ln/>
          <a:effectLst>
            <a:outerShdw sx="100000" sy="100000" kx="0" ky="0" algn="bl" rotWithShape="0" blurRad="76200" dist="25400" dir="16200000">
              <a:srgbClr val="00000030">
                <a:alpha val="75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Traditional vs. Smart System</a:t>
            </a:r>
            <a:endParaRPr lang="en-US" sz="4400" dirty="0"/>
          </a:p>
        </p:txBody>
      </p:sp>
      <p:sp>
        <p:nvSpPr>
          <p:cNvPr id="6" name="Shape 4"/>
          <p:cNvSpPr/>
          <p:nvPr/>
        </p:nvSpPr>
        <p:spPr>
          <a:xfrm>
            <a:off x="3200400" y="3749040"/>
            <a:ext cx="2743200" cy="45720"/>
          </a:xfrm>
          <a:prstGeom prst="rect">
            <a:avLst/>
          </a:prstGeom>
          <a:solidFill>
            <a:srgbClr val="FFFFFF">
              <a:alpha val="5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393192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comparison of conventional methods and the proposed solution.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914400"/>
            <a:ext cx="3657600" cy="3657600"/>
          </a:xfrm>
          <a:prstGeom prst="ellipse">
            <a:avLst/>
          </a:prstGeom>
          <a:solidFill>
            <a:srgbClr val="16A34A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315200" y="457200"/>
            <a:ext cx="2286000" cy="2286000"/>
          </a:xfrm>
          <a:prstGeom prst="ellipse">
            <a:avLst/>
          </a:prstGeom>
          <a:solidFill>
            <a:srgbClr val="15803D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371600" y="4114800"/>
            <a:ext cx="2743200" cy="2743200"/>
          </a:xfrm>
          <a:prstGeom prst="ellipse">
            <a:avLst/>
          </a:prstGeom>
          <a:solidFill>
            <a:srgbClr val="16A34A">
              <a:alpha val="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371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Conventional vs. Smart Irrigation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4434840" y="1280160"/>
            <a:ext cx="274320" cy="4754880"/>
          </a:xfrm>
          <a:prstGeom prst="rect">
            <a:avLst/>
          </a:prstGeom>
          <a:solidFill>
            <a:srgbClr val="86EFAC">
              <a:alpha val="4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4160520" y="3200400"/>
            <a:ext cx="822960" cy="82296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9" name="Text 7"/>
          <p:cNvSpPr/>
          <p:nvPr/>
        </p:nvSpPr>
        <p:spPr>
          <a:xfrm>
            <a:off x="4160520" y="32004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VS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65760" y="1280160"/>
            <a:ext cx="3931920" cy="4754880"/>
          </a:xfrm>
          <a:prstGeom prst="roundRect">
            <a:avLst>
              <a:gd name="adj" fmla="val 2326"/>
            </a:avLst>
          </a:prstGeom>
          <a:solidFill>
            <a:srgbClr val="D1FAE5">
              <a:alpha val="60000"/>
            </a:srgbClr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146304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Conventional Manual Starter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31520" y="2286000"/>
            <a:ext cx="32004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4532D"/>
                </a:solidFill>
              </a:rPr>
              <a:t>  Physical manual switch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4532D"/>
                </a:solidFill>
              </a:rPr>
              <a:t>  Limited operating range (0 meters)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4532D"/>
                </a:solidFill>
              </a:rPr>
              <a:t>  High risk of snakebites and shocks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4532D"/>
                </a:solidFill>
              </a:rPr>
              <a:t>  Manual timing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4532D"/>
                </a:solidFill>
              </a:rPr>
              <a:t>  Reactive maintenance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846320" y="1280160"/>
            <a:ext cx="3931920" cy="4754880"/>
          </a:xfrm>
          <a:prstGeom prst="roundRect">
            <a:avLst>
              <a:gd name="adj" fmla="val 2326"/>
            </a:avLst>
          </a:prstGeom>
          <a:solidFill>
            <a:srgbClr val="D1FAE5">
              <a:alpha val="60000"/>
            </a:srgbClr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0" y="146304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 Smart System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5212080" y="2286000"/>
            <a:ext cx="32004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4532D"/>
                </a:solidFill>
              </a:rPr>
              <a:t>  Global remote control via smartphone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4532D"/>
                </a:solidFill>
              </a:rPr>
              <a:t>  Unlimited global reach (Internet + LoRa)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4532D"/>
                </a:solidFill>
              </a:rPr>
              <a:t>  Zero physical risk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4532D"/>
                </a:solidFill>
              </a:rPr>
              <a:t>  Automatic countdown timer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4532D"/>
                </a:solidFill>
              </a:rPr>
              <a:t>  Predictive maintenance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457200"/>
            <a:ext cx="2743200" cy="2743200"/>
          </a:xfrm>
          <a:prstGeom prst="ellipse">
            <a:avLst/>
          </a:prstGeom>
          <a:solidFill>
            <a:srgbClr val="16A34A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914400" y="5029200"/>
            <a:ext cx="2286000" cy="2286000"/>
          </a:xfrm>
          <a:prstGeom prst="ellipse">
            <a:avLst/>
          </a:prstGeom>
          <a:solidFill>
            <a:srgbClr val="15803D">
              <a:alpha val="1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572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0" dirty="0">
                <a:solidFill>
                  <a:srgbClr val="16A34A">
                    <a:alpha val="7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</a:t>
            </a:r>
            <a:endParaRPr lang="en-US" sz="12000" dirty="0"/>
          </a:p>
        </p:txBody>
      </p:sp>
      <p:sp>
        <p:nvSpPr>
          <p:cNvPr id="5" name="Text 3"/>
          <p:cNvSpPr/>
          <p:nvPr/>
        </p:nvSpPr>
        <p:spPr>
          <a:xfrm>
            <a:off x="1097280" y="1828800"/>
            <a:ext cx="68580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2800" i="1" dirty="0">
                <a:solidFill>
                  <a:srgbClr val="1453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"This system directly addresses lethal and financial risks faced by farmers."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200400" y="4663440"/>
            <a:ext cx="2743200" cy="36576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48463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Modern Agriculture Research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0"/>
            <a:ext cx="1371600" cy="6858000"/>
          </a:xfrm>
          <a:prstGeom prst="rect">
            <a:avLst/>
          </a:prstGeom>
          <a:solidFill>
            <a:srgbClr val="16A34A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731520" y="-731520"/>
            <a:ext cx="1828800" cy="1828800"/>
          </a:xfrm>
          <a:prstGeom prst="ellipse">
            <a:avLst/>
          </a:prstGeom>
          <a:solidFill>
            <a:srgbClr val="15803D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371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Addressing Critical Risks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8229600" cy="4754880"/>
          </a:xfrm>
          <a:prstGeom prst="roundRect">
            <a:avLst>
              <a:gd name="adj" fmla="val 2885"/>
            </a:avLst>
          </a:prstGeom>
          <a:solidFill>
            <a:srgbClr val="D1FAE5">
              <a:alpha val="70000"/>
            </a:srgbClr>
          </a:solidFill>
          <a:ln w="6350">
            <a:solidFill>
              <a:srgbClr val="86EFA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554480"/>
            <a:ext cx="749808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rgbClr val="1453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Snakebite Crisis: Eliminating hazardous field trips.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2"/>
            </a:pPr>
            <a:r>
              <a:rPr lang="en-US" sz="1700" dirty="0">
                <a:solidFill>
                  <a:srgbClr val="1453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Infrastructure Destruction: Preventing motor burnout with protection.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3"/>
            </a:pPr>
            <a:r>
              <a:rPr lang="en-US" sz="1700" dirty="0">
                <a:solidFill>
                  <a:srgbClr val="1453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Resource Inefficiency: Reducing water waste through timed irrigation.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8412480" y="5943600"/>
            <a:ext cx="457200" cy="45720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9" name="Text 7"/>
          <p:cNvSpPr/>
          <p:nvPr/>
        </p:nvSpPr>
        <p:spPr>
          <a:xfrm>
            <a:off x="8412480" y="5943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7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0" y="-2743200"/>
            <a:ext cx="7315200" cy="7315200"/>
          </a:xfrm>
          <a:prstGeom prst="ellipse">
            <a:avLst/>
          </a:prstGeom>
          <a:solidFill>
            <a:srgbClr val="15803D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486400" y="2743200"/>
            <a:ext cx="5486400" cy="5486400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315200" y="-1828800"/>
            <a:ext cx="3657600" cy="3657600"/>
          </a:xfrm>
          <a:prstGeom prst="ellipse">
            <a:avLst/>
          </a:prstGeom>
          <a:solidFill>
            <a:srgbClr val="15803D">
              <a:alpha val="2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828800"/>
            <a:ext cx="7315200" cy="1828800"/>
          </a:xfrm>
          <a:prstGeom prst="rect">
            <a:avLst/>
          </a:prstGeom>
          <a:noFill/>
          <a:ln/>
          <a:effectLst>
            <a:outerShdw sx="100000" sy="100000" kx="0" ky="0" algn="bl" rotWithShape="0" blurRad="76200" dist="25400" dir="16200000">
              <a:srgbClr val="00000030">
                <a:alpha val="75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Core</a:t>
            </a:r>
            <a:endParaRPr lang="en-US" sz="4400" dirty="0"/>
          </a:p>
        </p:txBody>
      </p:sp>
      <p:sp>
        <p:nvSpPr>
          <p:cNvPr id="6" name="Shape 4"/>
          <p:cNvSpPr/>
          <p:nvPr/>
        </p:nvSpPr>
        <p:spPr>
          <a:xfrm>
            <a:off x="3200400" y="3749040"/>
            <a:ext cx="2743200" cy="45720"/>
          </a:xfrm>
          <a:prstGeom prst="rect">
            <a:avLst/>
          </a:prstGeom>
          <a:solidFill>
            <a:srgbClr val="FFFFFF">
              <a:alpha val="5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393192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Internet Access and Precision Timing explained.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" name="Shape 1"/>
          <p:cNvSpPr/>
          <p:nvPr/>
        </p:nvSpPr>
        <p:spPr>
          <a:xfrm>
            <a:off x="7498080" y="914400"/>
            <a:ext cx="1371600" cy="1371600"/>
          </a:xfrm>
          <a:prstGeom prst="ellipse">
            <a:avLst/>
          </a:prstGeom>
          <a:solidFill>
            <a:srgbClr val="15803D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046720" y="4572000"/>
            <a:ext cx="914400" cy="914400"/>
          </a:xfrm>
          <a:prstGeom prst="ellipse">
            <a:avLst/>
          </a:prstGeom>
          <a:solidFill>
            <a:srgbClr val="16A34A">
              <a:alpha val="1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371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Technologies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8229600" cy="4754880"/>
          </a:xfrm>
          <a:prstGeom prst="roundRect">
            <a:avLst>
              <a:gd name="adj" fmla="val 2885"/>
            </a:avLst>
          </a:prstGeom>
          <a:solidFill>
            <a:srgbClr val="D1FAE5">
              <a:alpha val="70000"/>
            </a:srgbClr>
          </a:solidFill>
          <a:ln w="6350">
            <a:solidFill>
              <a:srgbClr val="86EFA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554480"/>
            <a:ext cx="749808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rgbClr val="1453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Global Internet Access via ESP32 (low/no costs).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2"/>
            </a:pPr>
            <a:r>
              <a:rPr lang="en-US" sz="1700" dirty="0">
                <a:solidFill>
                  <a:srgbClr val="1453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Long-Range Field Connection via LoRa (15km+ reach).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3"/>
            </a:pPr>
            <a:r>
              <a:rPr lang="en-US" sz="1700" dirty="0">
                <a:solidFill>
                  <a:srgbClr val="1453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Precision Timing Logic (1Hz accuracy, EEPROM resume).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8412480" y="5943600"/>
            <a:ext cx="457200" cy="45720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10" name="Text 8"/>
          <p:cNvSpPr/>
          <p:nvPr/>
        </p:nvSpPr>
        <p:spPr>
          <a:xfrm>
            <a:off x="8412480" y="5943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9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914400"/>
            <a:ext cx="3657600" cy="3657600"/>
          </a:xfrm>
          <a:prstGeom prst="ellipse">
            <a:avLst/>
          </a:prstGeom>
          <a:solidFill>
            <a:srgbClr val="16A34A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315200" y="457200"/>
            <a:ext cx="2286000" cy="2286000"/>
          </a:xfrm>
          <a:prstGeom prst="ellipse">
            <a:avLst/>
          </a:prstGeom>
          <a:solidFill>
            <a:srgbClr val="15803D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371600" y="4114800"/>
            <a:ext cx="2743200" cy="2743200"/>
          </a:xfrm>
          <a:prstGeom prst="ellipse">
            <a:avLst/>
          </a:prstGeom>
          <a:solidFill>
            <a:srgbClr val="16A34A">
              <a:alpha val="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371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Quantitative Impact: Measurable Benefits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502920" y="1828800"/>
            <a:ext cx="1828800" cy="3657600"/>
          </a:xfrm>
          <a:prstGeom prst="roundRect">
            <a:avLst>
              <a:gd name="adj" fmla="val 7500"/>
            </a:avLst>
          </a:prstGeom>
          <a:solidFill>
            <a:srgbClr val="D1FAE5">
              <a:alpha val="80000"/>
            </a:srgbClr>
          </a:solidFill>
          <a:ln w="19050">
            <a:solidFill>
              <a:srgbClr val="16A34A"/>
            </a:solidFill>
            <a:prstDash val="solid"/>
          </a:ln>
          <a:effectLst>
            <a:outerShdw sx="100000" sy="100000" kx="0" ky="0" algn="bl" rotWithShape="0" blurRad="76200" dist="38100" dir="16200000">
              <a:srgbClr val="00000015">
                <a:alpha val="7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02920" y="1828800"/>
            <a:ext cx="1828800" cy="7315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2286000"/>
            <a:ext cx="1828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30-50%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685800" y="4114800"/>
            <a:ext cx="14630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453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Water Conservation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606040" y="1828800"/>
            <a:ext cx="1828800" cy="3657600"/>
          </a:xfrm>
          <a:prstGeom prst="roundRect">
            <a:avLst>
              <a:gd name="adj" fmla="val 7500"/>
            </a:avLst>
          </a:prstGeom>
          <a:solidFill>
            <a:srgbClr val="D1FAE5">
              <a:alpha val="80000"/>
            </a:srgbClr>
          </a:solidFill>
          <a:ln w="19050">
            <a:solidFill>
              <a:srgbClr val="16A34A"/>
            </a:solidFill>
            <a:prstDash val="solid"/>
          </a:ln>
          <a:effectLst>
            <a:outerShdw sx="100000" sy="100000" kx="0" ky="0" algn="bl" rotWithShape="0" blurRad="76200" dist="38100" dir="16200000">
              <a:srgbClr val="00000015">
                <a:alpha val="7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606040" y="1828800"/>
            <a:ext cx="1828800" cy="7315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3" name="Text 11"/>
          <p:cNvSpPr/>
          <p:nvPr/>
        </p:nvSpPr>
        <p:spPr>
          <a:xfrm>
            <a:off x="2606040" y="2286000"/>
            <a:ext cx="1828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25-40%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2788920" y="4114800"/>
            <a:ext cx="14630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453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Energy Efficiency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709160" y="1828800"/>
            <a:ext cx="1828800" cy="3657600"/>
          </a:xfrm>
          <a:prstGeom prst="roundRect">
            <a:avLst>
              <a:gd name="adj" fmla="val 7500"/>
            </a:avLst>
          </a:prstGeom>
          <a:solidFill>
            <a:srgbClr val="D1FAE5">
              <a:alpha val="80000"/>
            </a:srgbClr>
          </a:solidFill>
          <a:ln w="19050">
            <a:solidFill>
              <a:srgbClr val="16A34A"/>
            </a:solidFill>
            <a:prstDash val="solid"/>
          </a:ln>
          <a:effectLst>
            <a:outerShdw sx="100000" sy="100000" kx="0" ky="0" algn="bl" rotWithShape="0" blurRad="76200" dist="38100" dir="16200000">
              <a:srgbClr val="00000015">
                <a:alpha val="7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09160" y="1828800"/>
            <a:ext cx="1828800" cy="7315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7" name="Text 15"/>
          <p:cNvSpPr/>
          <p:nvPr/>
        </p:nvSpPr>
        <p:spPr>
          <a:xfrm>
            <a:off x="4709160" y="2286000"/>
            <a:ext cx="1828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20-30%</a:t>
            </a:r>
            <a:endParaRPr lang="en-US" sz="4000" dirty="0"/>
          </a:p>
        </p:txBody>
      </p:sp>
      <p:sp>
        <p:nvSpPr>
          <p:cNvPr id="18" name="Text 16"/>
          <p:cNvSpPr/>
          <p:nvPr/>
        </p:nvSpPr>
        <p:spPr>
          <a:xfrm>
            <a:off x="4892040" y="4114800"/>
            <a:ext cx="14630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453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Crop Yield Increase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812280" y="1828800"/>
            <a:ext cx="1828800" cy="3657600"/>
          </a:xfrm>
          <a:prstGeom prst="roundRect">
            <a:avLst>
              <a:gd name="adj" fmla="val 7500"/>
            </a:avLst>
          </a:prstGeom>
          <a:solidFill>
            <a:srgbClr val="D1FAE5">
              <a:alpha val="80000"/>
            </a:srgbClr>
          </a:solidFill>
          <a:ln w="19050">
            <a:solidFill>
              <a:srgbClr val="16A34A"/>
            </a:solidFill>
            <a:prstDash val="solid"/>
          </a:ln>
          <a:effectLst>
            <a:outerShdw sx="100000" sy="100000" kx="0" ky="0" algn="bl" rotWithShape="0" blurRad="76200" dist="38100" dir="16200000">
              <a:srgbClr val="00000015">
                <a:alpha val="7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812280" y="1828800"/>
            <a:ext cx="1828800" cy="7315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1" name="Text 19"/>
          <p:cNvSpPr/>
          <p:nvPr/>
        </p:nvSpPr>
        <p:spPr>
          <a:xfrm>
            <a:off x="6812280" y="2286000"/>
            <a:ext cx="1828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1.5-2 years</a:t>
            </a:r>
            <a:endParaRPr lang="en-US" sz="4000" dirty="0"/>
          </a:p>
        </p:txBody>
      </p:sp>
      <p:sp>
        <p:nvSpPr>
          <p:cNvPr id="22" name="Text 20"/>
          <p:cNvSpPr/>
          <p:nvPr/>
        </p:nvSpPr>
        <p:spPr>
          <a:xfrm>
            <a:off x="6995160" y="4114800"/>
            <a:ext cx="14630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453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ROI Payback Period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Modern Smart Irrigation: A Global Bridge</dc:title>
  <dc:subject>Generated by Pre Max AI — Forest Green Theme</dc:subject>
  <dc:creator>PptxGenJS</dc:creator>
  <cp:lastModifiedBy>PptxGenJS</cp:lastModifiedBy>
  <cp:revision>1</cp:revision>
  <dcterms:created xsi:type="dcterms:W3CDTF">2026-02-12T06:15:23Z</dcterms:created>
  <dcterms:modified xsi:type="dcterms:W3CDTF">2026-02-12T06:15:23Z</dcterms:modified>
</cp:coreProperties>
</file>