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3399FF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73952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65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MAX AI — Data Structures Deep Dive</a:t>
            </a:r>
            <a:endParaRPr lang="en-US" sz="7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gif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9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66B2FF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65760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1371600"/>
            <a:ext cx="3200400" cy="3200400"/>
          </a:xfrm>
          <a:prstGeom prst="ellipse">
            <a:avLst/>
          </a:prstGeom>
          <a:solidFill>
            <a:srgbClr val="66B2FF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25400" dir="16200000">
              <a:srgbClr val="0000004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Python's Core Data Structures: Lists, Tuples, Dictionaries, and Sets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3200400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14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DEEP DIVE THEME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39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99FF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6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Unlocking Python's Potential Through Data Structures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exploration into how lists, tuples, dictionaries, and sets empower efficient data management.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6858000"/>
          </a:xfrm>
          <a:prstGeom prst="rect">
            <a:avLst/>
          </a:prstGeom>
          <a:solidFill>
            <a:srgbClr val="3399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548640"/>
            <a:ext cx="1645920" cy="1645920"/>
          </a:xfrm>
          <a:prstGeom prst="ellipse">
            <a:avLst/>
          </a:prstGeom>
          <a:solidFill>
            <a:srgbClr val="66B2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399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Lists: Dynamic and Versatile Data Containers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004080">
              <a:alpha val="70000"/>
            </a:srgbClr>
          </a:solidFill>
          <a:ln w="6350">
            <a:solidFill>
              <a:srgbClr val="3373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Lists in Python are ordered, mutable collections capable of holding elements of diverse data types, offering flexibility in data storage.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Defined using square brackets, lists allow for dynamic modification, including adding, removing, or changing elements after creation, enabling real-time updates.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Lists support indexing and slicing, granting access to specific elements or sub-lists based on their position, facilitating granular data manipulation.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mutability of lists makes them ideal for scenarios where data needs to be frequently updated or reordered, such as managing a queue of tasks.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List comprehensions provide a concise way to create new lists based on existing iterables, enhancing code readability and efficiency when transforming data.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3399FF">
              <a:alpha val="20000"/>
            </a:srgbClr>
          </a:solidFill>
          <a:ln w="12700">
            <a:solidFill>
              <a:srgbClr val="3399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399FF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011680" cy="2011680"/>
          </a:xfrm>
          <a:prstGeom prst="rtTriangle">
            <a:avLst/>
          </a:prstGeom>
          <a:solidFill>
            <a:srgbClr val="3399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0"/>
            <a:ext cx="1828800" cy="1828800"/>
          </a:xfrm>
          <a:prstGeom prst="ellipse">
            <a:avLst/>
          </a:prstGeom>
          <a:solidFill>
            <a:srgbClr val="66B2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399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Tuples: Immutable and Secure Data Sequences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004080">
              <a:alpha val="70000"/>
            </a:srgbClr>
          </a:solidFill>
          <a:ln w="6350">
            <a:solidFill>
              <a:srgbClr val="3373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Tuples are ordered, immutable collections similar to lists but defined using parentheses, offering data integrity through their unchangeable nature.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immutability of tuples makes them suitable for representing fixed collections of items whose values should not be altered, ensuring data consistency.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Tuples are often more memory-efficient than lists due to their static size, reducing overhead in memory management, especially in large datasets.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Tuples can be used as keys in dictionaries because of their immutability, enabling the creation of complex data structures that require stable identifiers.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Named tuples, accessible through the `collections` module, enhance code readability by allowing access to elements using meaningful names instead of indices.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3399FF">
              <a:alpha val="20000"/>
            </a:srgbClr>
          </a:solidFill>
          <a:ln w="12700">
            <a:solidFill>
              <a:srgbClr val="3399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399FF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399F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"/>
            <a:ext cx="1463040" cy="1463040"/>
          </a:xfrm>
          <a:prstGeom prst="ellipse">
            <a:avLst/>
          </a:prstGeom>
          <a:solidFill>
            <a:srgbClr val="66B2FF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4754880"/>
            <a:ext cx="914400" cy="914400"/>
          </a:xfrm>
          <a:prstGeom prst="ellipse">
            <a:avLst/>
          </a:prstGeom>
          <a:solidFill>
            <a:srgbClr val="3399FF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399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Dictionaries: Efficient Key-Value Data Repositories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004080">
              <a:alpha val="70000"/>
            </a:srgbClr>
          </a:solidFill>
          <a:ln w="6350">
            <a:solidFill>
              <a:srgbClr val="3373B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Dictionaries are unordered collections of key-value pairs, providing efficient data retrieval based on unique keys, making them ideal for lookup operations.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Defined using curly braces, dictionaries offer fast access to values through their corresponding keys, akin to indexing in lists but with more descriptive identifiers.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Dictionary comprehensions allow for the concise creation of new dictionaries from existing iterables, simplifying data transformation and filtering processes.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Dictionaries are essential for implementing data structures like hash tables and JSON objects, highlighting their role in data serialization and deserialization.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`get()` method allows for safe retrieval of values, returning a default value if the key is not found, preventing unexpected errors during program execution.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3399FF">
              <a:alpha val="20000"/>
            </a:srgbClr>
          </a:solidFill>
          <a:ln w="12700">
            <a:solidFill>
              <a:srgbClr val="3399F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399FF"/>
          </a:solidFill>
          <a:ln/>
        </p:spPr>
      </p:sp>
      <p:sp>
        <p:nvSpPr>
          <p:cNvPr id="12" name="Text 9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3399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182880"/>
            <a:ext cx="2286000" cy="2286000"/>
          </a:xfrm>
          <a:prstGeom prst="ellipse">
            <a:avLst/>
          </a:prstGeom>
          <a:solidFill>
            <a:srgbClr val="66B2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657600"/>
            <a:ext cx="2743200" cy="2743200"/>
          </a:xfrm>
          <a:prstGeom prst="ellipse">
            <a:avLst/>
          </a:prstGeom>
          <a:solidFill>
            <a:srgbClr val="3399FF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399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Sets: Unique and Unordered Element Collections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004080">
              <a:alpha val="70000"/>
            </a:srgbClr>
          </a:solidFill>
          <a:ln w="6350">
            <a:solidFill>
              <a:srgbClr val="3373B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Sets are unordered collections of unique elements, useful for tasks such as removing duplicates and performing mathematical set operations, enhancing data integrity.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Defined using curly braces or the `set()` constructor, sets ensure that each element is unique, automatically eliminating duplicates during creation, simplifying data cleansing.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Sets efficiently support operations like union, intersection, difference, and symmetric difference, streamlining set-based data analysis and comparison tasks.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Frozen sets are immutable versions of sets, suitable for use as keys in dictionaries or as elements in other sets, extending the utility of set operations.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Sets are often used in scenarios where uniqueness and membership testing are critical, such as ensuring no duplicate user IDs or identifying unique URLs in web crawling.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3399FF">
              <a:alpha val="20000"/>
            </a:srgbClr>
          </a:solidFill>
          <a:ln w="12700">
            <a:solidFill>
              <a:srgbClr val="3399F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399FF"/>
          </a:solidFill>
          <a:ln/>
        </p:spPr>
      </p:sp>
      <p:sp>
        <p:nvSpPr>
          <p:cNvPr id="12" name="Text 9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399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Lists vs. Tuples: Mutability and Performance Trade-offs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434840" y="1188720"/>
            <a:ext cx="274320" cy="4846320"/>
          </a:xfrm>
          <a:prstGeom prst="rect">
            <a:avLst/>
          </a:prstGeom>
          <a:solidFill>
            <a:srgbClr val="26598C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114800" y="3108960"/>
            <a:ext cx="914400" cy="914400"/>
          </a:xfrm>
          <a:prstGeom prst="ellipse">
            <a:avLst/>
          </a:prstGeom>
          <a:solidFill>
            <a:srgbClr val="3399FF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0" y="3108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004080">
              <a:alpha val="65000"/>
            </a:srgbClr>
          </a:solidFill>
          <a:ln w="12700">
            <a:solidFill>
              <a:srgbClr val="3399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99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Mutable: Elements can be added, removed, or modified after creation, providing flexibility in dynamic data management.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Potentially Slower: Dynamic resizing can lead to performance overhead, especially with frequent modifications.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Use Cases: Ideal for scenarios requiring frequent data updates, such as managing queues, stacks or growing datasets.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004080">
              <a:alpha val="65000"/>
            </a:srgbClr>
          </a:solidFill>
          <a:ln w="12700">
            <a:solidFill>
              <a:srgbClr val="66B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6B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Tuples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12080" y="21031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Immutable: Elements cannot be changed after creation, ensuring data integrity and preventing accidental modifications.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Potentially Faster: Immutability allows for optimizations, often resulting in faster iteration and memory efficiency.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Use Cases: Suitable for representing fixed collections of data, such as coordinates, database records, or dictionary keys.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399FF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6858000"/>
          </a:xfrm>
          <a:prstGeom prst="rect">
            <a:avLst/>
          </a:prstGeom>
          <a:solidFill>
            <a:srgbClr val="3399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548640"/>
            <a:ext cx="1645920" cy="1645920"/>
          </a:xfrm>
          <a:prstGeom prst="ellipse">
            <a:avLst/>
          </a:prstGeom>
          <a:solidFill>
            <a:srgbClr val="66B2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399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Impact of Efficient Data Structure Choice on Performance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926080" cy="4297680"/>
          </a:xfrm>
          <a:prstGeom prst="roundRect">
            <a:avLst>
              <a:gd name="adj" fmla="val 4688"/>
            </a:avLst>
          </a:prstGeom>
          <a:solidFill>
            <a:srgbClr val="3399FF">
              <a:alpha val="20000"/>
            </a:srgbClr>
          </a:solidFill>
          <a:ln w="12700">
            <a:solidFill>
              <a:srgbClr val="3399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2743200" cy="4114800"/>
          </a:xfrm>
          <a:prstGeom prst="ellipse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0" y="164592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004080">
              <a:alpha val="80000"/>
            </a:srgbClr>
          </a:solidFill>
          <a:ln w="19050">
            <a:solidFill>
              <a:srgbClr val="3399FF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0" y="1645920"/>
            <a:ext cx="2423160" cy="64008"/>
          </a:xfrm>
          <a:prstGeom prst="rect">
            <a:avLst/>
          </a:prstGeom>
          <a:solidFill>
            <a:srgbClr val="3399FF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0" y="193395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399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25%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3749040" y="279806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Speed Increase When Using Sets for Membership Testing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64592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004080">
              <a:alpha val="80000"/>
            </a:srgbClr>
          </a:solidFill>
          <a:ln w="19050">
            <a:solidFill>
              <a:srgbClr val="3399FF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63640" y="1645920"/>
            <a:ext cx="2423160" cy="64008"/>
          </a:xfrm>
          <a:prstGeom prst="rect">
            <a:avLst/>
          </a:prstGeom>
          <a:solidFill>
            <a:srgbClr val="3399FF"/>
          </a:solidFill>
          <a:ln/>
        </p:spPr>
      </p:sp>
      <p:sp>
        <p:nvSpPr>
          <p:cNvPr id="14" name="Text 11"/>
          <p:cNvSpPr/>
          <p:nvPr/>
        </p:nvSpPr>
        <p:spPr>
          <a:xfrm>
            <a:off x="6263640" y="193395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399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15%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6355080" y="279806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Saved by Using Tuples Instead of Lists for Static Data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657600" y="374904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004080">
              <a:alpha val="80000"/>
            </a:srgbClr>
          </a:solidFill>
          <a:ln w="19050">
            <a:solidFill>
              <a:srgbClr val="3399FF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657600" y="3749040"/>
            <a:ext cx="2423160" cy="64008"/>
          </a:xfrm>
          <a:prstGeom prst="rect">
            <a:avLst/>
          </a:prstGeom>
          <a:solidFill>
            <a:srgbClr val="3399FF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0" y="403707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399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2x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3749040" y="490118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Data Retrieval with Dictionaries Compared to Linear Searches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63640" y="374904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004080">
              <a:alpha val="80000"/>
            </a:srgbClr>
          </a:solidFill>
          <a:ln w="19050">
            <a:solidFill>
              <a:srgbClr val="3399FF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263640" y="3749040"/>
            <a:ext cx="2423160" cy="64008"/>
          </a:xfrm>
          <a:prstGeom prst="rect">
            <a:avLst/>
          </a:prstGeom>
          <a:solidFill>
            <a:srgbClr val="3399FF"/>
          </a:solidFill>
          <a:ln/>
        </p:spPr>
      </p:sp>
      <p:sp>
        <p:nvSpPr>
          <p:cNvPr id="22" name="Text 19"/>
          <p:cNvSpPr/>
          <p:nvPr/>
        </p:nvSpPr>
        <p:spPr>
          <a:xfrm>
            <a:off x="6263640" y="403707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399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99%</a:t>
            </a:r>
            <a:endParaRPr lang="en-US" sz="3200" dirty="0"/>
          </a:p>
        </p:txBody>
      </p:sp>
      <p:sp>
        <p:nvSpPr>
          <p:cNvPr id="23" name="Text 20"/>
          <p:cNvSpPr/>
          <p:nvPr/>
        </p:nvSpPr>
        <p:spPr>
          <a:xfrm>
            <a:off x="6355080" y="490118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Duplicate Entries When Using Sets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399FF"/>
          </a:solidFill>
          <a:ln/>
        </p:spPr>
      </p:sp>
      <p:sp>
        <p:nvSpPr>
          <p:cNvPr id="25" name="Text 22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399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Evolution of Python Data Structures and Their Applications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7680960" cy="45720"/>
          </a:xfrm>
          <a:prstGeom prst="rect">
            <a:avLst/>
          </a:prstGeom>
          <a:solidFill>
            <a:srgbClr val="3399F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337560"/>
            <a:ext cx="365760" cy="365760"/>
          </a:xfrm>
          <a:prstGeom prst="ellipse">
            <a:avLst/>
          </a:prstGeom>
          <a:solidFill>
            <a:srgbClr val="3399FF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88136" y="2560320"/>
            <a:ext cx="18288" cy="777240"/>
          </a:xfrm>
          <a:prstGeom prst="rect">
            <a:avLst/>
          </a:prstGeom>
          <a:solidFill>
            <a:srgbClr val="4073A6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3399FF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1991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1.0 introduces Lists and Tuples, establishing fundamental ordered data collections.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0" y="3337560"/>
            <a:ext cx="365760" cy="365760"/>
          </a:xfrm>
          <a:prstGeom prst="ellipse">
            <a:avLst/>
          </a:prstGeom>
          <a:solidFill>
            <a:srgbClr val="3399FF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16936" y="3749040"/>
            <a:ext cx="18288" cy="777240"/>
          </a:xfrm>
          <a:prstGeom prst="rect">
            <a:avLst/>
          </a:prstGeom>
          <a:solidFill>
            <a:srgbClr val="4073A6"/>
          </a:solidFill>
          <a:ln/>
        </p:spPr>
      </p:sp>
      <p:sp>
        <p:nvSpPr>
          <p:cNvPr id="13" name="Shape 11"/>
          <p:cNvSpPr/>
          <p:nvPr/>
        </p:nvSpPr>
        <p:spPr>
          <a:xfrm>
            <a:off x="2423160" y="45720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3399FF"/>
          </a:solidFill>
          <a:ln/>
        </p:spPr>
      </p:sp>
      <p:sp>
        <p:nvSpPr>
          <p:cNvPr id="14" name="Text 12"/>
          <p:cNvSpPr/>
          <p:nvPr/>
        </p:nvSpPr>
        <p:spPr>
          <a:xfrm>
            <a:off x="2423160" y="45720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1990s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40233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are incorporated, enabling efficient key-value storage and retrieval for broader applications.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0" y="3337560"/>
            <a:ext cx="365760" cy="365760"/>
          </a:xfrm>
          <a:prstGeom prst="ellipse">
            <a:avLst/>
          </a:prstGeom>
          <a:solidFill>
            <a:srgbClr val="3399FF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45736" y="2560320"/>
            <a:ext cx="18288" cy="777240"/>
          </a:xfrm>
          <a:prstGeom prst="rect">
            <a:avLst/>
          </a:prstGeom>
          <a:solidFill>
            <a:srgbClr val="4073A6"/>
          </a:solidFill>
          <a:ln/>
        </p:spPr>
      </p:sp>
      <p:sp>
        <p:nvSpPr>
          <p:cNvPr id="18" name="Shape 16"/>
          <p:cNvSpPr/>
          <p:nvPr/>
        </p:nvSpPr>
        <p:spPr>
          <a:xfrm>
            <a:off x="425196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3399FF"/>
          </a:solidFill>
          <a:ln/>
        </p:spPr>
      </p:sp>
      <p:sp>
        <p:nvSpPr>
          <p:cNvPr id="19" name="Text 17"/>
          <p:cNvSpPr/>
          <p:nvPr/>
        </p:nvSpPr>
        <p:spPr>
          <a:xfrm>
            <a:off x="425196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2000s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are added, facilitating mathematical set operations and ensuring uniqueness in element collections.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0" y="3337560"/>
            <a:ext cx="365760" cy="365760"/>
          </a:xfrm>
          <a:prstGeom prst="ellipse">
            <a:avLst/>
          </a:prstGeom>
          <a:solidFill>
            <a:srgbClr val="3399FF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74536" y="3749040"/>
            <a:ext cx="18288" cy="777240"/>
          </a:xfrm>
          <a:prstGeom prst="rect">
            <a:avLst/>
          </a:prstGeom>
          <a:solidFill>
            <a:srgbClr val="4073A6"/>
          </a:solidFill>
          <a:ln/>
        </p:spPr>
      </p:sp>
      <p:sp>
        <p:nvSpPr>
          <p:cNvPr id="23" name="Shape 21"/>
          <p:cNvSpPr/>
          <p:nvPr/>
        </p:nvSpPr>
        <p:spPr>
          <a:xfrm>
            <a:off x="6080760" y="45720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3399FF"/>
          </a:solidFill>
          <a:ln/>
        </p:spPr>
      </p:sp>
      <p:sp>
        <p:nvSpPr>
          <p:cNvPr id="24" name="Text 22"/>
          <p:cNvSpPr/>
          <p:nvPr/>
        </p:nvSpPr>
        <p:spPr>
          <a:xfrm>
            <a:off x="6080760" y="45720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0" y="40233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optimization and increased utilization in data science, web development, and machine learning.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399FF"/>
          </a:solidFill>
          <a:ln/>
        </p:spPr>
      </p:sp>
      <p:sp>
        <p:nvSpPr>
          <p:cNvPr id="27" name="Text 25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399F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"/>
            <a:ext cx="1463040" cy="1463040"/>
          </a:xfrm>
          <a:prstGeom prst="ellipse">
            <a:avLst/>
          </a:prstGeom>
          <a:solidFill>
            <a:srgbClr val="66B2FF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4754880"/>
            <a:ext cx="914400" cy="914400"/>
          </a:xfrm>
          <a:prstGeom prst="ellipse">
            <a:avLst/>
          </a:prstGeom>
          <a:solidFill>
            <a:srgbClr val="3399FF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dirty="0">
                <a:solidFill>
                  <a:srgbClr val="3399FF">
                    <a:alpha val="7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5486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"Python is an experiment in how much power programmers want to give to users." -- Guido van Rossum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0" y="4709160"/>
            <a:ext cx="2743200" cy="36576"/>
          </a:xfrm>
          <a:prstGeom prst="rect">
            <a:avLst/>
          </a:prstGeom>
          <a:solidFill>
            <a:srgbClr val="3399F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892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B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and leveraging Python's data structures is key to harnessing this power and creating efficient, maintainable code, as intended by its creator.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463040"/>
            <a:ext cx="2286000" cy="320040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399FF"/>
          </a:solidFill>
          <a:ln/>
        </p:spPr>
      </p:sp>
      <p:sp>
        <p:nvSpPr>
          <p:cNvPr id="11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39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99FF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6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Mastering Data Structures for Efficient Python Development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selection and utilization of Python's data structures represent a critical skill for improving software performance, reliability and overall design.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Python's Core Data Structures: Lists, Tuples, Dictionaries, and Sets</dc:title>
  <dc:subject>Generated by Pre Max AI — Data Structures Deep Dive</dc:subject>
  <dc:creator>PptxGenJS</dc:creator>
  <cp:lastModifiedBy>PptxGenJS</cp:lastModifiedBy>
  <cp:revision>1</cp:revision>
  <dcterms:created xsi:type="dcterms:W3CDTF">2026-02-13T04:46:18Z</dcterms:created>
  <dcterms:modified xsi:type="dcterms:W3CDTF">2026-02-13T04:46:18Z</dcterms:modified>
</cp:coreProperties>
</file>