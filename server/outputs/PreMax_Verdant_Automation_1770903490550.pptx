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4CAF50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73952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2C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MAX AI — Verdant Automation</a:t>
            </a:r>
            <a:endParaRPr lang="en-US" sz="7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AF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81C784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65760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1371600"/>
            <a:ext cx="3200400" cy="3200400"/>
          </a:xfrm>
          <a:prstGeom prst="ellipse">
            <a:avLst/>
          </a:prstGeom>
          <a:solidFill>
            <a:srgbClr val="81C784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25400" dir="16200000">
              <a:srgbClr val="0000004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Irrigation: A Global Bridge for Sustainable Agriculture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3200400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14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VERDANT AUTOMATION THEME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CAF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CAF50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6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Reimagining Agriculture: Smart Irrigation for the 21st Century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Harnessing cutting-edge technology to transcend traditional farming limitations for a safer, more efficient future.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6858000"/>
          </a:xfrm>
          <a:prstGeom prst="rect">
            <a:avLst/>
          </a:prstGeom>
          <a:solidFill>
            <a:srgbClr val="4CAF50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548640"/>
            <a:ext cx="1645920" cy="1645920"/>
          </a:xfrm>
          <a:prstGeom prst="ellipse">
            <a:avLst/>
          </a:prstGeom>
          <a:solidFill>
            <a:srgbClr val="81C78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Bridging the Divide: Global Control Meets Field Precision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Our system integrates ESP32 internet technology with LoRa long-range radio, providing a seamless connection between farmers and their remote agricultural motors.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This innovative solution enables farmers to control and monitor their irrigation systems from anywhere in the world using their smartphones, enhancing operational efficiency.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leveraging the ESP32 platform, we eliminate traditional server costs, offering a cost-effective, scalable solution for farmers of all sizes seeking to modernize their operations.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system's architecture ensures real-time feedback, allowing farmers to promptly respond to changing field conditions such as unexpected weather patterns or equipment malfunctions.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Beyond basic automation, the precise timing logic and predictive maintenance capabilities contribute to significantly reduced resource waste and improved long-term equipment health.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4CAF50">
              <a:alpha val="20000"/>
            </a:srgbClr>
          </a:solidFill>
          <a:ln w="12700">
            <a:solidFill>
              <a:srgbClr val="4CAF5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Evolution of Control: Smart System vs. Traditional Methods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434840" y="1188720"/>
            <a:ext cx="274320" cy="4846320"/>
          </a:xfrm>
          <a:prstGeom prst="rect">
            <a:avLst/>
          </a:prstGeom>
          <a:solidFill>
            <a:srgbClr val="CFDCD0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114800" y="3108960"/>
            <a:ext cx="914400" cy="9144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0" y="3108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AF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Conventional Manual Starter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Control relies on physically operating a manual switch at the remote site, limiting operational flexibility and responsiveness to changing conditions.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Operating range is constrained by physical reach, demanding manual visits to the field, which are time-consuming and can be impractical.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Traditional systems pose a high risk of snakebites and electric shocks, endangering the well-being of farmers who must venture into the field.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Susceptible to dry-run burnout, requiring reactive maintenance, as failures can lead to significant repair costs and downtime during critical periods.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1C7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Proposed Smart System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12080" y="21031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Enables global remote control via smartphone, providing farmers with unprecedented flexibility and the ability to manage operations from anywhere.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Offers unlimited global reach through the integration of Internet and LoRa technologies, eliminating physical barriers to irrigation control and monitoring.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Eliminates physical risk by allowing farmers to control systems from home, significantly improving their safety and peace of mind.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Provides intelligent protection with auto-cutoff capabilities, preventing motor burnout, slashing server costs, reducing waste, and boosting system reliability.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"/>
            <a:ext cx="1463040" cy="1463040"/>
          </a:xfrm>
          <a:prstGeom prst="ellipse">
            <a:avLst/>
          </a:prstGeom>
          <a:solidFill>
            <a:srgbClr val="81C784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4754880"/>
            <a:ext cx="914400" cy="914400"/>
          </a:xfrm>
          <a:prstGeom prst="ellipse">
            <a:avLst/>
          </a:prstGeom>
          <a:solidFill>
            <a:srgbClr val="4CAF50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Quantifying the Impact: Measurable Gains in Efficiency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2926080" cy="4297680"/>
          </a:xfrm>
          <a:prstGeom prst="roundRect">
            <a:avLst>
              <a:gd name="adj" fmla="val 4688"/>
            </a:avLst>
          </a:prstGeom>
          <a:solidFill>
            <a:srgbClr val="4CAF50">
              <a:alpha val="20000"/>
            </a:srgbClr>
          </a:solidFill>
          <a:ln w="12700">
            <a:solidFill>
              <a:srgbClr val="4CAF5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2743200" cy="4114800"/>
          </a:xfrm>
          <a:prstGeom prst="ellipse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57600" y="164592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4CAF5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0" y="1645920"/>
            <a:ext cx="2423160" cy="6400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0" y="193395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CAF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30-50%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3749040" y="279806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Water Wastage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63640" y="164592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4CAF5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63640" y="1645920"/>
            <a:ext cx="2423160" cy="6400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5" name="Text 12"/>
          <p:cNvSpPr/>
          <p:nvPr/>
        </p:nvSpPr>
        <p:spPr>
          <a:xfrm>
            <a:off x="6263640" y="193395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CAF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25-40%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6355080" y="279806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Power Bills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657600" y="374904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4CAF5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57600" y="3749040"/>
            <a:ext cx="2423160" cy="6400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0" y="403707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CAF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20-30%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3749040" y="490118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Crop Yield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263640" y="374904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4CAF5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263640" y="3749040"/>
            <a:ext cx="2423160" cy="6400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3" name="Text 20"/>
          <p:cNvSpPr/>
          <p:nvPr/>
        </p:nvSpPr>
        <p:spPr>
          <a:xfrm>
            <a:off x="6263640" y="403707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CAF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1.5-2 Years</a:t>
            </a:r>
            <a:endParaRPr lang="en-US" sz="3200" dirty="0"/>
          </a:p>
        </p:txBody>
      </p:sp>
      <p:sp>
        <p:nvSpPr>
          <p:cNvPr id="24" name="Text 21"/>
          <p:cNvSpPr/>
          <p:nvPr/>
        </p:nvSpPr>
        <p:spPr>
          <a:xfrm>
            <a:off x="6355080" y="490118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ROI Payback Period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6" name="Text 23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4CAF50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182880"/>
            <a:ext cx="2286000" cy="2286000"/>
          </a:xfrm>
          <a:prstGeom prst="ellipse">
            <a:avLst/>
          </a:prstGeom>
          <a:solidFill>
            <a:srgbClr val="81C78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657600"/>
            <a:ext cx="2743200" cy="2743200"/>
          </a:xfrm>
          <a:prstGeom prst="ellipse">
            <a:avLst/>
          </a:prstGeom>
          <a:solidFill>
            <a:srgbClr val="4CAF50">
              <a:alpha val="7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dirty="0">
                <a:solidFill>
                  <a:srgbClr val="4CAF50">
                    <a:alpha val="7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5486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00" i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"Smart irrigation technologies are not just about saving water; they're about empowering farmers to make informed decisions, optimize resource use, and build resilience in the face of climate change."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0" y="4709160"/>
            <a:ext cx="274320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892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Dr. Anya Sharma, Agricultural Technology Expert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463040"/>
            <a:ext cx="2286000" cy="32004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CAF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CAF50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6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Securing the Harvest: A Global Bridge to Sustainable Agriculture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integrating ESP32 and LoRa this system represents a significant advancement toward safe, sustainable, and efficient agricultural practices that address critical challenges and promote resourcefulness.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Irrigation: A Global Bridge for Sustainable Agriculture</dc:title>
  <dc:subject>Generated by Pre Max AI — Verdant Automation</dc:subject>
  <dc:creator>PptxGenJS</dc:creator>
  <cp:lastModifiedBy>PptxGenJS</cp:lastModifiedBy>
  <cp:revision>1</cp:revision>
  <dcterms:created xsi:type="dcterms:W3CDTF">2026-02-12T13:38:10Z</dcterms:created>
  <dcterms:modified xsi:type="dcterms:W3CDTF">2026-02-12T13:38:10Z</dcterms:modified>
</cp:coreProperties>
</file>